
<file path=[Content_Types].xml><?xml version="1.0" encoding="utf-8"?>
<Types xmlns="http://schemas.openxmlformats.org/package/2006/content-types">
  <Default Extension="xml" ContentType="application/xml"/>
  <Default Extension="wmf" ContentType="image/x-wmf"/>
  <Default Extension="jpeg" ContentType="image/jpeg"/>
  <Default Extension="rels" ContentType="application/vnd.openxmlformats-package.relationships+xml"/>
  <Default Extension="emf" ContentType="image/x-emf"/>
  <Default Extension="vml" ContentType="application/vnd.openxmlformats-officedocument.vmlDrawing"/>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embeddings/Microsoft_Equation1.bin" ContentType="application/vnd.openxmlformats-officedocument.oleObject"/>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notesSlides/notesSlide1.xml" ContentType="application/vnd.openxmlformats-officedocument.presentationml.notesSlide+xml"/>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1"/>
  </p:sldMasterIdLst>
  <p:notesMasterIdLst>
    <p:notesMasterId r:id="rId39"/>
  </p:notesMasterIdLst>
  <p:handoutMasterIdLst>
    <p:handoutMasterId r:id="rId40"/>
  </p:handoutMasterIdLst>
  <p:sldIdLst>
    <p:sldId id="256" r:id="rId2"/>
    <p:sldId id="296" r:id="rId3"/>
    <p:sldId id="292" r:id="rId4"/>
    <p:sldId id="293" r:id="rId5"/>
    <p:sldId id="294" r:id="rId6"/>
    <p:sldId id="295" r:id="rId7"/>
    <p:sldId id="280" r:id="rId8"/>
    <p:sldId id="283" r:id="rId9"/>
    <p:sldId id="258" r:id="rId10"/>
    <p:sldId id="286" r:id="rId11"/>
    <p:sldId id="287" r:id="rId12"/>
    <p:sldId id="288" r:id="rId13"/>
    <p:sldId id="289" r:id="rId14"/>
    <p:sldId id="290" r:id="rId15"/>
    <p:sldId id="257" r:id="rId16"/>
    <p:sldId id="282" r:id="rId17"/>
    <p:sldId id="260" r:id="rId18"/>
    <p:sldId id="261" r:id="rId19"/>
    <p:sldId id="262" r:id="rId20"/>
    <p:sldId id="264" r:id="rId21"/>
    <p:sldId id="284" r:id="rId22"/>
    <p:sldId id="285" r:id="rId23"/>
    <p:sldId id="279" r:id="rId24"/>
    <p:sldId id="265" r:id="rId25"/>
    <p:sldId id="266" r:id="rId26"/>
    <p:sldId id="267" r:id="rId27"/>
    <p:sldId id="268" r:id="rId28"/>
    <p:sldId id="269" r:id="rId29"/>
    <p:sldId id="270" r:id="rId30"/>
    <p:sldId id="271" r:id="rId31"/>
    <p:sldId id="272" r:id="rId32"/>
    <p:sldId id="273" r:id="rId33"/>
    <p:sldId id="274" r:id="rId34"/>
    <p:sldId id="275" r:id="rId35"/>
    <p:sldId id="276" r:id="rId36"/>
    <p:sldId id="277" r:id="rId37"/>
    <p:sldId id="291" r:id="rId38"/>
  </p:sldIdLst>
  <p:sldSz cx="9144000" cy="6858000" type="screen4x3"/>
  <p:notesSz cx="7315200" cy="9601200"/>
  <p:defaultTextStyle>
    <a:defPPr>
      <a:defRPr lang="en-US"/>
    </a:defPPr>
    <a:lvl1pPr algn="l" rtl="0" eaLnBrk="0" fontAlgn="base" hangingPunct="0">
      <a:spcBef>
        <a:spcPct val="0"/>
      </a:spcBef>
      <a:spcAft>
        <a:spcPct val="0"/>
      </a:spcAft>
      <a:defRPr sz="2400" kern="1200">
        <a:solidFill>
          <a:schemeClr val="tx1"/>
        </a:solidFill>
        <a:latin typeface="Times" charset="0"/>
        <a:ea typeface="ＭＳ Ｐゴシック" charset="0"/>
        <a:cs typeface="+mn-cs"/>
      </a:defRPr>
    </a:lvl1pPr>
    <a:lvl2pPr marL="457200" algn="l" rtl="0" eaLnBrk="0" fontAlgn="base" hangingPunct="0">
      <a:spcBef>
        <a:spcPct val="0"/>
      </a:spcBef>
      <a:spcAft>
        <a:spcPct val="0"/>
      </a:spcAft>
      <a:defRPr sz="2400" kern="1200">
        <a:solidFill>
          <a:schemeClr val="tx1"/>
        </a:solidFill>
        <a:latin typeface="Times" charset="0"/>
        <a:ea typeface="ＭＳ Ｐゴシック" charset="0"/>
        <a:cs typeface="+mn-cs"/>
      </a:defRPr>
    </a:lvl2pPr>
    <a:lvl3pPr marL="914400" algn="l" rtl="0" eaLnBrk="0" fontAlgn="base" hangingPunct="0">
      <a:spcBef>
        <a:spcPct val="0"/>
      </a:spcBef>
      <a:spcAft>
        <a:spcPct val="0"/>
      </a:spcAft>
      <a:defRPr sz="2400" kern="1200">
        <a:solidFill>
          <a:schemeClr val="tx1"/>
        </a:solidFill>
        <a:latin typeface="Times" charset="0"/>
        <a:ea typeface="ＭＳ Ｐゴシック" charset="0"/>
        <a:cs typeface="+mn-cs"/>
      </a:defRPr>
    </a:lvl3pPr>
    <a:lvl4pPr marL="1371600" algn="l" rtl="0" eaLnBrk="0" fontAlgn="base" hangingPunct="0">
      <a:spcBef>
        <a:spcPct val="0"/>
      </a:spcBef>
      <a:spcAft>
        <a:spcPct val="0"/>
      </a:spcAft>
      <a:defRPr sz="2400" kern="1200">
        <a:solidFill>
          <a:schemeClr val="tx1"/>
        </a:solidFill>
        <a:latin typeface="Times" charset="0"/>
        <a:ea typeface="ＭＳ Ｐゴシック" charset="0"/>
        <a:cs typeface="+mn-cs"/>
      </a:defRPr>
    </a:lvl4pPr>
    <a:lvl5pPr marL="1828800" algn="l" rtl="0" eaLnBrk="0" fontAlgn="base" hangingPunct="0">
      <a:spcBef>
        <a:spcPct val="0"/>
      </a:spcBef>
      <a:spcAft>
        <a:spcPct val="0"/>
      </a:spcAft>
      <a:defRPr sz="2400" kern="1200">
        <a:solidFill>
          <a:schemeClr val="tx1"/>
        </a:solidFill>
        <a:latin typeface="Times" charset="0"/>
        <a:ea typeface="ＭＳ Ｐゴシック" charset="0"/>
        <a:cs typeface="+mn-cs"/>
      </a:defRPr>
    </a:lvl5pPr>
    <a:lvl6pPr marL="2286000" algn="l" defTabSz="457200" rtl="0" eaLnBrk="1" latinLnBrk="0" hangingPunct="1">
      <a:defRPr sz="2400" kern="1200">
        <a:solidFill>
          <a:schemeClr val="tx1"/>
        </a:solidFill>
        <a:latin typeface="Times" charset="0"/>
        <a:ea typeface="ＭＳ Ｐゴシック" charset="0"/>
        <a:cs typeface="+mn-cs"/>
      </a:defRPr>
    </a:lvl6pPr>
    <a:lvl7pPr marL="2743200" algn="l" defTabSz="457200" rtl="0" eaLnBrk="1" latinLnBrk="0" hangingPunct="1">
      <a:defRPr sz="2400" kern="1200">
        <a:solidFill>
          <a:schemeClr val="tx1"/>
        </a:solidFill>
        <a:latin typeface="Times" charset="0"/>
        <a:ea typeface="ＭＳ Ｐゴシック" charset="0"/>
        <a:cs typeface="+mn-cs"/>
      </a:defRPr>
    </a:lvl7pPr>
    <a:lvl8pPr marL="3200400" algn="l" defTabSz="457200" rtl="0" eaLnBrk="1" latinLnBrk="0" hangingPunct="1">
      <a:defRPr sz="2400" kern="1200">
        <a:solidFill>
          <a:schemeClr val="tx1"/>
        </a:solidFill>
        <a:latin typeface="Times" charset="0"/>
        <a:ea typeface="ＭＳ Ｐゴシック" charset="0"/>
        <a:cs typeface="+mn-cs"/>
      </a:defRPr>
    </a:lvl8pPr>
    <a:lvl9pPr marL="3657600" algn="l" defTabSz="457200" rtl="0" eaLnBrk="1" latinLnBrk="0" hangingPunct="1">
      <a:defRPr sz="2400" kern="1200">
        <a:solidFill>
          <a:schemeClr val="tx1"/>
        </a:solidFill>
        <a:latin typeface="Times" charset="0"/>
        <a:ea typeface="ＭＳ Ｐゴシック" charset="0"/>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p:cViewPr>
        <p:scale>
          <a:sx n="100" d="100"/>
          <a:sy n="100" d="100"/>
        </p:scale>
        <p:origin x="-1208" y="-8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144"/>
    </p:cViewPr>
  </p:sorter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handoutMaster" Target="handoutMasters/handoutMaster1.xml"/><Relationship Id="rId41" Type="http://schemas.openxmlformats.org/officeDocument/2006/relationships/printerSettings" Target="printerSettings/printerSettings1.bin"/><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 Id="rId2" Type="http://schemas.openxmlformats.org/officeDocument/2006/relationships/image" Target="../media/image3.emf"/><Relationship Id="rId3"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 Id="rId2"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emf"/><Relationship Id="rId2" Type="http://schemas.openxmlformats.org/officeDocument/2006/relationships/image" Target="../media/image1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2.emf"/><Relationship Id="rId4" Type="http://schemas.openxmlformats.org/officeDocument/2006/relationships/image" Target="../media/image23.emf"/><Relationship Id="rId1" Type="http://schemas.openxmlformats.org/officeDocument/2006/relationships/image" Target="../media/image20.emf"/><Relationship Id="rId2" Type="http://schemas.openxmlformats.org/officeDocument/2006/relationships/image" Target="../media/image2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51" tIns="48326" rIns="96651" bIns="48326" numCol="1" anchor="t" anchorCtr="0" compatLnSpc="1">
            <a:prstTxWarp prst="textNoShape">
              <a:avLst/>
            </a:prstTxWarp>
          </a:bodyPr>
          <a:lstStyle>
            <a:lvl1pPr defTabSz="966788">
              <a:defRPr sz="1300" smtClean="0">
                <a:ea typeface="+mn-ea"/>
              </a:defRPr>
            </a:lvl1pPr>
          </a:lstStyle>
          <a:p>
            <a:pPr>
              <a:defRPr/>
            </a:pPr>
            <a:endParaRPr lang="en-US"/>
          </a:p>
        </p:txBody>
      </p:sp>
      <p:sp>
        <p:nvSpPr>
          <p:cNvPr id="29699"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6651" tIns="48326" rIns="96651" bIns="48326" numCol="1" anchor="t" anchorCtr="0" compatLnSpc="1">
            <a:prstTxWarp prst="textNoShape">
              <a:avLst/>
            </a:prstTxWarp>
          </a:bodyPr>
          <a:lstStyle>
            <a:lvl1pPr algn="r" defTabSz="966788">
              <a:defRPr sz="1300" smtClean="0">
                <a:ea typeface="+mn-ea"/>
              </a:defRPr>
            </a:lvl1pPr>
          </a:lstStyle>
          <a:p>
            <a:pPr>
              <a:defRPr/>
            </a:pPr>
            <a:endParaRPr lang="en-US"/>
          </a:p>
        </p:txBody>
      </p:sp>
      <p:sp>
        <p:nvSpPr>
          <p:cNvPr id="29700" name="Rectangle 4"/>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6651" tIns="48326" rIns="96651" bIns="48326" numCol="1" anchor="b" anchorCtr="0" compatLnSpc="1">
            <a:prstTxWarp prst="textNoShape">
              <a:avLst/>
            </a:prstTxWarp>
          </a:bodyPr>
          <a:lstStyle>
            <a:lvl1pPr defTabSz="966788">
              <a:defRPr sz="1300" smtClean="0">
                <a:ea typeface="+mn-ea"/>
              </a:defRPr>
            </a:lvl1pPr>
          </a:lstStyle>
          <a:p>
            <a:pPr>
              <a:defRPr/>
            </a:pPr>
            <a:endParaRPr lang="en-US"/>
          </a:p>
        </p:txBody>
      </p:sp>
      <p:sp>
        <p:nvSpPr>
          <p:cNvPr id="29701" name="Rectangle 5"/>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6651" tIns="48326" rIns="96651" bIns="48326" numCol="1" anchor="b" anchorCtr="0" compatLnSpc="1">
            <a:prstTxWarp prst="textNoShape">
              <a:avLst/>
            </a:prstTxWarp>
          </a:bodyPr>
          <a:lstStyle>
            <a:lvl1pPr algn="r" defTabSz="966788">
              <a:defRPr sz="1300"/>
            </a:lvl1pPr>
          </a:lstStyle>
          <a:p>
            <a:fld id="{6D9699F4-D63F-0945-BE89-70E62EC6A1D8}" type="slidenum">
              <a:rPr lang="en-US"/>
              <a:pPr/>
              <a:t>‹#›</a:t>
            </a:fld>
            <a:endParaRPr lang="en-US"/>
          </a:p>
        </p:txBody>
      </p:sp>
    </p:spTree>
    <p:extLst>
      <p:ext uri="{BB962C8B-B14F-4D97-AF65-F5344CB8AC3E}">
        <p14:creationId xmlns:p14="http://schemas.microsoft.com/office/powerpoint/2010/main" val="18658235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3200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ea typeface="+mn-ea"/>
              </a:defRPr>
            </a:lvl1pPr>
          </a:lstStyle>
          <a:p>
            <a:pPr>
              <a:defRPr/>
            </a:pPr>
            <a:endParaRPr lang="en-US"/>
          </a:p>
        </p:txBody>
      </p:sp>
      <p:sp>
        <p:nvSpPr>
          <p:cNvPr id="41987" name="Rectangle 3"/>
          <p:cNvSpPr>
            <a:spLocks noGrp="1" noChangeArrowheads="1"/>
          </p:cNvSpPr>
          <p:nvPr>
            <p:ph type="dt" idx="1"/>
          </p:nvPr>
        </p:nvSpPr>
        <p:spPr bwMode="auto">
          <a:xfrm>
            <a:off x="4114800" y="0"/>
            <a:ext cx="3200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ea typeface="+mn-ea"/>
              </a:defRPr>
            </a:lvl1pPr>
          </a:lstStyle>
          <a:p>
            <a:pPr>
              <a:defRPr/>
            </a:pPr>
            <a:endParaRPr lang="en-US"/>
          </a:p>
        </p:txBody>
      </p:sp>
      <p:sp>
        <p:nvSpPr>
          <p:cNvPr id="36868" name="Rectangle 4"/>
          <p:cNvSpPr>
            <a:spLocks noChangeArrowheads="1" noTextEdit="1"/>
          </p:cNvSpPr>
          <p:nvPr>
            <p:ph type="sldImg" idx="2"/>
          </p:nvPr>
        </p:nvSpPr>
        <p:spPr bwMode="auto">
          <a:xfrm>
            <a:off x="1219200" y="685800"/>
            <a:ext cx="4876800" cy="36576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41989" name="Rectangle 5"/>
          <p:cNvSpPr>
            <a:spLocks noGrp="1" noChangeArrowheads="1"/>
          </p:cNvSpPr>
          <p:nvPr>
            <p:ph type="body" sz="quarter" idx="3"/>
          </p:nvPr>
        </p:nvSpPr>
        <p:spPr bwMode="auto">
          <a:xfrm>
            <a:off x="990600" y="4572000"/>
            <a:ext cx="5334000" cy="434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990" name="Rectangle 6"/>
          <p:cNvSpPr>
            <a:spLocks noGrp="1" noChangeArrowheads="1"/>
          </p:cNvSpPr>
          <p:nvPr>
            <p:ph type="ftr" sz="quarter" idx="4"/>
          </p:nvPr>
        </p:nvSpPr>
        <p:spPr bwMode="auto">
          <a:xfrm>
            <a:off x="0" y="9144000"/>
            <a:ext cx="3200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ea typeface="+mn-ea"/>
              </a:defRPr>
            </a:lvl1pPr>
          </a:lstStyle>
          <a:p>
            <a:pPr>
              <a:defRPr/>
            </a:pPr>
            <a:endParaRPr lang="en-US"/>
          </a:p>
        </p:txBody>
      </p:sp>
      <p:sp>
        <p:nvSpPr>
          <p:cNvPr id="41991" name="Rectangle 7"/>
          <p:cNvSpPr>
            <a:spLocks noGrp="1" noChangeArrowheads="1"/>
          </p:cNvSpPr>
          <p:nvPr>
            <p:ph type="sldNum" sz="quarter" idx="5"/>
          </p:nvPr>
        </p:nvSpPr>
        <p:spPr bwMode="auto">
          <a:xfrm>
            <a:off x="4114800" y="9144000"/>
            <a:ext cx="3200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8FA84F4C-5D3D-9346-9C91-644F0FB5C67B}" type="slidenum">
              <a:rPr lang="en-US"/>
              <a:pPr/>
              <a:t>‹#›</a:t>
            </a:fld>
            <a:endParaRPr lang="en-US"/>
          </a:p>
        </p:txBody>
      </p:sp>
    </p:spTree>
    <p:extLst>
      <p:ext uri="{BB962C8B-B14F-4D97-AF65-F5344CB8AC3E}">
        <p14:creationId xmlns:p14="http://schemas.microsoft.com/office/powerpoint/2010/main" val="348860643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charset="0"/>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Times"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Times"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Times"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Times"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C587FA4E-0B31-1943-A81A-E169CE1B34D8}" type="slidenum">
              <a:rPr lang="en-US" sz="1200"/>
              <a:pPr/>
              <a:t>23</a:t>
            </a:fld>
            <a:endParaRPr lang="en-US" sz="1200"/>
          </a:p>
        </p:txBody>
      </p:sp>
      <p:sp>
        <p:nvSpPr>
          <p:cNvPr id="37891" name="Rectangle 2"/>
          <p:cNvSpPr>
            <a:spLocks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order to get back to completing 60% of his passes, the QB will need to complete  ALL of his next 10 passes or 16 of his next 20.  This means he would have to perform well ABOVE his normal level. </a:t>
            </a:r>
          </a:p>
          <a:p>
            <a:pPr eaLnBrk="1" hangingPunct="1"/>
            <a:endParaRPr lang="en-US"/>
          </a:p>
          <a:p>
            <a:pPr eaLnBrk="1" hangingPunct="1"/>
            <a:r>
              <a:rPr lang="en-US"/>
              <a:t>In addition, one game is SHORT term…the law of large numbers deals with the LONG term.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grpSp>
          <p:nvGrpSpPr>
            <p:cNvPr id="5" name="Group 3"/>
            <p:cNvGrpSpPr>
              <a:grpSpLocks/>
            </p:cNvGrpSpPr>
            <p:nvPr userDrawn="1"/>
          </p:nvGrpSpPr>
          <p:grpSpPr bwMode="auto">
            <a:xfrm>
              <a:off x="0" y="0"/>
              <a:ext cx="5568" cy="4320"/>
              <a:chOff x="0" y="0"/>
              <a:chExt cx="5568" cy="4320"/>
            </a:xfrm>
          </p:grpSpPr>
          <p:grpSp>
            <p:nvGrpSpPr>
              <p:cNvPr id="9" name="Group 4"/>
              <p:cNvGrpSpPr>
                <a:grpSpLocks/>
              </p:cNvGrpSpPr>
              <p:nvPr userDrawn="1"/>
            </p:nvGrpSpPr>
            <p:grpSpPr bwMode="auto">
              <a:xfrm>
                <a:off x="0" y="0"/>
                <a:ext cx="3216" cy="3072"/>
                <a:chOff x="0" y="0"/>
                <a:chExt cx="2928" cy="2784"/>
              </a:xfrm>
            </p:grpSpPr>
            <p:sp>
              <p:nvSpPr>
                <p:cNvPr id="22" name="Oval 5"/>
                <p:cNvSpPr>
                  <a:spLocks noChangeArrowheads="1"/>
                </p:cNvSpPr>
                <p:nvPr/>
              </p:nvSpPr>
              <p:spPr bwMode="auto">
                <a:xfrm>
                  <a:off x="0" y="0"/>
                  <a:ext cx="2928" cy="2784"/>
                </a:xfrm>
                <a:prstGeom prst="ellipse">
                  <a:avLst/>
                </a:prstGeom>
                <a:noFill/>
                <a:ln w="9525">
                  <a:solidFill>
                    <a:schemeClr val="accent1"/>
                  </a:solidFill>
                  <a:round/>
                  <a:headEnd/>
                  <a:tailEnd/>
                </a:ln>
                <a:effectLst/>
              </p:spPr>
              <p:txBody>
                <a:bodyPr wrap="none" anchor="ctr"/>
                <a:lstStyle/>
                <a:p>
                  <a:pPr>
                    <a:defRPr/>
                  </a:pPr>
                  <a:endParaRPr lang="en-US">
                    <a:ea typeface="+mn-ea"/>
                  </a:endParaRPr>
                </a:p>
              </p:txBody>
            </p:sp>
            <p:sp>
              <p:nvSpPr>
                <p:cNvPr id="23" name="Oval 6"/>
                <p:cNvSpPr>
                  <a:spLocks noChangeArrowheads="1"/>
                </p:cNvSpPr>
                <p:nvPr/>
              </p:nvSpPr>
              <p:spPr bwMode="auto">
                <a:xfrm>
                  <a:off x="240" y="240"/>
                  <a:ext cx="2447" cy="2304"/>
                </a:xfrm>
                <a:prstGeom prst="ellipse">
                  <a:avLst/>
                </a:prstGeom>
                <a:noFill/>
                <a:ln w="9525">
                  <a:solidFill>
                    <a:schemeClr val="accent1"/>
                  </a:solidFill>
                  <a:round/>
                  <a:headEnd/>
                  <a:tailEnd/>
                </a:ln>
                <a:effectLst/>
              </p:spPr>
              <p:txBody>
                <a:bodyPr wrap="none" anchor="ctr"/>
                <a:lstStyle/>
                <a:p>
                  <a:pPr>
                    <a:defRPr/>
                  </a:pPr>
                  <a:endParaRPr lang="en-US">
                    <a:ea typeface="+mn-ea"/>
                  </a:endParaRPr>
                </a:p>
              </p:txBody>
            </p:sp>
            <p:sp>
              <p:nvSpPr>
                <p:cNvPr id="24" name="Oval 7"/>
                <p:cNvSpPr>
                  <a:spLocks noChangeArrowheads="1"/>
                </p:cNvSpPr>
                <p:nvPr/>
              </p:nvSpPr>
              <p:spPr bwMode="auto">
                <a:xfrm>
                  <a:off x="480" y="480"/>
                  <a:ext cx="1968" cy="1823"/>
                </a:xfrm>
                <a:prstGeom prst="ellipse">
                  <a:avLst/>
                </a:prstGeom>
                <a:noFill/>
                <a:ln w="9525">
                  <a:solidFill>
                    <a:schemeClr val="accent1"/>
                  </a:solidFill>
                  <a:round/>
                  <a:headEnd/>
                  <a:tailEnd/>
                </a:ln>
                <a:effectLst/>
              </p:spPr>
              <p:txBody>
                <a:bodyPr wrap="none" anchor="ctr"/>
                <a:lstStyle/>
                <a:p>
                  <a:pPr>
                    <a:defRPr/>
                  </a:pPr>
                  <a:endParaRPr lang="en-US">
                    <a:ea typeface="+mn-ea"/>
                  </a:endParaRPr>
                </a:p>
              </p:txBody>
            </p:sp>
            <p:sp>
              <p:nvSpPr>
                <p:cNvPr id="25" name="Oval 8"/>
                <p:cNvSpPr>
                  <a:spLocks noChangeArrowheads="1"/>
                </p:cNvSpPr>
                <p:nvPr/>
              </p:nvSpPr>
              <p:spPr bwMode="auto">
                <a:xfrm>
                  <a:off x="720" y="720"/>
                  <a:ext cx="1488" cy="1345"/>
                </a:xfrm>
                <a:prstGeom prst="ellipse">
                  <a:avLst/>
                </a:prstGeom>
                <a:noFill/>
                <a:ln w="9525">
                  <a:solidFill>
                    <a:schemeClr val="accent1"/>
                  </a:solidFill>
                  <a:round/>
                  <a:headEnd/>
                  <a:tailEnd/>
                </a:ln>
                <a:effectLst/>
              </p:spPr>
              <p:txBody>
                <a:bodyPr wrap="none" anchor="ctr"/>
                <a:lstStyle/>
                <a:p>
                  <a:pPr>
                    <a:defRPr/>
                  </a:pPr>
                  <a:endParaRPr lang="en-US">
                    <a:ea typeface="+mn-ea"/>
                  </a:endParaRPr>
                </a:p>
              </p:txBody>
            </p:sp>
            <p:sp>
              <p:nvSpPr>
                <p:cNvPr id="26" name="Oval 9"/>
                <p:cNvSpPr>
                  <a:spLocks noChangeArrowheads="1"/>
                </p:cNvSpPr>
                <p:nvPr/>
              </p:nvSpPr>
              <p:spPr bwMode="auto">
                <a:xfrm>
                  <a:off x="912" y="912"/>
                  <a:ext cx="1103" cy="961"/>
                </a:xfrm>
                <a:prstGeom prst="ellipse">
                  <a:avLst/>
                </a:prstGeom>
                <a:noFill/>
                <a:ln w="9525">
                  <a:solidFill>
                    <a:schemeClr val="accent1"/>
                  </a:solidFill>
                  <a:prstDash val="sysDot"/>
                  <a:round/>
                  <a:headEnd/>
                  <a:tailEnd/>
                </a:ln>
                <a:effectLst/>
              </p:spPr>
              <p:txBody>
                <a:bodyPr wrap="none" anchor="ctr"/>
                <a:lstStyle/>
                <a:p>
                  <a:pPr>
                    <a:defRPr/>
                  </a:pPr>
                  <a:endParaRPr lang="en-US">
                    <a:ea typeface="+mn-ea"/>
                  </a:endParaRPr>
                </a:p>
              </p:txBody>
            </p:sp>
          </p:grpSp>
          <p:grpSp>
            <p:nvGrpSpPr>
              <p:cNvPr id="10" name="Group 10"/>
              <p:cNvGrpSpPr>
                <a:grpSpLocks/>
              </p:cNvGrpSpPr>
              <p:nvPr userDrawn="1"/>
            </p:nvGrpSpPr>
            <p:grpSpPr bwMode="auto">
              <a:xfrm>
                <a:off x="2016" y="2016"/>
                <a:ext cx="2448" cy="2304"/>
                <a:chOff x="0" y="0"/>
                <a:chExt cx="2928" cy="2784"/>
              </a:xfrm>
            </p:grpSpPr>
            <p:sp>
              <p:nvSpPr>
                <p:cNvPr id="17" name="Oval 11"/>
                <p:cNvSpPr>
                  <a:spLocks noChangeArrowheads="1"/>
                </p:cNvSpPr>
                <p:nvPr/>
              </p:nvSpPr>
              <p:spPr bwMode="auto">
                <a:xfrm>
                  <a:off x="0" y="0"/>
                  <a:ext cx="2928" cy="2784"/>
                </a:xfrm>
                <a:prstGeom prst="ellipse">
                  <a:avLst/>
                </a:prstGeom>
                <a:noFill/>
                <a:ln w="9525">
                  <a:solidFill>
                    <a:schemeClr val="accent1"/>
                  </a:solidFill>
                  <a:round/>
                  <a:headEnd/>
                  <a:tailEnd/>
                </a:ln>
                <a:effectLst/>
              </p:spPr>
              <p:txBody>
                <a:bodyPr wrap="none" anchor="ctr"/>
                <a:lstStyle/>
                <a:p>
                  <a:pPr>
                    <a:defRPr/>
                  </a:pPr>
                  <a:endParaRPr lang="en-US">
                    <a:ea typeface="+mn-ea"/>
                  </a:endParaRPr>
                </a:p>
              </p:txBody>
            </p:sp>
            <p:sp>
              <p:nvSpPr>
                <p:cNvPr id="18" name="Oval 12"/>
                <p:cNvSpPr>
                  <a:spLocks noChangeArrowheads="1"/>
                </p:cNvSpPr>
                <p:nvPr/>
              </p:nvSpPr>
              <p:spPr bwMode="auto">
                <a:xfrm>
                  <a:off x="240" y="240"/>
                  <a:ext cx="2447" cy="2303"/>
                </a:xfrm>
                <a:prstGeom prst="ellipse">
                  <a:avLst/>
                </a:prstGeom>
                <a:noFill/>
                <a:ln w="9525">
                  <a:solidFill>
                    <a:schemeClr val="accent1"/>
                  </a:solidFill>
                  <a:round/>
                  <a:headEnd/>
                  <a:tailEnd/>
                </a:ln>
                <a:effectLst/>
              </p:spPr>
              <p:txBody>
                <a:bodyPr wrap="none" anchor="ctr"/>
                <a:lstStyle/>
                <a:p>
                  <a:pPr>
                    <a:defRPr/>
                  </a:pPr>
                  <a:endParaRPr lang="en-US">
                    <a:ea typeface="+mn-ea"/>
                  </a:endParaRPr>
                </a:p>
              </p:txBody>
            </p:sp>
            <p:sp>
              <p:nvSpPr>
                <p:cNvPr id="19" name="Oval 13"/>
                <p:cNvSpPr>
                  <a:spLocks noChangeArrowheads="1"/>
                </p:cNvSpPr>
                <p:nvPr/>
              </p:nvSpPr>
              <p:spPr bwMode="auto">
                <a:xfrm>
                  <a:off x="480" y="480"/>
                  <a:ext cx="1969" cy="1825"/>
                </a:xfrm>
                <a:prstGeom prst="ellipse">
                  <a:avLst/>
                </a:prstGeom>
                <a:noFill/>
                <a:ln w="9525">
                  <a:solidFill>
                    <a:schemeClr val="accent1"/>
                  </a:solidFill>
                  <a:round/>
                  <a:headEnd/>
                  <a:tailEnd/>
                </a:ln>
                <a:effectLst/>
              </p:spPr>
              <p:txBody>
                <a:bodyPr wrap="none" anchor="ctr"/>
                <a:lstStyle/>
                <a:p>
                  <a:pPr>
                    <a:defRPr/>
                  </a:pPr>
                  <a:endParaRPr lang="en-US">
                    <a:ea typeface="+mn-ea"/>
                  </a:endParaRPr>
                </a:p>
              </p:txBody>
            </p:sp>
            <p:sp>
              <p:nvSpPr>
                <p:cNvPr id="20" name="Oval 14"/>
                <p:cNvSpPr>
                  <a:spLocks noChangeArrowheads="1"/>
                </p:cNvSpPr>
                <p:nvPr/>
              </p:nvSpPr>
              <p:spPr bwMode="auto">
                <a:xfrm>
                  <a:off x="720" y="720"/>
                  <a:ext cx="1488" cy="1344"/>
                </a:xfrm>
                <a:prstGeom prst="ellipse">
                  <a:avLst/>
                </a:prstGeom>
                <a:noFill/>
                <a:ln w="9525">
                  <a:solidFill>
                    <a:schemeClr val="accent1"/>
                  </a:solidFill>
                  <a:round/>
                  <a:headEnd/>
                  <a:tailEnd/>
                </a:ln>
                <a:effectLst/>
              </p:spPr>
              <p:txBody>
                <a:bodyPr wrap="none" anchor="ctr"/>
                <a:lstStyle/>
                <a:p>
                  <a:pPr>
                    <a:defRPr/>
                  </a:pPr>
                  <a:endParaRPr lang="en-US">
                    <a:ea typeface="+mn-ea"/>
                  </a:endParaRPr>
                </a:p>
              </p:txBody>
            </p:sp>
            <p:sp>
              <p:nvSpPr>
                <p:cNvPr id="21" name="Oval 15"/>
                <p:cNvSpPr>
                  <a:spLocks noChangeArrowheads="1"/>
                </p:cNvSpPr>
                <p:nvPr/>
              </p:nvSpPr>
              <p:spPr bwMode="auto">
                <a:xfrm>
                  <a:off x="911" y="912"/>
                  <a:ext cx="1105" cy="959"/>
                </a:xfrm>
                <a:prstGeom prst="ellipse">
                  <a:avLst/>
                </a:prstGeom>
                <a:noFill/>
                <a:ln w="9525">
                  <a:solidFill>
                    <a:schemeClr val="accent1"/>
                  </a:solidFill>
                  <a:prstDash val="sysDot"/>
                  <a:round/>
                  <a:headEnd/>
                  <a:tailEnd/>
                </a:ln>
                <a:effectLst/>
              </p:spPr>
              <p:txBody>
                <a:bodyPr wrap="none" anchor="ctr"/>
                <a:lstStyle/>
                <a:p>
                  <a:pPr>
                    <a:defRPr/>
                  </a:pPr>
                  <a:endParaRPr lang="en-US">
                    <a:ea typeface="+mn-ea"/>
                  </a:endParaRPr>
                </a:p>
              </p:txBody>
            </p:sp>
          </p:grpSp>
          <p:grpSp>
            <p:nvGrpSpPr>
              <p:cNvPr id="11" name="Group 16"/>
              <p:cNvGrpSpPr>
                <a:grpSpLocks/>
              </p:cNvGrpSpPr>
              <p:nvPr userDrawn="1"/>
            </p:nvGrpSpPr>
            <p:grpSpPr bwMode="auto">
              <a:xfrm>
                <a:off x="2832" y="96"/>
                <a:ext cx="2736" cy="2592"/>
                <a:chOff x="0" y="0"/>
                <a:chExt cx="2928" cy="2784"/>
              </a:xfrm>
            </p:grpSpPr>
            <p:sp>
              <p:nvSpPr>
                <p:cNvPr id="12" name="Oval 17"/>
                <p:cNvSpPr>
                  <a:spLocks noChangeArrowheads="1"/>
                </p:cNvSpPr>
                <p:nvPr/>
              </p:nvSpPr>
              <p:spPr bwMode="auto">
                <a:xfrm>
                  <a:off x="0" y="0"/>
                  <a:ext cx="2928" cy="2784"/>
                </a:xfrm>
                <a:prstGeom prst="ellipse">
                  <a:avLst/>
                </a:prstGeom>
                <a:noFill/>
                <a:ln w="9525">
                  <a:solidFill>
                    <a:schemeClr val="accent1"/>
                  </a:solidFill>
                  <a:round/>
                  <a:headEnd/>
                  <a:tailEnd/>
                </a:ln>
                <a:effectLst/>
              </p:spPr>
              <p:txBody>
                <a:bodyPr wrap="none" anchor="ctr"/>
                <a:lstStyle/>
                <a:p>
                  <a:pPr>
                    <a:defRPr/>
                  </a:pPr>
                  <a:endParaRPr lang="en-US">
                    <a:ea typeface="+mn-ea"/>
                  </a:endParaRPr>
                </a:p>
              </p:txBody>
            </p:sp>
            <p:sp>
              <p:nvSpPr>
                <p:cNvPr id="13" name="Oval 18"/>
                <p:cNvSpPr>
                  <a:spLocks noChangeArrowheads="1"/>
                </p:cNvSpPr>
                <p:nvPr/>
              </p:nvSpPr>
              <p:spPr bwMode="auto">
                <a:xfrm>
                  <a:off x="240" y="240"/>
                  <a:ext cx="2449" cy="2305"/>
                </a:xfrm>
                <a:prstGeom prst="ellipse">
                  <a:avLst/>
                </a:prstGeom>
                <a:noFill/>
                <a:ln w="9525">
                  <a:solidFill>
                    <a:schemeClr val="accent1"/>
                  </a:solidFill>
                  <a:round/>
                  <a:headEnd/>
                  <a:tailEnd/>
                </a:ln>
                <a:effectLst/>
              </p:spPr>
              <p:txBody>
                <a:bodyPr wrap="none" anchor="ctr"/>
                <a:lstStyle/>
                <a:p>
                  <a:pPr>
                    <a:defRPr/>
                  </a:pPr>
                  <a:endParaRPr lang="en-US">
                    <a:ea typeface="+mn-ea"/>
                  </a:endParaRPr>
                </a:p>
              </p:txBody>
            </p:sp>
            <p:sp>
              <p:nvSpPr>
                <p:cNvPr id="14" name="Oval 19"/>
                <p:cNvSpPr>
                  <a:spLocks noChangeArrowheads="1"/>
                </p:cNvSpPr>
                <p:nvPr/>
              </p:nvSpPr>
              <p:spPr bwMode="auto">
                <a:xfrm>
                  <a:off x="481" y="480"/>
                  <a:ext cx="1967" cy="1824"/>
                </a:xfrm>
                <a:prstGeom prst="ellipse">
                  <a:avLst/>
                </a:prstGeom>
                <a:noFill/>
                <a:ln w="9525">
                  <a:solidFill>
                    <a:schemeClr val="accent1"/>
                  </a:solidFill>
                  <a:round/>
                  <a:headEnd/>
                  <a:tailEnd/>
                </a:ln>
                <a:effectLst/>
              </p:spPr>
              <p:txBody>
                <a:bodyPr wrap="none" anchor="ctr"/>
                <a:lstStyle/>
                <a:p>
                  <a:pPr>
                    <a:defRPr/>
                  </a:pPr>
                  <a:endParaRPr lang="en-US">
                    <a:ea typeface="+mn-ea"/>
                  </a:endParaRPr>
                </a:p>
              </p:txBody>
            </p:sp>
            <p:sp>
              <p:nvSpPr>
                <p:cNvPr id="15" name="Oval 20"/>
                <p:cNvSpPr>
                  <a:spLocks noChangeArrowheads="1"/>
                </p:cNvSpPr>
                <p:nvPr/>
              </p:nvSpPr>
              <p:spPr bwMode="auto">
                <a:xfrm>
                  <a:off x="720" y="720"/>
                  <a:ext cx="1488" cy="1345"/>
                </a:xfrm>
                <a:prstGeom prst="ellipse">
                  <a:avLst/>
                </a:prstGeom>
                <a:noFill/>
                <a:ln w="9525">
                  <a:solidFill>
                    <a:schemeClr val="accent1"/>
                  </a:solidFill>
                  <a:round/>
                  <a:headEnd/>
                  <a:tailEnd/>
                </a:ln>
                <a:effectLst/>
              </p:spPr>
              <p:txBody>
                <a:bodyPr wrap="none" anchor="ctr"/>
                <a:lstStyle/>
                <a:p>
                  <a:pPr>
                    <a:defRPr/>
                  </a:pPr>
                  <a:endParaRPr lang="en-US">
                    <a:ea typeface="+mn-ea"/>
                  </a:endParaRPr>
                </a:p>
              </p:txBody>
            </p:sp>
            <p:sp>
              <p:nvSpPr>
                <p:cNvPr id="16" name="Oval 21"/>
                <p:cNvSpPr>
                  <a:spLocks noChangeArrowheads="1"/>
                </p:cNvSpPr>
                <p:nvPr/>
              </p:nvSpPr>
              <p:spPr bwMode="auto">
                <a:xfrm>
                  <a:off x="912" y="912"/>
                  <a:ext cx="1104" cy="960"/>
                </a:xfrm>
                <a:prstGeom prst="ellipse">
                  <a:avLst/>
                </a:prstGeom>
                <a:noFill/>
                <a:ln w="9525">
                  <a:solidFill>
                    <a:schemeClr val="accent1"/>
                  </a:solidFill>
                  <a:prstDash val="sysDot"/>
                  <a:round/>
                  <a:headEnd/>
                  <a:tailEnd/>
                </a:ln>
                <a:effectLst/>
              </p:spPr>
              <p:txBody>
                <a:bodyPr wrap="none" anchor="ctr"/>
                <a:lstStyle/>
                <a:p>
                  <a:pPr>
                    <a:defRPr/>
                  </a:pPr>
                  <a:endParaRPr lang="en-US">
                    <a:ea typeface="+mn-ea"/>
                  </a:endParaRPr>
                </a:p>
              </p:txBody>
            </p:sp>
          </p:grpSp>
        </p:grpSp>
        <p:sp>
          <p:nvSpPr>
            <p:cNvPr id="6" name="Line 22"/>
            <p:cNvSpPr>
              <a:spLocks noChangeShapeType="1"/>
            </p:cNvSpPr>
            <p:nvPr/>
          </p:nvSpPr>
          <p:spPr bwMode="auto">
            <a:xfrm flipH="1">
              <a:off x="0" y="1536"/>
              <a:ext cx="1584" cy="2160"/>
            </a:xfrm>
            <a:prstGeom prst="line">
              <a:avLst/>
            </a:prstGeom>
            <a:noFill/>
            <a:ln w="9525">
              <a:solidFill>
                <a:schemeClr val="accent1"/>
              </a:solidFill>
              <a:prstDash val="dash"/>
              <a:round/>
              <a:headEnd/>
              <a:tailEnd/>
            </a:ln>
            <a:effectLst/>
          </p:spPr>
          <p:txBody>
            <a:bodyPr wrap="none" anchor="ctr"/>
            <a:lstStyle/>
            <a:p>
              <a:pPr>
                <a:defRPr/>
              </a:pPr>
              <a:endParaRPr lang="en-US">
                <a:ea typeface="+mn-ea"/>
              </a:endParaRPr>
            </a:p>
          </p:txBody>
        </p:sp>
        <p:sp>
          <p:nvSpPr>
            <p:cNvPr id="7" name="Line 23"/>
            <p:cNvSpPr>
              <a:spLocks noChangeShapeType="1"/>
            </p:cNvSpPr>
            <p:nvPr/>
          </p:nvSpPr>
          <p:spPr bwMode="auto">
            <a:xfrm>
              <a:off x="4176" y="1392"/>
              <a:ext cx="1584" cy="1728"/>
            </a:xfrm>
            <a:prstGeom prst="line">
              <a:avLst/>
            </a:prstGeom>
            <a:noFill/>
            <a:ln w="9525">
              <a:solidFill>
                <a:schemeClr val="accent1"/>
              </a:solidFill>
              <a:prstDash val="dash"/>
              <a:round/>
              <a:headEnd/>
              <a:tailEnd/>
            </a:ln>
            <a:effectLst/>
          </p:spPr>
          <p:txBody>
            <a:bodyPr wrap="none" anchor="ctr"/>
            <a:lstStyle/>
            <a:p>
              <a:pPr>
                <a:defRPr/>
              </a:pPr>
              <a:endParaRPr lang="en-US">
                <a:ea typeface="+mn-ea"/>
              </a:endParaRPr>
            </a:p>
          </p:txBody>
        </p:sp>
        <p:sp>
          <p:nvSpPr>
            <p:cNvPr id="8" name="Line 24"/>
            <p:cNvSpPr>
              <a:spLocks noChangeShapeType="1"/>
            </p:cNvSpPr>
            <p:nvPr/>
          </p:nvSpPr>
          <p:spPr bwMode="auto">
            <a:xfrm flipV="1">
              <a:off x="3216" y="0"/>
              <a:ext cx="240" cy="3120"/>
            </a:xfrm>
            <a:prstGeom prst="line">
              <a:avLst/>
            </a:prstGeom>
            <a:noFill/>
            <a:ln w="9525">
              <a:solidFill>
                <a:schemeClr val="accent1"/>
              </a:solidFill>
              <a:round/>
              <a:headEnd/>
              <a:tailEnd/>
            </a:ln>
            <a:effectLst/>
          </p:spPr>
          <p:txBody>
            <a:bodyPr wrap="none" anchor="ctr"/>
            <a:lstStyle/>
            <a:p>
              <a:pPr>
                <a:defRPr/>
              </a:pPr>
              <a:endParaRPr lang="en-US">
                <a:ea typeface="+mn-ea"/>
              </a:endParaRPr>
            </a:p>
          </p:txBody>
        </p:sp>
      </p:grpSp>
      <p:sp>
        <p:nvSpPr>
          <p:cNvPr id="34841" name="Rectangle 25"/>
          <p:cNvSpPr>
            <a:spLocks noGrp="1" noChangeArrowheads="1"/>
          </p:cNvSpPr>
          <p:nvPr>
            <p:ph type="ctrTitle"/>
          </p:nvPr>
        </p:nvSpPr>
        <p:spPr>
          <a:xfrm>
            <a:off x="685800" y="2286000"/>
            <a:ext cx="7772400" cy="1143000"/>
          </a:xfrm>
        </p:spPr>
        <p:txBody>
          <a:bodyPr/>
          <a:lstStyle>
            <a:lvl1pPr>
              <a:defRPr/>
            </a:lvl1pPr>
          </a:lstStyle>
          <a:p>
            <a:r>
              <a:rPr lang="en-US"/>
              <a:t>Click to edit Master title style</a:t>
            </a:r>
          </a:p>
        </p:txBody>
      </p:sp>
      <p:sp>
        <p:nvSpPr>
          <p:cNvPr id="34842" name="Rectangle 26"/>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27" name="Rectangle 27"/>
          <p:cNvSpPr>
            <a:spLocks noGrp="1" noChangeArrowheads="1"/>
          </p:cNvSpPr>
          <p:nvPr>
            <p:ph type="dt" sz="half" idx="10"/>
          </p:nvPr>
        </p:nvSpPr>
        <p:spPr/>
        <p:txBody>
          <a:bodyPr/>
          <a:lstStyle>
            <a:lvl1pPr>
              <a:defRPr b="0" smtClean="0"/>
            </a:lvl1pPr>
          </a:lstStyle>
          <a:p>
            <a:pPr>
              <a:defRPr/>
            </a:pPr>
            <a:endParaRPr lang="en-US"/>
          </a:p>
        </p:txBody>
      </p:sp>
      <p:sp>
        <p:nvSpPr>
          <p:cNvPr id="28" name="Rectangle 28"/>
          <p:cNvSpPr>
            <a:spLocks noGrp="1" noChangeArrowheads="1"/>
          </p:cNvSpPr>
          <p:nvPr>
            <p:ph type="ftr" sz="quarter" idx="11"/>
          </p:nvPr>
        </p:nvSpPr>
        <p:spPr/>
        <p:txBody>
          <a:bodyPr/>
          <a:lstStyle>
            <a:lvl1pPr>
              <a:defRPr b="0" smtClean="0"/>
            </a:lvl1pPr>
          </a:lstStyle>
          <a:p>
            <a:pPr>
              <a:defRPr/>
            </a:pPr>
            <a:endParaRPr lang="en-US"/>
          </a:p>
        </p:txBody>
      </p:sp>
      <p:sp>
        <p:nvSpPr>
          <p:cNvPr id="29" name="Rectangle 29"/>
          <p:cNvSpPr>
            <a:spLocks noGrp="1" noChangeArrowheads="1"/>
          </p:cNvSpPr>
          <p:nvPr>
            <p:ph type="sldNum" sz="quarter" idx="12"/>
          </p:nvPr>
        </p:nvSpPr>
        <p:spPr/>
        <p:txBody>
          <a:bodyPr/>
          <a:lstStyle>
            <a:lvl1pPr>
              <a:defRPr b="0"/>
            </a:lvl1pPr>
          </a:lstStyle>
          <a:p>
            <a:fld id="{96D21B81-AD5C-B242-AD69-818B6D2C11ED}" type="slidenum">
              <a:rPr lang="en-US"/>
              <a:pPr/>
              <a:t>‹#›</a:t>
            </a:fld>
            <a:endParaRPr lang="en-US"/>
          </a:p>
        </p:txBody>
      </p:sp>
    </p:spTree>
    <p:extLst>
      <p:ext uri="{BB962C8B-B14F-4D97-AF65-F5344CB8AC3E}">
        <p14:creationId xmlns:p14="http://schemas.microsoft.com/office/powerpoint/2010/main" val="53712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3"/>
          <p:cNvSpPr>
            <a:spLocks noGrp="1" noChangeArrowheads="1"/>
          </p:cNvSpPr>
          <p:nvPr>
            <p:ph type="dt" sz="half" idx="10"/>
          </p:nvPr>
        </p:nvSpPr>
        <p:spPr>
          <a:ln/>
        </p:spPr>
        <p:txBody>
          <a:bodyPr/>
          <a:lstStyle>
            <a:lvl1pPr>
              <a:defRPr/>
            </a:lvl1pPr>
          </a:lstStyle>
          <a:p>
            <a:pPr>
              <a:defRPr/>
            </a:pPr>
            <a:endParaRPr lang="en-US"/>
          </a:p>
        </p:txBody>
      </p:sp>
      <p:sp>
        <p:nvSpPr>
          <p:cNvPr id="5" name="Rectangle 24"/>
          <p:cNvSpPr>
            <a:spLocks noGrp="1" noChangeArrowheads="1"/>
          </p:cNvSpPr>
          <p:nvPr>
            <p:ph type="ftr" sz="quarter" idx="11"/>
          </p:nvPr>
        </p:nvSpPr>
        <p:spPr>
          <a:ln/>
        </p:spPr>
        <p:txBody>
          <a:bodyPr/>
          <a:lstStyle>
            <a:lvl1pPr>
              <a:defRPr/>
            </a:lvl1pPr>
          </a:lstStyle>
          <a:p>
            <a:pPr>
              <a:defRPr/>
            </a:pPr>
            <a:endParaRPr lang="en-US"/>
          </a:p>
        </p:txBody>
      </p:sp>
      <p:sp>
        <p:nvSpPr>
          <p:cNvPr id="6" name="Rectangle 25"/>
          <p:cNvSpPr>
            <a:spLocks noGrp="1" noChangeArrowheads="1"/>
          </p:cNvSpPr>
          <p:nvPr>
            <p:ph type="sldNum" sz="quarter" idx="12"/>
          </p:nvPr>
        </p:nvSpPr>
        <p:spPr>
          <a:ln/>
        </p:spPr>
        <p:txBody>
          <a:bodyPr/>
          <a:lstStyle>
            <a:lvl1pPr>
              <a:defRPr/>
            </a:lvl1pPr>
          </a:lstStyle>
          <a:p>
            <a:fld id="{0F4F2332-6888-6F44-BC79-4281E6017394}" type="slidenum">
              <a:rPr lang="en-US"/>
              <a:pPr/>
              <a:t>‹#›</a:t>
            </a:fld>
            <a:endParaRPr lang="en-US"/>
          </a:p>
        </p:txBody>
      </p:sp>
    </p:spTree>
    <p:extLst>
      <p:ext uri="{BB962C8B-B14F-4D97-AF65-F5344CB8AC3E}">
        <p14:creationId xmlns:p14="http://schemas.microsoft.com/office/powerpoint/2010/main" val="3858642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23"/>
          <p:cNvSpPr>
            <a:spLocks noGrp="1" noChangeArrowheads="1"/>
          </p:cNvSpPr>
          <p:nvPr>
            <p:ph type="dt" sz="half" idx="10"/>
          </p:nvPr>
        </p:nvSpPr>
        <p:spPr>
          <a:ln/>
        </p:spPr>
        <p:txBody>
          <a:bodyPr/>
          <a:lstStyle>
            <a:lvl1pPr>
              <a:defRPr/>
            </a:lvl1pPr>
          </a:lstStyle>
          <a:p>
            <a:pPr>
              <a:defRPr/>
            </a:pPr>
            <a:endParaRPr lang="en-US"/>
          </a:p>
        </p:txBody>
      </p:sp>
      <p:sp>
        <p:nvSpPr>
          <p:cNvPr id="5" name="Rectangle 24"/>
          <p:cNvSpPr>
            <a:spLocks noGrp="1" noChangeArrowheads="1"/>
          </p:cNvSpPr>
          <p:nvPr>
            <p:ph type="ftr" sz="quarter" idx="11"/>
          </p:nvPr>
        </p:nvSpPr>
        <p:spPr>
          <a:ln/>
        </p:spPr>
        <p:txBody>
          <a:bodyPr/>
          <a:lstStyle>
            <a:lvl1pPr>
              <a:defRPr/>
            </a:lvl1pPr>
          </a:lstStyle>
          <a:p>
            <a:pPr>
              <a:defRPr/>
            </a:pPr>
            <a:endParaRPr lang="en-US"/>
          </a:p>
        </p:txBody>
      </p:sp>
      <p:sp>
        <p:nvSpPr>
          <p:cNvPr id="6" name="Rectangle 25"/>
          <p:cNvSpPr>
            <a:spLocks noGrp="1" noChangeArrowheads="1"/>
          </p:cNvSpPr>
          <p:nvPr>
            <p:ph type="sldNum" sz="quarter" idx="12"/>
          </p:nvPr>
        </p:nvSpPr>
        <p:spPr>
          <a:ln/>
        </p:spPr>
        <p:txBody>
          <a:bodyPr/>
          <a:lstStyle>
            <a:lvl1pPr>
              <a:defRPr/>
            </a:lvl1pPr>
          </a:lstStyle>
          <a:p>
            <a:fld id="{659990D3-E4C4-2D43-9953-2A0723F27A9C}" type="slidenum">
              <a:rPr lang="en-US"/>
              <a:pPr/>
              <a:t>‹#›</a:t>
            </a:fld>
            <a:endParaRPr lang="en-US"/>
          </a:p>
        </p:txBody>
      </p:sp>
    </p:spTree>
    <p:extLst>
      <p:ext uri="{BB962C8B-B14F-4D97-AF65-F5344CB8AC3E}">
        <p14:creationId xmlns:p14="http://schemas.microsoft.com/office/powerpoint/2010/main" val="306539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3"/>
          <p:cNvSpPr>
            <a:spLocks noGrp="1" noChangeArrowheads="1"/>
          </p:cNvSpPr>
          <p:nvPr>
            <p:ph type="dt" sz="half" idx="10"/>
          </p:nvPr>
        </p:nvSpPr>
        <p:spPr>
          <a:ln/>
        </p:spPr>
        <p:txBody>
          <a:bodyPr/>
          <a:lstStyle>
            <a:lvl1pPr>
              <a:defRPr/>
            </a:lvl1pPr>
          </a:lstStyle>
          <a:p>
            <a:pPr>
              <a:defRPr/>
            </a:pPr>
            <a:endParaRPr lang="en-US"/>
          </a:p>
        </p:txBody>
      </p:sp>
      <p:sp>
        <p:nvSpPr>
          <p:cNvPr id="6" name="Rectangle 24"/>
          <p:cNvSpPr>
            <a:spLocks noGrp="1" noChangeArrowheads="1"/>
          </p:cNvSpPr>
          <p:nvPr>
            <p:ph type="ftr" sz="quarter" idx="11"/>
          </p:nvPr>
        </p:nvSpPr>
        <p:spPr>
          <a:ln/>
        </p:spPr>
        <p:txBody>
          <a:bodyPr/>
          <a:lstStyle>
            <a:lvl1pPr>
              <a:defRPr/>
            </a:lvl1pPr>
          </a:lstStyle>
          <a:p>
            <a:pPr>
              <a:defRPr/>
            </a:pPr>
            <a:endParaRPr lang="en-US"/>
          </a:p>
        </p:txBody>
      </p:sp>
      <p:sp>
        <p:nvSpPr>
          <p:cNvPr id="7" name="Rectangle 25"/>
          <p:cNvSpPr>
            <a:spLocks noGrp="1" noChangeArrowheads="1"/>
          </p:cNvSpPr>
          <p:nvPr>
            <p:ph type="sldNum" sz="quarter" idx="12"/>
          </p:nvPr>
        </p:nvSpPr>
        <p:spPr>
          <a:ln/>
        </p:spPr>
        <p:txBody>
          <a:bodyPr/>
          <a:lstStyle>
            <a:lvl1pPr>
              <a:defRPr/>
            </a:lvl1pPr>
          </a:lstStyle>
          <a:p>
            <a:fld id="{2E104B30-10E7-484E-AA0A-60FCC65CA465}" type="slidenum">
              <a:rPr lang="en-US"/>
              <a:pPr/>
              <a:t>‹#›</a:t>
            </a:fld>
            <a:endParaRPr lang="en-US"/>
          </a:p>
        </p:txBody>
      </p:sp>
    </p:spTree>
    <p:extLst>
      <p:ext uri="{BB962C8B-B14F-4D97-AF65-F5344CB8AC3E}">
        <p14:creationId xmlns:p14="http://schemas.microsoft.com/office/powerpoint/2010/main" val="1039525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23"/>
          <p:cNvSpPr>
            <a:spLocks noGrp="1" noChangeArrowheads="1"/>
          </p:cNvSpPr>
          <p:nvPr>
            <p:ph type="dt" sz="half" idx="10"/>
          </p:nvPr>
        </p:nvSpPr>
        <p:spPr>
          <a:ln/>
        </p:spPr>
        <p:txBody>
          <a:bodyPr/>
          <a:lstStyle>
            <a:lvl1pPr>
              <a:defRPr/>
            </a:lvl1pPr>
          </a:lstStyle>
          <a:p>
            <a:pPr>
              <a:defRPr/>
            </a:pPr>
            <a:endParaRPr lang="en-US"/>
          </a:p>
        </p:txBody>
      </p:sp>
      <p:sp>
        <p:nvSpPr>
          <p:cNvPr id="8" name="Rectangle 24"/>
          <p:cNvSpPr>
            <a:spLocks noGrp="1" noChangeArrowheads="1"/>
          </p:cNvSpPr>
          <p:nvPr>
            <p:ph type="ftr" sz="quarter" idx="11"/>
          </p:nvPr>
        </p:nvSpPr>
        <p:spPr>
          <a:ln/>
        </p:spPr>
        <p:txBody>
          <a:bodyPr/>
          <a:lstStyle>
            <a:lvl1pPr>
              <a:defRPr/>
            </a:lvl1pPr>
          </a:lstStyle>
          <a:p>
            <a:pPr>
              <a:defRPr/>
            </a:pPr>
            <a:endParaRPr lang="en-US"/>
          </a:p>
        </p:txBody>
      </p:sp>
      <p:sp>
        <p:nvSpPr>
          <p:cNvPr id="9" name="Rectangle 25"/>
          <p:cNvSpPr>
            <a:spLocks noGrp="1" noChangeArrowheads="1"/>
          </p:cNvSpPr>
          <p:nvPr>
            <p:ph type="sldNum" sz="quarter" idx="12"/>
          </p:nvPr>
        </p:nvSpPr>
        <p:spPr>
          <a:ln/>
        </p:spPr>
        <p:txBody>
          <a:bodyPr/>
          <a:lstStyle>
            <a:lvl1pPr>
              <a:defRPr/>
            </a:lvl1pPr>
          </a:lstStyle>
          <a:p>
            <a:fld id="{A850C29C-488A-3446-B582-AE0BF7F2B67C}" type="slidenum">
              <a:rPr lang="en-US"/>
              <a:pPr/>
              <a:t>‹#›</a:t>
            </a:fld>
            <a:endParaRPr lang="en-US"/>
          </a:p>
        </p:txBody>
      </p:sp>
    </p:spTree>
    <p:extLst>
      <p:ext uri="{BB962C8B-B14F-4D97-AF65-F5344CB8AC3E}">
        <p14:creationId xmlns:p14="http://schemas.microsoft.com/office/powerpoint/2010/main" val="609096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23"/>
          <p:cNvSpPr>
            <a:spLocks noGrp="1" noChangeArrowheads="1"/>
          </p:cNvSpPr>
          <p:nvPr>
            <p:ph type="dt" sz="half" idx="10"/>
          </p:nvPr>
        </p:nvSpPr>
        <p:spPr>
          <a:ln/>
        </p:spPr>
        <p:txBody>
          <a:bodyPr/>
          <a:lstStyle>
            <a:lvl1pPr>
              <a:defRPr/>
            </a:lvl1pPr>
          </a:lstStyle>
          <a:p>
            <a:pPr>
              <a:defRPr/>
            </a:pPr>
            <a:endParaRPr lang="en-US"/>
          </a:p>
        </p:txBody>
      </p:sp>
      <p:sp>
        <p:nvSpPr>
          <p:cNvPr id="4" name="Rectangle 24"/>
          <p:cNvSpPr>
            <a:spLocks noGrp="1" noChangeArrowheads="1"/>
          </p:cNvSpPr>
          <p:nvPr>
            <p:ph type="ftr" sz="quarter" idx="11"/>
          </p:nvPr>
        </p:nvSpPr>
        <p:spPr>
          <a:ln/>
        </p:spPr>
        <p:txBody>
          <a:bodyPr/>
          <a:lstStyle>
            <a:lvl1pPr>
              <a:defRPr/>
            </a:lvl1pPr>
          </a:lstStyle>
          <a:p>
            <a:pPr>
              <a:defRPr/>
            </a:pPr>
            <a:endParaRPr lang="en-US"/>
          </a:p>
        </p:txBody>
      </p:sp>
      <p:sp>
        <p:nvSpPr>
          <p:cNvPr id="5" name="Rectangle 25"/>
          <p:cNvSpPr>
            <a:spLocks noGrp="1" noChangeArrowheads="1"/>
          </p:cNvSpPr>
          <p:nvPr>
            <p:ph type="sldNum" sz="quarter" idx="12"/>
          </p:nvPr>
        </p:nvSpPr>
        <p:spPr>
          <a:ln/>
        </p:spPr>
        <p:txBody>
          <a:bodyPr/>
          <a:lstStyle>
            <a:lvl1pPr>
              <a:defRPr/>
            </a:lvl1pPr>
          </a:lstStyle>
          <a:p>
            <a:fld id="{3280149E-6504-8C43-87FA-8E6196752CA1}" type="slidenum">
              <a:rPr lang="en-US"/>
              <a:pPr/>
              <a:t>‹#›</a:t>
            </a:fld>
            <a:endParaRPr lang="en-US"/>
          </a:p>
        </p:txBody>
      </p:sp>
    </p:spTree>
    <p:extLst>
      <p:ext uri="{BB962C8B-B14F-4D97-AF65-F5344CB8AC3E}">
        <p14:creationId xmlns:p14="http://schemas.microsoft.com/office/powerpoint/2010/main" val="2763038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3"/>
          <p:cNvSpPr>
            <a:spLocks noGrp="1" noChangeArrowheads="1"/>
          </p:cNvSpPr>
          <p:nvPr>
            <p:ph type="dt" sz="half" idx="10"/>
          </p:nvPr>
        </p:nvSpPr>
        <p:spPr>
          <a:ln/>
        </p:spPr>
        <p:txBody>
          <a:bodyPr/>
          <a:lstStyle>
            <a:lvl1pPr>
              <a:defRPr/>
            </a:lvl1pPr>
          </a:lstStyle>
          <a:p>
            <a:pPr>
              <a:defRPr/>
            </a:pPr>
            <a:endParaRPr lang="en-US"/>
          </a:p>
        </p:txBody>
      </p:sp>
      <p:sp>
        <p:nvSpPr>
          <p:cNvPr id="3" name="Rectangle 24"/>
          <p:cNvSpPr>
            <a:spLocks noGrp="1" noChangeArrowheads="1"/>
          </p:cNvSpPr>
          <p:nvPr>
            <p:ph type="ftr" sz="quarter" idx="11"/>
          </p:nvPr>
        </p:nvSpPr>
        <p:spPr>
          <a:ln/>
        </p:spPr>
        <p:txBody>
          <a:bodyPr/>
          <a:lstStyle>
            <a:lvl1pPr>
              <a:defRPr/>
            </a:lvl1pPr>
          </a:lstStyle>
          <a:p>
            <a:pPr>
              <a:defRPr/>
            </a:pPr>
            <a:endParaRPr lang="en-US"/>
          </a:p>
        </p:txBody>
      </p:sp>
      <p:sp>
        <p:nvSpPr>
          <p:cNvPr id="4" name="Rectangle 25"/>
          <p:cNvSpPr>
            <a:spLocks noGrp="1" noChangeArrowheads="1"/>
          </p:cNvSpPr>
          <p:nvPr>
            <p:ph type="sldNum" sz="quarter" idx="12"/>
          </p:nvPr>
        </p:nvSpPr>
        <p:spPr>
          <a:ln/>
        </p:spPr>
        <p:txBody>
          <a:bodyPr/>
          <a:lstStyle>
            <a:lvl1pPr>
              <a:defRPr/>
            </a:lvl1pPr>
          </a:lstStyle>
          <a:p>
            <a:fld id="{C08CF70B-137C-114F-BE57-4F0D63122B0B}" type="slidenum">
              <a:rPr lang="en-US"/>
              <a:pPr/>
              <a:t>‹#›</a:t>
            </a:fld>
            <a:endParaRPr lang="en-US"/>
          </a:p>
        </p:txBody>
      </p:sp>
    </p:spTree>
    <p:extLst>
      <p:ext uri="{BB962C8B-B14F-4D97-AF65-F5344CB8AC3E}">
        <p14:creationId xmlns:p14="http://schemas.microsoft.com/office/powerpoint/2010/main" val="1834265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3"/>
          <p:cNvSpPr>
            <a:spLocks noGrp="1" noChangeArrowheads="1"/>
          </p:cNvSpPr>
          <p:nvPr>
            <p:ph type="dt" sz="half" idx="10"/>
          </p:nvPr>
        </p:nvSpPr>
        <p:spPr>
          <a:ln/>
        </p:spPr>
        <p:txBody>
          <a:bodyPr/>
          <a:lstStyle>
            <a:lvl1pPr>
              <a:defRPr/>
            </a:lvl1pPr>
          </a:lstStyle>
          <a:p>
            <a:pPr>
              <a:defRPr/>
            </a:pPr>
            <a:endParaRPr lang="en-US"/>
          </a:p>
        </p:txBody>
      </p:sp>
      <p:sp>
        <p:nvSpPr>
          <p:cNvPr id="6" name="Rectangle 24"/>
          <p:cNvSpPr>
            <a:spLocks noGrp="1" noChangeArrowheads="1"/>
          </p:cNvSpPr>
          <p:nvPr>
            <p:ph type="ftr" sz="quarter" idx="11"/>
          </p:nvPr>
        </p:nvSpPr>
        <p:spPr>
          <a:ln/>
        </p:spPr>
        <p:txBody>
          <a:bodyPr/>
          <a:lstStyle>
            <a:lvl1pPr>
              <a:defRPr/>
            </a:lvl1pPr>
          </a:lstStyle>
          <a:p>
            <a:pPr>
              <a:defRPr/>
            </a:pPr>
            <a:endParaRPr lang="en-US"/>
          </a:p>
        </p:txBody>
      </p:sp>
      <p:sp>
        <p:nvSpPr>
          <p:cNvPr id="7" name="Rectangle 25"/>
          <p:cNvSpPr>
            <a:spLocks noGrp="1" noChangeArrowheads="1"/>
          </p:cNvSpPr>
          <p:nvPr>
            <p:ph type="sldNum" sz="quarter" idx="12"/>
          </p:nvPr>
        </p:nvSpPr>
        <p:spPr>
          <a:ln/>
        </p:spPr>
        <p:txBody>
          <a:bodyPr/>
          <a:lstStyle>
            <a:lvl1pPr>
              <a:defRPr/>
            </a:lvl1pPr>
          </a:lstStyle>
          <a:p>
            <a:fld id="{726D8327-0600-9F46-9A95-97B2D7876226}" type="slidenum">
              <a:rPr lang="en-US"/>
              <a:pPr/>
              <a:t>‹#›</a:t>
            </a:fld>
            <a:endParaRPr lang="en-US"/>
          </a:p>
        </p:txBody>
      </p:sp>
    </p:spTree>
    <p:extLst>
      <p:ext uri="{BB962C8B-B14F-4D97-AF65-F5344CB8AC3E}">
        <p14:creationId xmlns:p14="http://schemas.microsoft.com/office/powerpoint/2010/main" val="1017929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3"/>
          <p:cNvSpPr>
            <a:spLocks noGrp="1" noChangeArrowheads="1"/>
          </p:cNvSpPr>
          <p:nvPr>
            <p:ph type="dt" sz="half" idx="10"/>
          </p:nvPr>
        </p:nvSpPr>
        <p:spPr>
          <a:ln/>
        </p:spPr>
        <p:txBody>
          <a:bodyPr/>
          <a:lstStyle>
            <a:lvl1pPr>
              <a:defRPr/>
            </a:lvl1pPr>
          </a:lstStyle>
          <a:p>
            <a:pPr>
              <a:defRPr/>
            </a:pPr>
            <a:endParaRPr lang="en-US"/>
          </a:p>
        </p:txBody>
      </p:sp>
      <p:sp>
        <p:nvSpPr>
          <p:cNvPr id="6" name="Rectangle 24"/>
          <p:cNvSpPr>
            <a:spLocks noGrp="1" noChangeArrowheads="1"/>
          </p:cNvSpPr>
          <p:nvPr>
            <p:ph type="ftr" sz="quarter" idx="11"/>
          </p:nvPr>
        </p:nvSpPr>
        <p:spPr>
          <a:ln/>
        </p:spPr>
        <p:txBody>
          <a:bodyPr/>
          <a:lstStyle>
            <a:lvl1pPr>
              <a:defRPr/>
            </a:lvl1pPr>
          </a:lstStyle>
          <a:p>
            <a:pPr>
              <a:defRPr/>
            </a:pPr>
            <a:endParaRPr lang="en-US"/>
          </a:p>
        </p:txBody>
      </p:sp>
      <p:sp>
        <p:nvSpPr>
          <p:cNvPr id="7" name="Rectangle 25"/>
          <p:cNvSpPr>
            <a:spLocks noGrp="1" noChangeArrowheads="1"/>
          </p:cNvSpPr>
          <p:nvPr>
            <p:ph type="sldNum" sz="quarter" idx="12"/>
          </p:nvPr>
        </p:nvSpPr>
        <p:spPr>
          <a:ln/>
        </p:spPr>
        <p:txBody>
          <a:bodyPr/>
          <a:lstStyle>
            <a:lvl1pPr>
              <a:defRPr/>
            </a:lvl1pPr>
          </a:lstStyle>
          <a:p>
            <a:fld id="{ACEEC8DD-97A0-6E49-886B-E27CFABAFC4E}" type="slidenum">
              <a:rPr lang="en-US"/>
              <a:pPr/>
              <a:t>‹#›</a:t>
            </a:fld>
            <a:endParaRPr lang="en-US"/>
          </a:p>
        </p:txBody>
      </p:sp>
    </p:spTree>
    <p:extLst>
      <p:ext uri="{BB962C8B-B14F-4D97-AF65-F5344CB8AC3E}">
        <p14:creationId xmlns:p14="http://schemas.microsoft.com/office/powerpoint/2010/main" val="2057938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3"/>
          <p:cNvSpPr>
            <a:spLocks noGrp="1" noChangeArrowheads="1"/>
          </p:cNvSpPr>
          <p:nvPr>
            <p:ph type="dt" sz="half" idx="10"/>
          </p:nvPr>
        </p:nvSpPr>
        <p:spPr>
          <a:ln/>
        </p:spPr>
        <p:txBody>
          <a:bodyPr/>
          <a:lstStyle>
            <a:lvl1pPr>
              <a:defRPr/>
            </a:lvl1pPr>
          </a:lstStyle>
          <a:p>
            <a:pPr>
              <a:defRPr/>
            </a:pPr>
            <a:endParaRPr lang="en-US"/>
          </a:p>
        </p:txBody>
      </p:sp>
      <p:sp>
        <p:nvSpPr>
          <p:cNvPr id="5" name="Rectangle 24"/>
          <p:cNvSpPr>
            <a:spLocks noGrp="1" noChangeArrowheads="1"/>
          </p:cNvSpPr>
          <p:nvPr>
            <p:ph type="ftr" sz="quarter" idx="11"/>
          </p:nvPr>
        </p:nvSpPr>
        <p:spPr>
          <a:ln/>
        </p:spPr>
        <p:txBody>
          <a:bodyPr/>
          <a:lstStyle>
            <a:lvl1pPr>
              <a:defRPr/>
            </a:lvl1pPr>
          </a:lstStyle>
          <a:p>
            <a:pPr>
              <a:defRPr/>
            </a:pPr>
            <a:endParaRPr lang="en-US"/>
          </a:p>
        </p:txBody>
      </p:sp>
      <p:sp>
        <p:nvSpPr>
          <p:cNvPr id="6" name="Rectangle 25"/>
          <p:cNvSpPr>
            <a:spLocks noGrp="1" noChangeArrowheads="1"/>
          </p:cNvSpPr>
          <p:nvPr>
            <p:ph type="sldNum" sz="quarter" idx="12"/>
          </p:nvPr>
        </p:nvSpPr>
        <p:spPr>
          <a:ln/>
        </p:spPr>
        <p:txBody>
          <a:bodyPr/>
          <a:lstStyle>
            <a:lvl1pPr>
              <a:defRPr/>
            </a:lvl1pPr>
          </a:lstStyle>
          <a:p>
            <a:fld id="{ABE1C4BB-732C-2E4D-B445-1D533C1B3548}" type="slidenum">
              <a:rPr lang="en-US"/>
              <a:pPr/>
              <a:t>‹#›</a:t>
            </a:fld>
            <a:endParaRPr lang="en-US"/>
          </a:p>
        </p:txBody>
      </p:sp>
    </p:spTree>
    <p:extLst>
      <p:ext uri="{BB962C8B-B14F-4D97-AF65-F5344CB8AC3E}">
        <p14:creationId xmlns:p14="http://schemas.microsoft.com/office/powerpoint/2010/main" val="1751654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3"/>
          <p:cNvSpPr>
            <a:spLocks noGrp="1" noChangeArrowheads="1"/>
          </p:cNvSpPr>
          <p:nvPr>
            <p:ph type="dt" sz="half" idx="10"/>
          </p:nvPr>
        </p:nvSpPr>
        <p:spPr>
          <a:ln/>
        </p:spPr>
        <p:txBody>
          <a:bodyPr/>
          <a:lstStyle>
            <a:lvl1pPr>
              <a:defRPr/>
            </a:lvl1pPr>
          </a:lstStyle>
          <a:p>
            <a:pPr>
              <a:defRPr/>
            </a:pPr>
            <a:endParaRPr lang="en-US"/>
          </a:p>
        </p:txBody>
      </p:sp>
      <p:sp>
        <p:nvSpPr>
          <p:cNvPr id="5" name="Rectangle 24"/>
          <p:cNvSpPr>
            <a:spLocks noGrp="1" noChangeArrowheads="1"/>
          </p:cNvSpPr>
          <p:nvPr>
            <p:ph type="ftr" sz="quarter" idx="11"/>
          </p:nvPr>
        </p:nvSpPr>
        <p:spPr>
          <a:ln/>
        </p:spPr>
        <p:txBody>
          <a:bodyPr/>
          <a:lstStyle>
            <a:lvl1pPr>
              <a:defRPr/>
            </a:lvl1pPr>
          </a:lstStyle>
          <a:p>
            <a:pPr>
              <a:defRPr/>
            </a:pPr>
            <a:endParaRPr lang="en-US"/>
          </a:p>
        </p:txBody>
      </p:sp>
      <p:sp>
        <p:nvSpPr>
          <p:cNvPr id="6" name="Rectangle 25"/>
          <p:cNvSpPr>
            <a:spLocks noGrp="1" noChangeArrowheads="1"/>
          </p:cNvSpPr>
          <p:nvPr>
            <p:ph type="sldNum" sz="quarter" idx="12"/>
          </p:nvPr>
        </p:nvSpPr>
        <p:spPr>
          <a:ln/>
        </p:spPr>
        <p:txBody>
          <a:bodyPr/>
          <a:lstStyle>
            <a:lvl1pPr>
              <a:defRPr/>
            </a:lvl1pPr>
          </a:lstStyle>
          <a:p>
            <a:fld id="{4AD82388-9F71-A241-A00E-F08DB2297EF2}" type="slidenum">
              <a:rPr lang="en-US"/>
              <a:pPr/>
              <a:t>‹#›</a:t>
            </a:fld>
            <a:endParaRPr lang="en-US"/>
          </a:p>
        </p:txBody>
      </p:sp>
    </p:spTree>
    <p:extLst>
      <p:ext uri="{BB962C8B-B14F-4D97-AF65-F5344CB8AC3E}">
        <p14:creationId xmlns:p14="http://schemas.microsoft.com/office/powerpoint/2010/main" val="143374126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5400000" scaled="1"/>
        </a:gradFill>
        <a:effectLst/>
      </p:bgPr>
    </p:bg>
    <p:spTree>
      <p:nvGrpSpPr>
        <p:cNvPr id="1" name=""/>
        <p:cNvGrpSpPr/>
        <p:nvPr/>
      </p:nvGrpSpPr>
      <p:grpSpPr>
        <a:xfrm>
          <a:off x="0" y="0"/>
          <a:ext cx="0" cy="0"/>
          <a:chOff x="0" y="0"/>
          <a:chExt cx="0" cy="0"/>
        </a:xfrm>
      </p:grpSpPr>
      <p:grpSp>
        <p:nvGrpSpPr>
          <p:cNvPr id="9218" name="Group 2"/>
          <p:cNvGrpSpPr>
            <a:grpSpLocks/>
          </p:cNvGrpSpPr>
          <p:nvPr/>
        </p:nvGrpSpPr>
        <p:grpSpPr bwMode="auto">
          <a:xfrm>
            <a:off x="0" y="0"/>
            <a:ext cx="8839200" cy="6858000"/>
            <a:chOff x="0" y="0"/>
            <a:chExt cx="5568" cy="4320"/>
          </a:xfrm>
        </p:grpSpPr>
        <p:grpSp>
          <p:nvGrpSpPr>
            <p:cNvPr id="9224" name="Group 3"/>
            <p:cNvGrpSpPr>
              <a:grpSpLocks/>
            </p:cNvGrpSpPr>
            <p:nvPr userDrawn="1"/>
          </p:nvGrpSpPr>
          <p:grpSpPr bwMode="auto">
            <a:xfrm>
              <a:off x="0" y="0"/>
              <a:ext cx="3216" cy="3072"/>
              <a:chOff x="0" y="0"/>
              <a:chExt cx="2928" cy="2784"/>
            </a:xfrm>
          </p:grpSpPr>
          <p:sp>
            <p:nvSpPr>
              <p:cNvPr id="33796" name="Oval 4"/>
              <p:cNvSpPr>
                <a:spLocks noChangeArrowheads="1"/>
              </p:cNvSpPr>
              <p:nvPr/>
            </p:nvSpPr>
            <p:spPr bwMode="auto">
              <a:xfrm>
                <a:off x="0" y="0"/>
                <a:ext cx="2928" cy="2784"/>
              </a:xfrm>
              <a:prstGeom prst="ellipse">
                <a:avLst/>
              </a:prstGeom>
              <a:noFill/>
              <a:ln w="9525">
                <a:solidFill>
                  <a:schemeClr val="accent1"/>
                </a:solidFill>
                <a:round/>
                <a:headEnd/>
                <a:tailEnd/>
              </a:ln>
              <a:effectLst/>
            </p:spPr>
            <p:txBody>
              <a:bodyPr wrap="none" anchor="ctr"/>
              <a:lstStyle/>
              <a:p>
                <a:pPr>
                  <a:defRPr/>
                </a:pPr>
                <a:endParaRPr lang="en-US">
                  <a:ea typeface="+mn-ea"/>
                </a:endParaRPr>
              </a:p>
            </p:txBody>
          </p:sp>
          <p:sp>
            <p:nvSpPr>
              <p:cNvPr id="33797" name="Oval 5"/>
              <p:cNvSpPr>
                <a:spLocks noChangeArrowheads="1"/>
              </p:cNvSpPr>
              <p:nvPr/>
            </p:nvSpPr>
            <p:spPr bwMode="auto">
              <a:xfrm>
                <a:off x="240" y="240"/>
                <a:ext cx="2447" cy="2304"/>
              </a:xfrm>
              <a:prstGeom prst="ellipse">
                <a:avLst/>
              </a:prstGeom>
              <a:noFill/>
              <a:ln w="9525">
                <a:solidFill>
                  <a:schemeClr val="accent1"/>
                </a:solidFill>
                <a:round/>
                <a:headEnd/>
                <a:tailEnd/>
              </a:ln>
              <a:effectLst/>
            </p:spPr>
            <p:txBody>
              <a:bodyPr wrap="none" anchor="ctr"/>
              <a:lstStyle/>
              <a:p>
                <a:pPr>
                  <a:defRPr/>
                </a:pPr>
                <a:endParaRPr lang="en-US">
                  <a:ea typeface="+mn-ea"/>
                </a:endParaRPr>
              </a:p>
            </p:txBody>
          </p:sp>
          <p:sp>
            <p:nvSpPr>
              <p:cNvPr id="33798" name="Oval 6"/>
              <p:cNvSpPr>
                <a:spLocks noChangeArrowheads="1"/>
              </p:cNvSpPr>
              <p:nvPr/>
            </p:nvSpPr>
            <p:spPr bwMode="auto">
              <a:xfrm>
                <a:off x="480" y="480"/>
                <a:ext cx="1968" cy="1823"/>
              </a:xfrm>
              <a:prstGeom prst="ellipse">
                <a:avLst/>
              </a:prstGeom>
              <a:noFill/>
              <a:ln w="9525">
                <a:solidFill>
                  <a:schemeClr val="accent1"/>
                </a:solidFill>
                <a:round/>
                <a:headEnd/>
                <a:tailEnd/>
              </a:ln>
              <a:effectLst/>
            </p:spPr>
            <p:txBody>
              <a:bodyPr wrap="none" anchor="ctr"/>
              <a:lstStyle/>
              <a:p>
                <a:pPr>
                  <a:defRPr/>
                </a:pPr>
                <a:endParaRPr lang="en-US">
                  <a:ea typeface="+mn-ea"/>
                </a:endParaRPr>
              </a:p>
            </p:txBody>
          </p:sp>
          <p:sp>
            <p:nvSpPr>
              <p:cNvPr id="33799" name="Oval 7"/>
              <p:cNvSpPr>
                <a:spLocks noChangeArrowheads="1"/>
              </p:cNvSpPr>
              <p:nvPr/>
            </p:nvSpPr>
            <p:spPr bwMode="auto">
              <a:xfrm>
                <a:off x="720" y="720"/>
                <a:ext cx="1488" cy="1345"/>
              </a:xfrm>
              <a:prstGeom prst="ellipse">
                <a:avLst/>
              </a:prstGeom>
              <a:noFill/>
              <a:ln w="9525">
                <a:solidFill>
                  <a:schemeClr val="accent1"/>
                </a:solidFill>
                <a:round/>
                <a:headEnd/>
                <a:tailEnd/>
              </a:ln>
              <a:effectLst/>
            </p:spPr>
            <p:txBody>
              <a:bodyPr wrap="none" anchor="ctr"/>
              <a:lstStyle/>
              <a:p>
                <a:pPr>
                  <a:defRPr/>
                </a:pPr>
                <a:endParaRPr lang="en-US">
                  <a:ea typeface="+mn-ea"/>
                </a:endParaRPr>
              </a:p>
            </p:txBody>
          </p:sp>
          <p:sp>
            <p:nvSpPr>
              <p:cNvPr id="33800" name="Oval 8"/>
              <p:cNvSpPr>
                <a:spLocks noChangeArrowheads="1"/>
              </p:cNvSpPr>
              <p:nvPr/>
            </p:nvSpPr>
            <p:spPr bwMode="auto">
              <a:xfrm>
                <a:off x="912" y="912"/>
                <a:ext cx="1103" cy="961"/>
              </a:xfrm>
              <a:prstGeom prst="ellipse">
                <a:avLst/>
              </a:prstGeom>
              <a:noFill/>
              <a:ln w="9525">
                <a:solidFill>
                  <a:schemeClr val="accent1"/>
                </a:solidFill>
                <a:prstDash val="sysDot"/>
                <a:round/>
                <a:headEnd/>
                <a:tailEnd/>
              </a:ln>
              <a:effectLst/>
            </p:spPr>
            <p:txBody>
              <a:bodyPr wrap="none" anchor="ctr"/>
              <a:lstStyle/>
              <a:p>
                <a:pPr>
                  <a:defRPr/>
                </a:pPr>
                <a:endParaRPr lang="en-US">
                  <a:ea typeface="+mn-ea"/>
                </a:endParaRPr>
              </a:p>
            </p:txBody>
          </p:sp>
        </p:grpSp>
        <p:grpSp>
          <p:nvGrpSpPr>
            <p:cNvPr id="9225" name="Group 9"/>
            <p:cNvGrpSpPr>
              <a:grpSpLocks/>
            </p:cNvGrpSpPr>
            <p:nvPr userDrawn="1"/>
          </p:nvGrpSpPr>
          <p:grpSpPr bwMode="auto">
            <a:xfrm>
              <a:off x="2016" y="2016"/>
              <a:ext cx="2448" cy="2304"/>
              <a:chOff x="0" y="0"/>
              <a:chExt cx="2928" cy="2784"/>
            </a:xfrm>
          </p:grpSpPr>
          <p:sp>
            <p:nvSpPr>
              <p:cNvPr id="33802" name="Oval 10"/>
              <p:cNvSpPr>
                <a:spLocks noChangeArrowheads="1"/>
              </p:cNvSpPr>
              <p:nvPr/>
            </p:nvSpPr>
            <p:spPr bwMode="auto">
              <a:xfrm>
                <a:off x="0" y="0"/>
                <a:ext cx="2928" cy="2784"/>
              </a:xfrm>
              <a:prstGeom prst="ellipse">
                <a:avLst/>
              </a:prstGeom>
              <a:noFill/>
              <a:ln w="9525">
                <a:solidFill>
                  <a:schemeClr val="accent1"/>
                </a:solidFill>
                <a:round/>
                <a:headEnd/>
                <a:tailEnd/>
              </a:ln>
              <a:effectLst/>
            </p:spPr>
            <p:txBody>
              <a:bodyPr wrap="none" anchor="ctr"/>
              <a:lstStyle/>
              <a:p>
                <a:pPr>
                  <a:defRPr/>
                </a:pPr>
                <a:endParaRPr lang="en-US">
                  <a:ea typeface="+mn-ea"/>
                </a:endParaRPr>
              </a:p>
            </p:txBody>
          </p:sp>
          <p:sp>
            <p:nvSpPr>
              <p:cNvPr id="33803" name="Oval 11"/>
              <p:cNvSpPr>
                <a:spLocks noChangeArrowheads="1"/>
              </p:cNvSpPr>
              <p:nvPr/>
            </p:nvSpPr>
            <p:spPr bwMode="auto">
              <a:xfrm>
                <a:off x="240" y="240"/>
                <a:ext cx="2447" cy="2303"/>
              </a:xfrm>
              <a:prstGeom prst="ellipse">
                <a:avLst/>
              </a:prstGeom>
              <a:noFill/>
              <a:ln w="9525">
                <a:solidFill>
                  <a:schemeClr val="accent1"/>
                </a:solidFill>
                <a:round/>
                <a:headEnd/>
                <a:tailEnd/>
              </a:ln>
              <a:effectLst/>
            </p:spPr>
            <p:txBody>
              <a:bodyPr wrap="none" anchor="ctr"/>
              <a:lstStyle/>
              <a:p>
                <a:pPr>
                  <a:defRPr/>
                </a:pPr>
                <a:endParaRPr lang="en-US">
                  <a:ea typeface="+mn-ea"/>
                </a:endParaRPr>
              </a:p>
            </p:txBody>
          </p:sp>
          <p:sp>
            <p:nvSpPr>
              <p:cNvPr id="33804" name="Oval 12"/>
              <p:cNvSpPr>
                <a:spLocks noChangeArrowheads="1"/>
              </p:cNvSpPr>
              <p:nvPr/>
            </p:nvSpPr>
            <p:spPr bwMode="auto">
              <a:xfrm>
                <a:off x="480" y="480"/>
                <a:ext cx="1969" cy="1825"/>
              </a:xfrm>
              <a:prstGeom prst="ellipse">
                <a:avLst/>
              </a:prstGeom>
              <a:noFill/>
              <a:ln w="9525">
                <a:solidFill>
                  <a:schemeClr val="accent1"/>
                </a:solidFill>
                <a:round/>
                <a:headEnd/>
                <a:tailEnd/>
              </a:ln>
              <a:effectLst/>
            </p:spPr>
            <p:txBody>
              <a:bodyPr wrap="none" anchor="ctr"/>
              <a:lstStyle/>
              <a:p>
                <a:pPr>
                  <a:defRPr/>
                </a:pPr>
                <a:endParaRPr lang="en-US">
                  <a:ea typeface="+mn-ea"/>
                </a:endParaRPr>
              </a:p>
            </p:txBody>
          </p:sp>
          <p:sp>
            <p:nvSpPr>
              <p:cNvPr id="33805" name="Oval 13"/>
              <p:cNvSpPr>
                <a:spLocks noChangeArrowheads="1"/>
              </p:cNvSpPr>
              <p:nvPr/>
            </p:nvSpPr>
            <p:spPr bwMode="auto">
              <a:xfrm>
                <a:off x="720" y="720"/>
                <a:ext cx="1488" cy="1344"/>
              </a:xfrm>
              <a:prstGeom prst="ellipse">
                <a:avLst/>
              </a:prstGeom>
              <a:noFill/>
              <a:ln w="9525">
                <a:solidFill>
                  <a:schemeClr val="accent1"/>
                </a:solidFill>
                <a:round/>
                <a:headEnd/>
                <a:tailEnd/>
              </a:ln>
              <a:effectLst/>
            </p:spPr>
            <p:txBody>
              <a:bodyPr wrap="none" anchor="ctr"/>
              <a:lstStyle/>
              <a:p>
                <a:pPr>
                  <a:defRPr/>
                </a:pPr>
                <a:endParaRPr lang="en-US">
                  <a:ea typeface="+mn-ea"/>
                </a:endParaRPr>
              </a:p>
            </p:txBody>
          </p:sp>
          <p:sp>
            <p:nvSpPr>
              <p:cNvPr id="33806" name="Oval 14"/>
              <p:cNvSpPr>
                <a:spLocks noChangeArrowheads="1"/>
              </p:cNvSpPr>
              <p:nvPr/>
            </p:nvSpPr>
            <p:spPr bwMode="auto">
              <a:xfrm>
                <a:off x="911" y="912"/>
                <a:ext cx="1105" cy="959"/>
              </a:xfrm>
              <a:prstGeom prst="ellipse">
                <a:avLst/>
              </a:prstGeom>
              <a:noFill/>
              <a:ln w="9525">
                <a:solidFill>
                  <a:schemeClr val="accent1"/>
                </a:solidFill>
                <a:prstDash val="sysDot"/>
                <a:round/>
                <a:headEnd/>
                <a:tailEnd/>
              </a:ln>
              <a:effectLst/>
            </p:spPr>
            <p:txBody>
              <a:bodyPr wrap="none" anchor="ctr"/>
              <a:lstStyle/>
              <a:p>
                <a:pPr>
                  <a:defRPr/>
                </a:pPr>
                <a:endParaRPr lang="en-US">
                  <a:ea typeface="+mn-ea"/>
                </a:endParaRPr>
              </a:p>
            </p:txBody>
          </p:sp>
        </p:grpSp>
        <p:grpSp>
          <p:nvGrpSpPr>
            <p:cNvPr id="9226" name="Group 15"/>
            <p:cNvGrpSpPr>
              <a:grpSpLocks/>
            </p:cNvGrpSpPr>
            <p:nvPr userDrawn="1"/>
          </p:nvGrpSpPr>
          <p:grpSpPr bwMode="auto">
            <a:xfrm>
              <a:off x="2832" y="96"/>
              <a:ext cx="2736" cy="2592"/>
              <a:chOff x="0" y="0"/>
              <a:chExt cx="2928" cy="2784"/>
            </a:xfrm>
          </p:grpSpPr>
          <p:sp>
            <p:nvSpPr>
              <p:cNvPr id="33808" name="Oval 16"/>
              <p:cNvSpPr>
                <a:spLocks noChangeArrowheads="1"/>
              </p:cNvSpPr>
              <p:nvPr/>
            </p:nvSpPr>
            <p:spPr bwMode="auto">
              <a:xfrm>
                <a:off x="0" y="0"/>
                <a:ext cx="2928" cy="2784"/>
              </a:xfrm>
              <a:prstGeom prst="ellipse">
                <a:avLst/>
              </a:prstGeom>
              <a:noFill/>
              <a:ln w="9525">
                <a:solidFill>
                  <a:schemeClr val="accent1"/>
                </a:solidFill>
                <a:round/>
                <a:headEnd/>
                <a:tailEnd/>
              </a:ln>
              <a:effectLst/>
            </p:spPr>
            <p:txBody>
              <a:bodyPr wrap="none" anchor="ctr"/>
              <a:lstStyle/>
              <a:p>
                <a:pPr>
                  <a:defRPr/>
                </a:pPr>
                <a:endParaRPr lang="en-US">
                  <a:ea typeface="+mn-ea"/>
                </a:endParaRPr>
              </a:p>
            </p:txBody>
          </p:sp>
          <p:sp>
            <p:nvSpPr>
              <p:cNvPr id="33809" name="Oval 17"/>
              <p:cNvSpPr>
                <a:spLocks noChangeArrowheads="1"/>
              </p:cNvSpPr>
              <p:nvPr/>
            </p:nvSpPr>
            <p:spPr bwMode="auto">
              <a:xfrm>
                <a:off x="240" y="240"/>
                <a:ext cx="2449" cy="2305"/>
              </a:xfrm>
              <a:prstGeom prst="ellipse">
                <a:avLst/>
              </a:prstGeom>
              <a:noFill/>
              <a:ln w="9525">
                <a:solidFill>
                  <a:schemeClr val="accent1"/>
                </a:solidFill>
                <a:round/>
                <a:headEnd/>
                <a:tailEnd/>
              </a:ln>
              <a:effectLst/>
            </p:spPr>
            <p:txBody>
              <a:bodyPr wrap="none" anchor="ctr"/>
              <a:lstStyle/>
              <a:p>
                <a:pPr>
                  <a:defRPr/>
                </a:pPr>
                <a:endParaRPr lang="en-US">
                  <a:ea typeface="+mn-ea"/>
                </a:endParaRPr>
              </a:p>
            </p:txBody>
          </p:sp>
          <p:sp>
            <p:nvSpPr>
              <p:cNvPr id="33810" name="Oval 18"/>
              <p:cNvSpPr>
                <a:spLocks noChangeArrowheads="1"/>
              </p:cNvSpPr>
              <p:nvPr/>
            </p:nvSpPr>
            <p:spPr bwMode="auto">
              <a:xfrm>
                <a:off x="481" y="480"/>
                <a:ext cx="1967" cy="1824"/>
              </a:xfrm>
              <a:prstGeom prst="ellipse">
                <a:avLst/>
              </a:prstGeom>
              <a:noFill/>
              <a:ln w="9525">
                <a:solidFill>
                  <a:schemeClr val="accent1"/>
                </a:solidFill>
                <a:round/>
                <a:headEnd/>
                <a:tailEnd/>
              </a:ln>
              <a:effectLst/>
            </p:spPr>
            <p:txBody>
              <a:bodyPr wrap="none" anchor="ctr"/>
              <a:lstStyle/>
              <a:p>
                <a:pPr>
                  <a:defRPr/>
                </a:pPr>
                <a:endParaRPr lang="en-US">
                  <a:ea typeface="+mn-ea"/>
                </a:endParaRPr>
              </a:p>
            </p:txBody>
          </p:sp>
          <p:sp>
            <p:nvSpPr>
              <p:cNvPr id="33811" name="Oval 19"/>
              <p:cNvSpPr>
                <a:spLocks noChangeArrowheads="1"/>
              </p:cNvSpPr>
              <p:nvPr/>
            </p:nvSpPr>
            <p:spPr bwMode="auto">
              <a:xfrm>
                <a:off x="720" y="720"/>
                <a:ext cx="1488" cy="1345"/>
              </a:xfrm>
              <a:prstGeom prst="ellipse">
                <a:avLst/>
              </a:prstGeom>
              <a:noFill/>
              <a:ln w="9525">
                <a:solidFill>
                  <a:schemeClr val="accent1"/>
                </a:solidFill>
                <a:round/>
                <a:headEnd/>
                <a:tailEnd/>
              </a:ln>
              <a:effectLst/>
            </p:spPr>
            <p:txBody>
              <a:bodyPr wrap="none" anchor="ctr"/>
              <a:lstStyle/>
              <a:p>
                <a:pPr>
                  <a:defRPr/>
                </a:pPr>
                <a:endParaRPr lang="en-US">
                  <a:ea typeface="+mn-ea"/>
                </a:endParaRPr>
              </a:p>
            </p:txBody>
          </p:sp>
          <p:sp>
            <p:nvSpPr>
              <p:cNvPr id="33812" name="Oval 20"/>
              <p:cNvSpPr>
                <a:spLocks noChangeArrowheads="1"/>
              </p:cNvSpPr>
              <p:nvPr/>
            </p:nvSpPr>
            <p:spPr bwMode="auto">
              <a:xfrm>
                <a:off x="912" y="912"/>
                <a:ext cx="1104" cy="960"/>
              </a:xfrm>
              <a:prstGeom prst="ellipse">
                <a:avLst/>
              </a:prstGeom>
              <a:noFill/>
              <a:ln w="9525">
                <a:solidFill>
                  <a:schemeClr val="accent1"/>
                </a:solidFill>
                <a:prstDash val="sysDot"/>
                <a:round/>
                <a:headEnd/>
                <a:tailEnd/>
              </a:ln>
              <a:effectLst/>
            </p:spPr>
            <p:txBody>
              <a:bodyPr wrap="none" anchor="ctr"/>
              <a:lstStyle/>
              <a:p>
                <a:pPr>
                  <a:defRPr/>
                </a:pPr>
                <a:endParaRPr lang="en-US">
                  <a:ea typeface="+mn-ea"/>
                </a:endParaRPr>
              </a:p>
            </p:txBody>
          </p:sp>
        </p:grpSp>
      </p:grpSp>
      <p:sp>
        <p:nvSpPr>
          <p:cNvPr id="9219" name="Rectangle 21"/>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9220" name="Rectangle 22"/>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815" name="Rectangle 23"/>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b="1" smtClean="0">
                <a:latin typeface="+mn-lt"/>
                <a:ea typeface="+mn-ea"/>
              </a:defRPr>
            </a:lvl1pPr>
          </a:lstStyle>
          <a:p>
            <a:pPr>
              <a:defRPr/>
            </a:pPr>
            <a:endParaRPr lang="en-US"/>
          </a:p>
        </p:txBody>
      </p:sp>
      <p:sp>
        <p:nvSpPr>
          <p:cNvPr id="33816" name="Rectangle 24"/>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b="1" smtClean="0">
                <a:latin typeface="+mn-lt"/>
                <a:ea typeface="+mn-ea"/>
              </a:defRPr>
            </a:lvl1pPr>
          </a:lstStyle>
          <a:p>
            <a:pPr>
              <a:defRPr/>
            </a:pPr>
            <a:endParaRPr lang="en-US"/>
          </a:p>
        </p:txBody>
      </p:sp>
      <p:sp>
        <p:nvSpPr>
          <p:cNvPr id="33817" name="Rectangle 25"/>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1">
                <a:latin typeface="Times New Roman" charset="0"/>
              </a:defRPr>
            </a:lvl1pPr>
          </a:lstStyle>
          <a:p>
            <a:fld id="{CD4F2D6C-060D-6A49-8996-AE994A366C47}" type="slidenum">
              <a:rPr lang="en-US"/>
              <a:pPr/>
              <a:t>‹#›</a:t>
            </a:fld>
            <a:endParaRPr lang="en-US"/>
          </a:p>
        </p:txBody>
      </p:sp>
    </p:spTree>
  </p:cSld>
  <p:clrMap bg1="dk2" tx1="lt1" bg2="dk1" tx2="lt2" accent1="accent1" accent2="accent2" accent3="accent3" accent4="accent4" accent5="accent5" accent6="accent6" hlink="hlink" folHlink="folHlink"/>
  <p:sldLayoutIdLst>
    <p:sldLayoutId id="2147483674"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rtl="0" eaLnBrk="0" fontAlgn="base" hangingPunct="0">
        <a:spcBef>
          <a:spcPct val="0"/>
        </a:spcBef>
        <a:spcAft>
          <a:spcPct val="0"/>
        </a:spcAft>
        <a:defRPr sz="4400">
          <a:solidFill>
            <a:schemeClr val="tx2"/>
          </a:solidFill>
          <a:latin typeface="+mj-lt"/>
          <a:ea typeface="ＭＳ Ｐゴシック" charset="0"/>
          <a:cs typeface="+mj-cs"/>
        </a:defRPr>
      </a:lvl1pPr>
      <a:lvl2pPr algn="ctr" rtl="0" eaLnBrk="0" fontAlgn="base" hangingPunct="0">
        <a:spcBef>
          <a:spcPct val="0"/>
        </a:spcBef>
        <a:spcAft>
          <a:spcPct val="0"/>
        </a:spcAft>
        <a:defRPr sz="4400">
          <a:solidFill>
            <a:schemeClr val="tx2"/>
          </a:solidFill>
          <a:latin typeface="Times New Roman" pitchFamily="18" charset="0"/>
          <a:ea typeface="ＭＳ Ｐゴシック" charset="0"/>
        </a:defRPr>
      </a:lvl2pPr>
      <a:lvl3pPr algn="ctr" rtl="0" eaLnBrk="0" fontAlgn="base" hangingPunct="0">
        <a:spcBef>
          <a:spcPct val="0"/>
        </a:spcBef>
        <a:spcAft>
          <a:spcPct val="0"/>
        </a:spcAft>
        <a:defRPr sz="4400">
          <a:solidFill>
            <a:schemeClr val="tx2"/>
          </a:solidFill>
          <a:latin typeface="Times New Roman" pitchFamily="18" charset="0"/>
          <a:ea typeface="ＭＳ Ｐゴシック" charset="0"/>
        </a:defRPr>
      </a:lvl3pPr>
      <a:lvl4pPr algn="ctr" rtl="0" eaLnBrk="0" fontAlgn="base" hangingPunct="0">
        <a:spcBef>
          <a:spcPct val="0"/>
        </a:spcBef>
        <a:spcAft>
          <a:spcPct val="0"/>
        </a:spcAft>
        <a:defRPr sz="4400">
          <a:solidFill>
            <a:schemeClr val="tx2"/>
          </a:solidFill>
          <a:latin typeface="Times New Roman" pitchFamily="18" charset="0"/>
          <a:ea typeface="ＭＳ Ｐゴシック" charset="0"/>
        </a:defRPr>
      </a:lvl4pPr>
      <a:lvl5pPr algn="ctr" rtl="0" eaLnBrk="0" fontAlgn="base" hangingPunct="0">
        <a:spcBef>
          <a:spcPct val="0"/>
        </a:spcBef>
        <a:spcAft>
          <a:spcPct val="0"/>
        </a:spcAft>
        <a:defRPr sz="4400">
          <a:solidFill>
            <a:schemeClr val="tx2"/>
          </a:solidFill>
          <a:latin typeface="Times New Roman" pitchFamily="18" charset="0"/>
          <a:ea typeface="ＭＳ Ｐゴシック"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accent2"/>
        </a:buClr>
        <a:buSzPct val="110000"/>
        <a:buChar char="•"/>
        <a:defRPr sz="3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lr>
          <a:schemeClr val="hlink"/>
        </a:buClr>
        <a:buSzPct val="110000"/>
        <a:buChar char="•"/>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lr>
          <a:schemeClr val="folHlink"/>
        </a:buClr>
        <a:buSzPct val="110000"/>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lr>
          <a:schemeClr val="tx1"/>
        </a:buClr>
        <a:buChar char="•"/>
        <a:defRPr sz="2000">
          <a:solidFill>
            <a:schemeClr val="tx1"/>
          </a:solidFill>
          <a:latin typeface="+mn-lt"/>
          <a:ea typeface="ＭＳ Ｐゴシック" charset="0"/>
        </a:defRPr>
      </a:lvl5pPr>
      <a:lvl6pPr marL="2514600" indent="-228600" algn="l" rtl="0" fontAlgn="base">
        <a:spcBef>
          <a:spcPct val="20000"/>
        </a:spcBef>
        <a:spcAft>
          <a:spcPct val="0"/>
        </a:spcAft>
        <a:buClr>
          <a:schemeClr val="tx1"/>
        </a:buClr>
        <a:buChar char="•"/>
        <a:defRPr sz="2000">
          <a:solidFill>
            <a:schemeClr val="tx1"/>
          </a:solidFill>
          <a:latin typeface="+mn-lt"/>
        </a:defRPr>
      </a:lvl6pPr>
      <a:lvl7pPr marL="2971800" indent="-228600" algn="l" rtl="0" fontAlgn="base">
        <a:spcBef>
          <a:spcPct val="20000"/>
        </a:spcBef>
        <a:spcAft>
          <a:spcPct val="0"/>
        </a:spcAft>
        <a:buClr>
          <a:schemeClr val="tx1"/>
        </a:buClr>
        <a:buChar char="•"/>
        <a:defRPr sz="2000">
          <a:solidFill>
            <a:schemeClr val="tx1"/>
          </a:solidFill>
          <a:latin typeface="+mn-lt"/>
        </a:defRPr>
      </a:lvl7pPr>
      <a:lvl8pPr marL="3429000" indent="-228600" algn="l" rtl="0" fontAlgn="base">
        <a:spcBef>
          <a:spcPct val="20000"/>
        </a:spcBef>
        <a:spcAft>
          <a:spcPct val="0"/>
        </a:spcAft>
        <a:buClr>
          <a:schemeClr val="tx1"/>
        </a:buClr>
        <a:buChar char="•"/>
        <a:defRPr sz="2000">
          <a:solidFill>
            <a:schemeClr val="tx1"/>
          </a:solidFill>
          <a:latin typeface="+mn-lt"/>
        </a:defRPr>
      </a:lvl8pPr>
      <a:lvl9pPr marL="3886200" indent="-228600" algn="l" rtl="0" fontAlgn="base">
        <a:spcBef>
          <a:spcPct val="20000"/>
        </a:spcBef>
        <a:spcAft>
          <a:spcPct val="0"/>
        </a:spcAft>
        <a:buClr>
          <a:schemeClr val="tx1"/>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Microsoft_Equation1.bin"/><Relationship Id="rId4" Type="http://schemas.openxmlformats.org/officeDocument/2006/relationships/image" Target="../media/image1.emf"/><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image" Target="../media/image2.emf"/><Relationship Id="rId5" Type="http://schemas.openxmlformats.org/officeDocument/2006/relationships/oleObject" Target="../embeddings/oleObject2.bin"/><Relationship Id="rId6" Type="http://schemas.openxmlformats.org/officeDocument/2006/relationships/image" Target="../media/image3.emf"/><Relationship Id="rId7" Type="http://schemas.openxmlformats.org/officeDocument/2006/relationships/oleObject" Target="../embeddings/oleObject3.bin"/><Relationship Id="rId8" Type="http://schemas.openxmlformats.org/officeDocument/2006/relationships/image" Target="../media/image4.emf"/><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4.bin"/><Relationship Id="rId4" Type="http://schemas.openxmlformats.org/officeDocument/2006/relationships/image" Target="../media/image5.emf"/><Relationship Id="rId5" Type="http://schemas.openxmlformats.org/officeDocument/2006/relationships/oleObject" Target="../embeddings/oleObject5.bin"/><Relationship Id="rId6" Type="http://schemas.openxmlformats.org/officeDocument/2006/relationships/image" Target="../media/image6.emf"/><Relationship Id="rId1" Type="http://schemas.openxmlformats.org/officeDocument/2006/relationships/vmlDrawing" Target="../drawings/vmlDrawing3.vml"/><Relationship Id="rId2"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6.bin"/><Relationship Id="rId4" Type="http://schemas.openxmlformats.org/officeDocument/2006/relationships/image" Target="../media/image7.emf"/><Relationship Id="rId1" Type="http://schemas.openxmlformats.org/officeDocument/2006/relationships/vmlDrawing" Target="../drawings/vmlDrawing4.vml"/><Relationship Id="rId2"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7.bin"/><Relationship Id="rId4" Type="http://schemas.openxmlformats.org/officeDocument/2006/relationships/image" Target="../media/image13.emf"/><Relationship Id="rId5" Type="http://schemas.openxmlformats.org/officeDocument/2006/relationships/oleObject" Target="../embeddings/oleObject8.bin"/><Relationship Id="rId6" Type="http://schemas.openxmlformats.org/officeDocument/2006/relationships/image" Target="../media/image14.emf"/><Relationship Id="rId1" Type="http://schemas.openxmlformats.org/officeDocument/2006/relationships/vmlDrawing" Target="../drawings/vmlDrawing5.vml"/><Relationship Id="rId2"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9.bin"/><Relationship Id="rId4" Type="http://schemas.openxmlformats.org/officeDocument/2006/relationships/image" Target="../media/image15.emf"/><Relationship Id="rId1" Type="http://schemas.openxmlformats.org/officeDocument/2006/relationships/vmlDrawing" Target="../drawings/vmlDrawing6.vml"/><Relationship Id="rId2"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0.bin"/><Relationship Id="rId4" Type="http://schemas.openxmlformats.org/officeDocument/2006/relationships/image" Target="../media/image17.emf"/><Relationship Id="rId1" Type="http://schemas.openxmlformats.org/officeDocument/2006/relationships/vmlDrawing" Target="../drawings/vmlDrawing7.vml"/><Relationship Id="rId2"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w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1.bin"/><Relationship Id="rId4" Type="http://schemas.openxmlformats.org/officeDocument/2006/relationships/image" Target="../media/image20.emf"/><Relationship Id="rId5" Type="http://schemas.openxmlformats.org/officeDocument/2006/relationships/oleObject" Target="../embeddings/oleObject12.bin"/><Relationship Id="rId6" Type="http://schemas.openxmlformats.org/officeDocument/2006/relationships/image" Target="../media/image21.emf"/><Relationship Id="rId7" Type="http://schemas.openxmlformats.org/officeDocument/2006/relationships/oleObject" Target="../embeddings/oleObject13.bin"/><Relationship Id="rId8" Type="http://schemas.openxmlformats.org/officeDocument/2006/relationships/image" Target="../media/image22.emf"/><Relationship Id="rId9" Type="http://schemas.openxmlformats.org/officeDocument/2006/relationships/oleObject" Target="../embeddings/oleObject14.bin"/><Relationship Id="rId10" Type="http://schemas.openxmlformats.org/officeDocument/2006/relationships/image" Target="../media/image23.emf"/><Relationship Id="rId11" Type="http://schemas.openxmlformats.org/officeDocument/2006/relationships/image" Target="../media/image8.wmf"/><Relationship Id="rId1" Type="http://schemas.openxmlformats.org/officeDocument/2006/relationships/vmlDrawing" Target="../drawings/vmlDrawing8.vml"/><Relationship Id="rId2"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5.bin"/><Relationship Id="rId4" Type="http://schemas.openxmlformats.org/officeDocument/2006/relationships/image" Target="../media/image24.emf"/><Relationship Id="rId1" Type="http://schemas.openxmlformats.org/officeDocument/2006/relationships/vmlDrawing" Target="../drawings/vmlDrawing9.vml"/><Relationship Id="rId2"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p:txBody>
          <a:bodyPr/>
          <a:lstStyle/>
          <a:p>
            <a:pPr eaLnBrk="1" hangingPunct="1"/>
            <a:r>
              <a:rPr lang="en-US">
                <a:latin typeface="Times New Roman" charset="0"/>
              </a:rPr>
              <a:t>Sampling Distributions</a:t>
            </a:r>
          </a:p>
        </p:txBody>
      </p:sp>
      <p:sp>
        <p:nvSpPr>
          <p:cNvPr id="11267" name="Rectangle 3"/>
          <p:cNvSpPr>
            <a:spLocks noGrp="1" noChangeArrowheads="1"/>
          </p:cNvSpPr>
          <p:nvPr>
            <p:ph type="subTitle" idx="1"/>
          </p:nvPr>
        </p:nvSpPr>
        <p:spPr/>
        <p:txBody>
          <a:bodyPr/>
          <a:lstStyle/>
          <a:p>
            <a:pPr eaLnBrk="1" hangingPunct="1"/>
            <a:r>
              <a:rPr lang="en-US" dirty="0" smtClean="0">
                <a:latin typeface="Times New Roman" charset="0"/>
              </a:rPr>
              <a:t>MATH 2300</a:t>
            </a:r>
            <a:endParaRPr lang="en-US" dirty="0">
              <a:latin typeface="Times New Roman" charset="0"/>
            </a:endParaRPr>
          </a:p>
          <a:p>
            <a:pPr eaLnBrk="1" hangingPunct="1"/>
            <a:r>
              <a:rPr lang="en-US" dirty="0">
                <a:latin typeface="Times New Roman" charset="0"/>
              </a:rPr>
              <a:t>Chapter 7</a:t>
            </a:r>
          </a:p>
          <a:p>
            <a:pPr eaLnBrk="1" hangingPunct="1"/>
            <a:endParaRPr lang="en-US" dirty="0">
              <a:latin typeface="Times New Roman"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Means</a:t>
            </a:r>
            <a:endParaRPr lang="en-US" dirty="0"/>
          </a:p>
        </p:txBody>
      </p:sp>
      <p:sp>
        <p:nvSpPr>
          <p:cNvPr id="4" name="Content Placeholder 2"/>
          <p:cNvSpPr>
            <a:spLocks noGrp="1"/>
          </p:cNvSpPr>
          <p:nvPr>
            <p:ph idx="1"/>
          </p:nvPr>
        </p:nvSpPr>
        <p:spPr>
          <a:xfrm>
            <a:off x="685800" y="1981200"/>
            <a:ext cx="7772400" cy="4114800"/>
          </a:xfrm>
          <a:solidFill>
            <a:schemeClr val="tx2"/>
          </a:solidFill>
          <a:ln>
            <a:solidFill>
              <a:schemeClr val="accent2"/>
            </a:solidFill>
          </a:ln>
        </p:spPr>
        <p:txBody>
          <a:bodyPr>
            <a:normAutofit/>
          </a:bodyPr>
          <a:lstStyle/>
          <a:p>
            <a:r>
              <a:rPr lang="en-US" dirty="0" smtClean="0">
                <a:solidFill>
                  <a:schemeClr val="bg1"/>
                </a:solidFill>
              </a:rPr>
              <a:t>Suppose you sample from a population 10 times.</a:t>
            </a:r>
          </a:p>
          <a:p>
            <a:r>
              <a:rPr lang="en-US" dirty="0" smtClean="0">
                <a:solidFill>
                  <a:schemeClr val="bg1"/>
                </a:solidFill>
              </a:rPr>
              <a:t>You record the following sample means:</a:t>
            </a:r>
          </a:p>
          <a:p>
            <a:endParaRPr lang="en-US" dirty="0">
              <a:solidFill>
                <a:schemeClr val="bg1"/>
              </a:solidFill>
            </a:endParaRPr>
          </a:p>
          <a:p>
            <a:endParaRPr lang="en-US" dirty="0" smtClean="0">
              <a:solidFill>
                <a:schemeClr val="bg1"/>
              </a:solidFill>
            </a:endParaRPr>
          </a:p>
          <a:p>
            <a:endParaRPr lang="en-US" dirty="0">
              <a:solidFill>
                <a:schemeClr val="bg1"/>
              </a:solidFill>
            </a:endParaRPr>
          </a:p>
          <a:p>
            <a:r>
              <a:rPr lang="en-US" dirty="0" smtClean="0">
                <a:solidFill>
                  <a:schemeClr val="bg1"/>
                </a:solidFill>
              </a:rPr>
              <a:t>Why aren’t the values all the same?</a:t>
            </a:r>
          </a:p>
        </p:txBody>
      </p:sp>
      <p:graphicFrame>
        <p:nvGraphicFramePr>
          <p:cNvPr id="5" name="Object 4"/>
          <p:cNvGraphicFramePr>
            <a:graphicFrameLocks noChangeAspect="1"/>
          </p:cNvGraphicFramePr>
          <p:nvPr>
            <p:extLst>
              <p:ext uri="{D42A27DB-BD31-4B8C-83A1-F6EECF244321}">
                <p14:modId xmlns:p14="http://schemas.microsoft.com/office/powerpoint/2010/main" val="1319196219"/>
              </p:ext>
            </p:extLst>
          </p:nvPr>
        </p:nvGraphicFramePr>
        <p:xfrm>
          <a:off x="1295400" y="3733800"/>
          <a:ext cx="6425513" cy="1524000"/>
        </p:xfrm>
        <a:graphic>
          <a:graphicData uri="http://schemas.openxmlformats.org/presentationml/2006/ole">
            <mc:AlternateContent xmlns:mc="http://schemas.openxmlformats.org/markup-compatibility/2006">
              <mc:Choice xmlns:v="urn:schemas-microsoft-com:vml" Requires="v">
                <p:oleObj spid="_x0000_s67585" name="Equation" r:id="rId3" imgW="1981200" imgH="469900" progId="Equation.3">
                  <p:embed/>
                </p:oleObj>
              </mc:Choice>
              <mc:Fallback>
                <p:oleObj name="Equation" r:id="rId3" imgW="1981200" imgH="469900" progId="Equation.3">
                  <p:embed/>
                  <p:pic>
                    <p:nvPicPr>
                      <p:cNvPr id="0" name=""/>
                      <p:cNvPicPr/>
                      <p:nvPr/>
                    </p:nvPicPr>
                    <p:blipFill>
                      <a:blip r:embed="rId4"/>
                      <a:stretch>
                        <a:fillRect/>
                      </a:stretch>
                    </p:blipFill>
                    <p:spPr>
                      <a:xfrm>
                        <a:off x="1295400" y="3733800"/>
                        <a:ext cx="6425513" cy="1524000"/>
                      </a:xfrm>
                      <a:prstGeom prst="rect">
                        <a:avLst/>
                      </a:prstGeom>
                    </p:spPr>
                  </p:pic>
                </p:oleObj>
              </mc:Fallback>
            </mc:AlternateContent>
          </a:graphicData>
        </a:graphic>
      </p:graphicFrame>
    </p:spTree>
    <p:extLst>
      <p:ext uri="{BB962C8B-B14F-4D97-AF65-F5344CB8AC3E}">
        <p14:creationId xmlns:p14="http://schemas.microsoft.com/office/powerpoint/2010/main" val="3241760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dirty="0"/>
              <a:t>The Population</a:t>
            </a:r>
          </a:p>
        </p:txBody>
      </p:sp>
      <p:sp>
        <p:nvSpPr>
          <p:cNvPr id="6147" name="Rectangle 3"/>
          <p:cNvSpPr>
            <a:spLocks noGrp="1" noChangeArrowheads="1"/>
          </p:cNvSpPr>
          <p:nvPr>
            <p:ph type="body" idx="1"/>
          </p:nvPr>
        </p:nvSpPr>
        <p:spPr>
          <a:solidFill>
            <a:schemeClr val="tx2"/>
          </a:solidFill>
          <a:ln/>
        </p:spPr>
        <p:style>
          <a:lnRef idx="2">
            <a:schemeClr val="accent2"/>
          </a:lnRef>
          <a:fillRef idx="1">
            <a:schemeClr val="lt1"/>
          </a:fillRef>
          <a:effectRef idx="0">
            <a:schemeClr val="accent2"/>
          </a:effectRef>
          <a:fontRef idx="minor">
            <a:schemeClr val="dk1"/>
          </a:fontRef>
        </p:style>
        <p:txBody>
          <a:bodyPr/>
          <a:lstStyle/>
          <a:p>
            <a:r>
              <a:rPr lang="en-US" dirty="0">
                <a:solidFill>
                  <a:schemeClr val="bg1"/>
                </a:solidFill>
              </a:rPr>
              <a:t>The entire group of individuals about which we want to get information.</a:t>
            </a:r>
          </a:p>
          <a:p>
            <a:r>
              <a:rPr lang="en-US" dirty="0">
                <a:solidFill>
                  <a:schemeClr val="bg1"/>
                </a:solidFill>
              </a:rPr>
              <a:t>Often, it is too time-consuming or expensive to obtain data for the entire population.</a:t>
            </a:r>
          </a:p>
          <a:p>
            <a:r>
              <a:rPr lang="en-US" dirty="0">
                <a:solidFill>
                  <a:schemeClr val="bg1"/>
                </a:solidFill>
              </a:rPr>
              <a:t>How do we get around these constraints?</a:t>
            </a:r>
          </a:p>
        </p:txBody>
      </p:sp>
    </p:spTree>
    <p:extLst>
      <p:ext uri="{BB962C8B-B14F-4D97-AF65-F5344CB8AC3E}">
        <p14:creationId xmlns:p14="http://schemas.microsoft.com/office/powerpoint/2010/main" val="3804406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t>The Sample</a:t>
            </a:r>
          </a:p>
        </p:txBody>
      </p:sp>
      <p:sp>
        <p:nvSpPr>
          <p:cNvPr id="7171" name="Rectangle 3"/>
          <p:cNvSpPr>
            <a:spLocks noGrp="1" noChangeArrowheads="1"/>
          </p:cNvSpPr>
          <p:nvPr>
            <p:ph type="body" idx="1"/>
          </p:nvPr>
        </p:nvSpPr>
        <p:spPr>
          <a:solidFill>
            <a:srgbClr val="FFFFFF"/>
          </a:solidFill>
        </p:spPr>
        <p:style>
          <a:lnRef idx="2">
            <a:schemeClr val="accent2"/>
          </a:lnRef>
          <a:fillRef idx="1">
            <a:schemeClr val="lt1"/>
          </a:fillRef>
          <a:effectRef idx="0">
            <a:schemeClr val="accent2"/>
          </a:effectRef>
          <a:fontRef idx="minor">
            <a:schemeClr val="dk1"/>
          </a:fontRef>
        </p:style>
        <p:txBody>
          <a:bodyPr/>
          <a:lstStyle/>
          <a:p>
            <a:r>
              <a:rPr lang="en-US"/>
              <a:t>Part of the population from which we actually collect information</a:t>
            </a:r>
          </a:p>
          <a:p>
            <a:r>
              <a:rPr lang="en-US"/>
              <a:t>We use this information to draw conclusions about the population.</a:t>
            </a:r>
          </a:p>
          <a:p>
            <a:pPr lvl="1"/>
            <a:r>
              <a:rPr lang="en-US"/>
              <a:t>We call this process </a:t>
            </a:r>
            <a:r>
              <a:rPr lang="en-US" b="1"/>
              <a:t>inference</a:t>
            </a:r>
            <a:r>
              <a:rPr lang="en-US"/>
              <a:t>.</a:t>
            </a:r>
          </a:p>
          <a:p>
            <a:endParaRPr lang="en-US"/>
          </a:p>
        </p:txBody>
      </p:sp>
    </p:spTree>
    <p:extLst>
      <p:ext uri="{BB962C8B-B14F-4D97-AF65-F5344CB8AC3E}">
        <p14:creationId xmlns:p14="http://schemas.microsoft.com/office/powerpoint/2010/main" val="618794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p:txBody>
          <a:bodyPr/>
          <a:lstStyle/>
          <a:p>
            <a:r>
              <a:rPr lang="en-US"/>
              <a:t>How do we describe samples?</a:t>
            </a:r>
          </a:p>
        </p:txBody>
      </p:sp>
      <p:sp>
        <p:nvSpPr>
          <p:cNvPr id="1027" name="Rectangle 3"/>
          <p:cNvSpPr>
            <a:spLocks noGrp="1" noChangeArrowheads="1"/>
          </p:cNvSpPr>
          <p:nvPr>
            <p:ph type="body" idx="1"/>
          </p:nvPr>
        </p:nvSpPr>
        <p:spPr>
          <a:solidFill>
            <a:srgbClr val="FFFFFF"/>
          </a:solidFill>
        </p:spPr>
        <p:style>
          <a:lnRef idx="2">
            <a:schemeClr val="accent2"/>
          </a:lnRef>
          <a:fillRef idx="1">
            <a:schemeClr val="lt1"/>
          </a:fillRef>
          <a:effectRef idx="0">
            <a:schemeClr val="accent2"/>
          </a:effectRef>
          <a:fontRef idx="minor">
            <a:schemeClr val="dk1"/>
          </a:fontRef>
        </p:style>
        <p:txBody>
          <a:bodyPr/>
          <a:lstStyle/>
          <a:p>
            <a:r>
              <a:rPr lang="en-US" dirty="0"/>
              <a:t>First, we collect raw data.</a:t>
            </a:r>
          </a:p>
          <a:p>
            <a:pPr lvl="1"/>
            <a:r>
              <a:rPr lang="en-US" dirty="0"/>
              <a:t>The actual measurements or observations.</a:t>
            </a:r>
          </a:p>
          <a:p>
            <a:r>
              <a:rPr lang="en-US" dirty="0"/>
              <a:t>We consolidate or summarize the raw data to describe the various characteristics of the sample.</a:t>
            </a:r>
          </a:p>
          <a:p>
            <a:pPr lvl="1"/>
            <a:r>
              <a:rPr lang="en-US" dirty="0"/>
              <a:t>These numerical summaries are called </a:t>
            </a:r>
            <a:r>
              <a:rPr lang="en-US" b="1" dirty="0"/>
              <a:t>statistics</a:t>
            </a:r>
            <a:r>
              <a:rPr lang="en-US" dirty="0"/>
              <a:t>.</a:t>
            </a:r>
          </a:p>
        </p:txBody>
      </p:sp>
    </p:spTree>
    <p:extLst>
      <p:ext uri="{BB962C8B-B14F-4D97-AF65-F5344CB8AC3E}">
        <p14:creationId xmlns:p14="http://schemas.microsoft.com/office/powerpoint/2010/main" val="4167984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t>How do we describe populations?</a:t>
            </a:r>
          </a:p>
        </p:txBody>
      </p:sp>
      <p:sp>
        <p:nvSpPr>
          <p:cNvPr id="8195" name="Rectangle 3"/>
          <p:cNvSpPr>
            <a:spLocks noGrp="1" noChangeArrowheads="1"/>
          </p:cNvSpPr>
          <p:nvPr>
            <p:ph type="body" idx="1"/>
          </p:nvPr>
        </p:nvSpPr>
        <p:spPr>
          <a:solidFill>
            <a:srgbClr val="FFFFFF"/>
          </a:solidFill>
        </p:spPr>
        <p:style>
          <a:lnRef idx="2">
            <a:schemeClr val="accent2"/>
          </a:lnRef>
          <a:fillRef idx="1">
            <a:schemeClr val="lt1"/>
          </a:fillRef>
          <a:effectRef idx="0">
            <a:schemeClr val="accent2"/>
          </a:effectRef>
          <a:fontRef idx="minor">
            <a:schemeClr val="dk1"/>
          </a:fontRef>
        </p:style>
        <p:txBody>
          <a:bodyPr/>
          <a:lstStyle/>
          <a:p>
            <a:r>
              <a:rPr lang="en-US" dirty="0"/>
              <a:t>We use our statistics to make </a:t>
            </a:r>
            <a:r>
              <a:rPr lang="en-US" i="1" dirty="0"/>
              <a:t>estimates</a:t>
            </a:r>
            <a:r>
              <a:rPr lang="en-US" dirty="0"/>
              <a:t> about the characteristics of the population.</a:t>
            </a:r>
          </a:p>
          <a:p>
            <a:r>
              <a:rPr lang="en-US" dirty="0"/>
              <a:t>The characteristics of a population are called </a:t>
            </a:r>
            <a:r>
              <a:rPr lang="en-US" b="1" dirty="0"/>
              <a:t>parameters</a:t>
            </a:r>
            <a:r>
              <a:rPr lang="en-US" dirty="0"/>
              <a:t>.</a:t>
            </a:r>
          </a:p>
          <a:p>
            <a:r>
              <a:rPr lang="en-US" dirty="0"/>
              <a:t>The value that a parameter takes is almost always </a:t>
            </a:r>
            <a:r>
              <a:rPr lang="en-US" i="1" dirty="0"/>
              <a:t>unknown</a:t>
            </a:r>
            <a:r>
              <a:rPr lang="en-US" dirty="0"/>
              <a:t>.</a:t>
            </a:r>
          </a:p>
        </p:txBody>
      </p:sp>
    </p:spTree>
    <p:extLst>
      <p:ext uri="{BB962C8B-B14F-4D97-AF65-F5344CB8AC3E}">
        <p14:creationId xmlns:p14="http://schemas.microsoft.com/office/powerpoint/2010/main" val="4255968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dirty="0" smtClean="0">
                <a:latin typeface="Times New Roman" charset="0"/>
              </a:rPr>
              <a:t>Summary</a:t>
            </a:r>
            <a:endParaRPr lang="en-US" dirty="0">
              <a:latin typeface="Times New Roman" charset="0"/>
            </a:endParaRPr>
          </a:p>
        </p:txBody>
      </p:sp>
      <p:graphicFrame>
        <p:nvGraphicFramePr>
          <p:cNvPr id="35899" name="Group 59"/>
          <p:cNvGraphicFramePr>
            <a:graphicFrameLocks noGrp="1"/>
          </p:cNvGraphicFramePr>
          <p:nvPr/>
        </p:nvGraphicFramePr>
        <p:xfrm>
          <a:off x="685800" y="1981200"/>
          <a:ext cx="7772400" cy="4114800"/>
        </p:xfrm>
        <a:graphic>
          <a:graphicData uri="http://schemas.openxmlformats.org/drawingml/2006/table">
            <a:tbl>
              <a:tblPr/>
              <a:tblGrid>
                <a:gridCol w="3886200"/>
                <a:gridCol w="3886200"/>
              </a:tblGrid>
              <a:tr h="1028700">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110000"/>
                        <a:buFontTx/>
                        <a:buNone/>
                        <a:tabLst/>
                      </a:pPr>
                      <a:r>
                        <a:rPr kumimoji="0" lang="en-US" sz="4000" b="1" i="0" u="none" strike="noStrike" cap="none" normalizeH="0" baseline="0" smtClean="0">
                          <a:ln>
                            <a:noFill/>
                          </a:ln>
                          <a:solidFill>
                            <a:schemeClr val="bg1"/>
                          </a:solidFill>
                          <a:effectLst/>
                          <a:latin typeface="Times New Roman" pitchFamily="18" charset="0"/>
                        </a:rPr>
                        <a:t>Parameters</a:t>
                      </a:r>
                    </a:p>
                  </a:txBody>
                  <a:tcPr anchor="ct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110000"/>
                        <a:buFontTx/>
                        <a:buNone/>
                        <a:tabLst/>
                      </a:pPr>
                      <a:r>
                        <a:rPr kumimoji="0" lang="en-US" sz="4000" b="1" i="0" u="none" strike="noStrike" cap="none" normalizeH="0" baseline="0" smtClean="0">
                          <a:ln>
                            <a:noFill/>
                          </a:ln>
                          <a:solidFill>
                            <a:schemeClr val="bg1"/>
                          </a:solidFill>
                          <a:effectLst/>
                          <a:latin typeface="Times New Roman" pitchFamily="18" charset="0"/>
                        </a:rPr>
                        <a:t>Statistics</a:t>
                      </a:r>
                    </a:p>
                  </a:txBody>
                  <a:tcPr anchor="ct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2"/>
                    </a:solidFill>
                  </a:tcPr>
                </a:tc>
              </a:tr>
              <a:tr h="1028700">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110000"/>
                        <a:buFontTx/>
                        <a:buNone/>
                        <a:tabLst/>
                      </a:pPr>
                      <a:r>
                        <a:rPr kumimoji="0" lang="en-US" sz="2800" b="0" i="0" u="none" strike="noStrike" cap="none" normalizeH="0" baseline="0" smtClean="0">
                          <a:ln>
                            <a:noFill/>
                          </a:ln>
                          <a:solidFill>
                            <a:schemeClr val="bg1"/>
                          </a:solidFill>
                          <a:effectLst/>
                          <a:latin typeface="Times New Roman" pitchFamily="18" charset="0"/>
                        </a:rPr>
                        <a:t>Describe Populations</a:t>
                      </a:r>
                    </a:p>
                  </a:txBody>
                  <a:tcPr anchor="ct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110000"/>
                        <a:buFontTx/>
                        <a:buNone/>
                        <a:tabLst/>
                      </a:pPr>
                      <a:r>
                        <a:rPr kumimoji="0" lang="en-US" sz="2800" b="0" i="0" u="none" strike="noStrike" cap="none" normalizeH="0" baseline="0" smtClean="0">
                          <a:ln>
                            <a:noFill/>
                          </a:ln>
                          <a:solidFill>
                            <a:schemeClr val="bg1"/>
                          </a:solidFill>
                          <a:effectLst/>
                          <a:latin typeface="Times New Roman" pitchFamily="18" charset="0"/>
                        </a:rPr>
                        <a:t>Describe Samples</a:t>
                      </a:r>
                    </a:p>
                  </a:txBody>
                  <a:tcPr anchor="ct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2"/>
                    </a:solidFill>
                  </a:tcPr>
                </a:tc>
              </a:tr>
              <a:tr h="1028700">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110000"/>
                        <a:buFontTx/>
                        <a:buNone/>
                        <a:tabLst/>
                      </a:pPr>
                      <a:r>
                        <a:rPr kumimoji="0" lang="en-US" sz="2800" b="0" i="0" u="none" strike="noStrike" cap="none" normalizeH="0" baseline="0" smtClean="0">
                          <a:ln>
                            <a:noFill/>
                          </a:ln>
                          <a:solidFill>
                            <a:schemeClr val="bg1"/>
                          </a:solidFill>
                          <a:effectLst/>
                          <a:latin typeface="Times New Roman" pitchFamily="18" charset="0"/>
                        </a:rPr>
                        <a:t>Fixed Values for a Given Population</a:t>
                      </a:r>
                    </a:p>
                  </a:txBody>
                  <a:tcPr anchor="ct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110000"/>
                        <a:buFontTx/>
                        <a:buNone/>
                        <a:tabLst/>
                      </a:pPr>
                      <a:r>
                        <a:rPr kumimoji="0" lang="en-US" sz="2800" b="0" i="0" u="none" strike="noStrike" cap="none" normalizeH="0" baseline="0" smtClean="0">
                          <a:ln>
                            <a:noFill/>
                          </a:ln>
                          <a:solidFill>
                            <a:schemeClr val="bg1"/>
                          </a:solidFill>
                          <a:effectLst/>
                          <a:latin typeface="Times New Roman" pitchFamily="18" charset="0"/>
                        </a:rPr>
                        <a:t>Changes from Sample to Sample</a:t>
                      </a:r>
                    </a:p>
                  </a:txBody>
                  <a:tcPr anchor="ct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2"/>
                    </a:solidFill>
                  </a:tcPr>
                </a:tc>
              </a:tr>
              <a:tr h="1028700">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110000"/>
                        <a:buFontTx/>
                        <a:buNone/>
                        <a:tabLst/>
                      </a:pPr>
                      <a:r>
                        <a:rPr kumimoji="0" lang="en-US" sz="2800" b="0" i="0" u="none" strike="noStrike" cap="none" normalizeH="0" baseline="0" smtClean="0">
                          <a:ln>
                            <a:noFill/>
                          </a:ln>
                          <a:solidFill>
                            <a:schemeClr val="bg1"/>
                          </a:solidFill>
                          <a:effectLst/>
                          <a:latin typeface="Times New Roman" pitchFamily="18" charset="0"/>
                        </a:rPr>
                        <a:t>Value Unknown in Practice</a:t>
                      </a:r>
                    </a:p>
                  </a:txBody>
                  <a:tcPr anchor="ct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110000"/>
                        <a:buFontTx/>
                        <a:buNone/>
                        <a:tabLst/>
                      </a:pPr>
                      <a:r>
                        <a:rPr kumimoji="0" lang="en-US" sz="2800" b="0" i="0" u="none" strike="noStrike" cap="none" normalizeH="0" baseline="0" smtClean="0">
                          <a:ln>
                            <a:noFill/>
                          </a:ln>
                          <a:solidFill>
                            <a:schemeClr val="bg1"/>
                          </a:solidFill>
                          <a:effectLst/>
                          <a:latin typeface="Times New Roman" pitchFamily="18" charset="0"/>
                        </a:rPr>
                        <a:t>Value is Calculated for a Given Sample</a:t>
                      </a:r>
                    </a:p>
                  </a:txBody>
                  <a:tcPr anchor="ctr"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tx2"/>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026"/>
          <p:cNvSpPr>
            <a:spLocks noGrp="1" noChangeArrowheads="1"/>
          </p:cNvSpPr>
          <p:nvPr>
            <p:ph type="title"/>
          </p:nvPr>
        </p:nvSpPr>
        <p:spPr/>
        <p:txBody>
          <a:bodyPr/>
          <a:lstStyle/>
          <a:p>
            <a:pPr eaLnBrk="1" hangingPunct="1"/>
            <a:r>
              <a:rPr lang="en-US">
                <a:latin typeface="Times New Roman" charset="0"/>
              </a:rPr>
              <a:t>A Population Distribution</a:t>
            </a:r>
          </a:p>
        </p:txBody>
      </p:sp>
      <p:sp>
        <p:nvSpPr>
          <p:cNvPr id="14339" name="Rectangle 1027"/>
          <p:cNvSpPr>
            <a:spLocks noGrp="1" noChangeArrowheads="1"/>
          </p:cNvSpPr>
          <p:nvPr>
            <p:ph type="body" idx="1"/>
          </p:nvPr>
        </p:nvSpPr>
        <p:spPr>
          <a:solidFill>
            <a:schemeClr val="tx2"/>
          </a:solidFill>
          <a:ln w="38100">
            <a:solidFill>
              <a:schemeClr val="accent2"/>
            </a:solidFill>
            <a:miter lim="800000"/>
            <a:headEnd/>
            <a:tailEnd/>
          </a:ln>
        </p:spPr>
        <p:txBody>
          <a:bodyPr/>
          <a:lstStyle/>
          <a:p>
            <a:pPr eaLnBrk="1" hangingPunct="1"/>
            <a:r>
              <a:rPr lang="en-US">
                <a:solidFill>
                  <a:schemeClr val="bg2"/>
                </a:solidFill>
                <a:latin typeface="Times New Roman" charset="0"/>
              </a:rPr>
              <a:t>For a given variable, this is the distribution of values the variable can take among all the </a:t>
            </a:r>
            <a:r>
              <a:rPr lang="en-US" b="1">
                <a:solidFill>
                  <a:schemeClr val="bg2"/>
                </a:solidFill>
                <a:latin typeface="Times New Roman" charset="0"/>
              </a:rPr>
              <a:t>individuals</a:t>
            </a:r>
            <a:r>
              <a:rPr lang="en-US">
                <a:solidFill>
                  <a:schemeClr val="bg2"/>
                </a:solidFill>
                <a:latin typeface="Times New Roman" charset="0"/>
              </a:rPr>
              <a:t> in the </a:t>
            </a:r>
            <a:r>
              <a:rPr lang="en-US" b="1" i="1">
                <a:solidFill>
                  <a:schemeClr val="bg2"/>
                </a:solidFill>
                <a:latin typeface="Times New Roman" charset="0"/>
              </a:rPr>
              <a:t>population</a:t>
            </a:r>
            <a:r>
              <a:rPr lang="en-US">
                <a:solidFill>
                  <a:schemeClr val="bg2"/>
                </a:solidFill>
                <a:latin typeface="Times New Roman" charset="0"/>
              </a:rPr>
              <a:t>.</a:t>
            </a:r>
          </a:p>
          <a:p>
            <a:pPr eaLnBrk="1" hangingPunct="1"/>
            <a:r>
              <a:rPr lang="en-US">
                <a:solidFill>
                  <a:schemeClr val="bg2"/>
                </a:solidFill>
                <a:latin typeface="Times New Roman" charset="0"/>
              </a:rPr>
              <a:t>IMPORTANT:</a:t>
            </a:r>
          </a:p>
          <a:p>
            <a:pPr lvl="1" eaLnBrk="1" hangingPunct="1"/>
            <a:r>
              <a:rPr lang="en-US">
                <a:solidFill>
                  <a:schemeClr val="bg2"/>
                </a:solidFill>
                <a:latin typeface="Times New Roman" charset="0"/>
              </a:rPr>
              <a:t>Describes the </a:t>
            </a:r>
            <a:r>
              <a:rPr lang="en-US" b="1">
                <a:solidFill>
                  <a:schemeClr val="bg2"/>
                </a:solidFill>
                <a:latin typeface="Times New Roman" charset="0"/>
              </a:rPr>
              <a:t>individuals</a:t>
            </a:r>
            <a:r>
              <a:rPr lang="en-US">
                <a:solidFill>
                  <a:schemeClr val="bg2"/>
                </a:solidFill>
                <a:latin typeface="Times New Roman" charset="0"/>
              </a:rPr>
              <a:t> in the population.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atin typeface="Times New Roman" charset="0"/>
              </a:rPr>
              <a:t>A Sampling Distribution</a:t>
            </a:r>
          </a:p>
        </p:txBody>
      </p:sp>
      <p:sp>
        <p:nvSpPr>
          <p:cNvPr id="15363" name="Rectangle 3"/>
          <p:cNvSpPr>
            <a:spLocks noGrp="1" noChangeArrowheads="1"/>
          </p:cNvSpPr>
          <p:nvPr>
            <p:ph type="body" idx="1"/>
          </p:nvPr>
        </p:nvSpPr>
        <p:spPr>
          <a:solidFill>
            <a:schemeClr val="tx2"/>
          </a:solidFill>
          <a:ln w="38100">
            <a:solidFill>
              <a:schemeClr val="accent2"/>
            </a:solidFill>
            <a:miter lim="800000"/>
            <a:headEnd/>
            <a:tailEnd/>
          </a:ln>
        </p:spPr>
        <p:txBody>
          <a:bodyPr/>
          <a:lstStyle/>
          <a:p>
            <a:pPr eaLnBrk="1" hangingPunct="1">
              <a:spcBef>
                <a:spcPct val="50000"/>
              </a:spcBef>
            </a:pPr>
            <a:r>
              <a:rPr lang="en-US">
                <a:solidFill>
                  <a:schemeClr val="bg2"/>
                </a:solidFill>
                <a:latin typeface="Times New Roman" charset="0"/>
              </a:rPr>
              <a:t>The distribution of values taken by a </a:t>
            </a:r>
            <a:r>
              <a:rPr lang="en-US" b="1" i="1">
                <a:solidFill>
                  <a:schemeClr val="bg2"/>
                </a:solidFill>
                <a:latin typeface="Times New Roman" charset="0"/>
              </a:rPr>
              <a:t>statistic</a:t>
            </a:r>
            <a:r>
              <a:rPr lang="en-US">
                <a:solidFill>
                  <a:schemeClr val="bg2"/>
                </a:solidFill>
                <a:latin typeface="Times New Roman" charset="0"/>
              </a:rPr>
              <a:t> in all possible samples of the </a:t>
            </a:r>
            <a:r>
              <a:rPr lang="en-US" b="1">
                <a:solidFill>
                  <a:schemeClr val="bg2"/>
                </a:solidFill>
                <a:latin typeface="Times New Roman" charset="0"/>
              </a:rPr>
              <a:t>same size</a:t>
            </a:r>
            <a:r>
              <a:rPr lang="en-US">
                <a:solidFill>
                  <a:schemeClr val="bg2"/>
                </a:solidFill>
                <a:latin typeface="Times New Roman" charset="0"/>
              </a:rPr>
              <a:t> from the </a:t>
            </a:r>
            <a:r>
              <a:rPr lang="en-US" b="1">
                <a:solidFill>
                  <a:schemeClr val="bg2"/>
                </a:solidFill>
                <a:latin typeface="Times New Roman" charset="0"/>
              </a:rPr>
              <a:t>same population</a:t>
            </a:r>
            <a:r>
              <a:rPr lang="en-US">
                <a:solidFill>
                  <a:schemeClr val="bg2"/>
                </a:solidFill>
                <a:latin typeface="Times New Roman" charset="0"/>
              </a:rPr>
              <a:t>.</a:t>
            </a:r>
          </a:p>
          <a:p>
            <a:pPr eaLnBrk="1" hangingPunct="1">
              <a:spcBef>
                <a:spcPct val="50000"/>
              </a:spcBef>
            </a:pPr>
            <a:r>
              <a:rPr lang="en-US">
                <a:solidFill>
                  <a:schemeClr val="bg2"/>
                </a:solidFill>
                <a:latin typeface="Times New Roman" charset="0"/>
              </a:rPr>
              <a:t>IMPORTANT:</a:t>
            </a:r>
          </a:p>
          <a:p>
            <a:pPr lvl="1" eaLnBrk="1" hangingPunct="1">
              <a:spcBef>
                <a:spcPct val="50000"/>
              </a:spcBef>
            </a:pPr>
            <a:r>
              <a:rPr lang="en-US">
                <a:solidFill>
                  <a:schemeClr val="bg2"/>
                </a:solidFill>
                <a:latin typeface="Times New Roman" charset="0"/>
              </a:rPr>
              <a:t>Describes a statistic calculated from </a:t>
            </a:r>
            <a:r>
              <a:rPr lang="en-US" b="1">
                <a:solidFill>
                  <a:schemeClr val="bg2"/>
                </a:solidFill>
                <a:latin typeface="Times New Roman" charset="0"/>
              </a:rPr>
              <a:t>samples</a:t>
            </a:r>
            <a:r>
              <a:rPr lang="en-US">
                <a:solidFill>
                  <a:schemeClr val="bg2"/>
                </a:solidFill>
                <a:latin typeface="Times New Roman" charset="0"/>
              </a:rPr>
              <a:t> from a given population.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atin typeface="Times New Roman" charset="0"/>
              </a:rPr>
              <a:t>Random Sampling Error</a:t>
            </a:r>
          </a:p>
        </p:txBody>
      </p:sp>
      <p:sp>
        <p:nvSpPr>
          <p:cNvPr id="16387" name="Rectangle 3"/>
          <p:cNvSpPr>
            <a:spLocks noGrp="1" noChangeArrowheads="1"/>
          </p:cNvSpPr>
          <p:nvPr>
            <p:ph type="body" idx="1"/>
          </p:nvPr>
        </p:nvSpPr>
        <p:spPr>
          <a:solidFill>
            <a:schemeClr val="tx2"/>
          </a:solidFill>
          <a:ln w="38100">
            <a:solidFill>
              <a:schemeClr val="accent2"/>
            </a:solidFill>
            <a:miter lim="800000"/>
            <a:headEnd/>
            <a:tailEnd/>
          </a:ln>
        </p:spPr>
        <p:txBody>
          <a:bodyPr/>
          <a:lstStyle/>
          <a:p>
            <a:pPr eaLnBrk="1" hangingPunct="1">
              <a:lnSpc>
                <a:spcPct val="90000"/>
              </a:lnSpc>
            </a:pPr>
            <a:r>
              <a:rPr lang="en-US">
                <a:solidFill>
                  <a:schemeClr val="bg2"/>
                </a:solidFill>
                <a:latin typeface="Times New Roman" charset="0"/>
              </a:rPr>
              <a:t>The deviation between the statistic and the parameter.</a:t>
            </a:r>
          </a:p>
          <a:p>
            <a:pPr eaLnBrk="1" hangingPunct="1">
              <a:lnSpc>
                <a:spcPct val="90000"/>
              </a:lnSpc>
            </a:pPr>
            <a:r>
              <a:rPr lang="en-US">
                <a:solidFill>
                  <a:schemeClr val="bg2"/>
                </a:solidFill>
                <a:latin typeface="Times New Roman" charset="0"/>
              </a:rPr>
              <a:t>Caused by chance in selecting a random sample. </a:t>
            </a:r>
          </a:p>
          <a:p>
            <a:pPr eaLnBrk="1" hangingPunct="1">
              <a:lnSpc>
                <a:spcPct val="90000"/>
              </a:lnSpc>
            </a:pPr>
            <a:r>
              <a:rPr lang="en-US">
                <a:solidFill>
                  <a:schemeClr val="bg2"/>
                </a:solidFill>
                <a:latin typeface="Times New Roman" charset="0"/>
              </a:rPr>
              <a:t>Margin of error includes only random sampling error.</a:t>
            </a:r>
          </a:p>
          <a:p>
            <a:pPr lvl="1" eaLnBrk="1" hangingPunct="1">
              <a:lnSpc>
                <a:spcPct val="90000"/>
              </a:lnSpc>
            </a:pPr>
            <a:r>
              <a:rPr lang="en-US">
                <a:solidFill>
                  <a:schemeClr val="bg2"/>
                </a:solidFill>
                <a:latin typeface="Times New Roman" charset="0"/>
              </a:rPr>
              <a:t>NOT errors associated with choosing bad samples.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2"/>
          <p:cNvSpPr>
            <a:spLocks noGrp="1" noChangeArrowheads="1"/>
          </p:cNvSpPr>
          <p:nvPr>
            <p:ph type="title"/>
          </p:nvPr>
        </p:nvSpPr>
        <p:spPr/>
        <p:txBody>
          <a:bodyPr/>
          <a:lstStyle/>
          <a:p>
            <a:pPr eaLnBrk="1" hangingPunct="1"/>
            <a:r>
              <a:rPr lang="en-US">
                <a:latin typeface="Times New Roman" charset="0"/>
              </a:rPr>
              <a:t>Developing a Sampling Distribution</a:t>
            </a:r>
          </a:p>
        </p:txBody>
      </p:sp>
      <p:sp>
        <p:nvSpPr>
          <p:cNvPr id="1030" name="Rectangle 4"/>
          <p:cNvSpPr>
            <a:spLocks noGrp="1" noChangeArrowheads="1"/>
          </p:cNvSpPr>
          <p:nvPr>
            <p:ph type="body" idx="1"/>
          </p:nvPr>
        </p:nvSpPr>
        <p:spPr>
          <a:xfrm>
            <a:off x="457200" y="1798638"/>
            <a:ext cx="8229600" cy="4525962"/>
          </a:xfrm>
          <a:solidFill>
            <a:schemeClr val="tx2"/>
          </a:solidFill>
          <a:ln w="38100">
            <a:solidFill>
              <a:schemeClr val="accent2"/>
            </a:solidFill>
            <a:miter lim="800000"/>
            <a:headEnd/>
            <a:tailEnd/>
          </a:ln>
        </p:spPr>
        <p:txBody>
          <a:bodyPr/>
          <a:lstStyle/>
          <a:p>
            <a:pPr eaLnBrk="1" hangingPunct="1">
              <a:lnSpc>
                <a:spcPct val="120000"/>
              </a:lnSpc>
            </a:pPr>
            <a:r>
              <a:rPr lang="en-US" b="1">
                <a:solidFill>
                  <a:schemeClr val="bg2"/>
                </a:solidFill>
                <a:latin typeface="Times New Roman" charset="0"/>
              </a:rPr>
              <a:t>Assume there is a population …</a:t>
            </a:r>
          </a:p>
          <a:p>
            <a:pPr eaLnBrk="1" hangingPunct="1">
              <a:lnSpc>
                <a:spcPct val="120000"/>
              </a:lnSpc>
            </a:pPr>
            <a:r>
              <a:rPr lang="en-US">
                <a:solidFill>
                  <a:schemeClr val="bg2"/>
                </a:solidFill>
                <a:latin typeface="Times New Roman" charset="0"/>
              </a:rPr>
              <a:t>Population size</a:t>
            </a:r>
            <a:r>
              <a:rPr lang="en-US">
                <a:latin typeface="Times New Roman" charset="0"/>
              </a:rPr>
              <a:t> </a:t>
            </a:r>
            <a:r>
              <a:rPr lang="en-US">
                <a:solidFill>
                  <a:srgbClr val="800000"/>
                </a:solidFill>
                <a:latin typeface="Times New Roman" charset="0"/>
              </a:rPr>
              <a:t>n = 4</a:t>
            </a:r>
          </a:p>
          <a:p>
            <a:pPr eaLnBrk="1" hangingPunct="1">
              <a:lnSpc>
                <a:spcPct val="120000"/>
              </a:lnSpc>
            </a:pPr>
            <a:r>
              <a:rPr lang="en-US">
                <a:solidFill>
                  <a:schemeClr val="bg2"/>
                </a:solidFill>
                <a:latin typeface="Times New Roman" charset="0"/>
              </a:rPr>
              <a:t>Measurement of interest</a:t>
            </a:r>
            <a:br>
              <a:rPr lang="en-US">
                <a:solidFill>
                  <a:schemeClr val="bg2"/>
                </a:solidFill>
                <a:latin typeface="Times New Roman" charset="0"/>
              </a:rPr>
            </a:br>
            <a:r>
              <a:rPr lang="en-US">
                <a:solidFill>
                  <a:schemeClr val="bg2"/>
                </a:solidFill>
                <a:latin typeface="Times New Roman" charset="0"/>
              </a:rPr>
              <a:t>is</a:t>
            </a:r>
            <a:r>
              <a:rPr lang="en-US">
                <a:latin typeface="Times New Roman" charset="0"/>
              </a:rPr>
              <a:t> </a:t>
            </a:r>
            <a:r>
              <a:rPr lang="en-US">
                <a:solidFill>
                  <a:srgbClr val="800000"/>
                </a:solidFill>
                <a:latin typeface="Times New Roman" charset="0"/>
              </a:rPr>
              <a:t>age</a:t>
            </a:r>
            <a:r>
              <a:rPr lang="en-US">
                <a:latin typeface="Times New Roman" charset="0"/>
              </a:rPr>
              <a:t> </a:t>
            </a:r>
            <a:r>
              <a:rPr lang="en-US">
                <a:solidFill>
                  <a:schemeClr val="bg2"/>
                </a:solidFill>
                <a:latin typeface="Times New Roman" charset="0"/>
              </a:rPr>
              <a:t>of individuals</a:t>
            </a:r>
          </a:p>
          <a:p>
            <a:pPr eaLnBrk="1" hangingPunct="1">
              <a:lnSpc>
                <a:spcPct val="120000"/>
              </a:lnSpc>
            </a:pPr>
            <a:r>
              <a:rPr lang="en-US">
                <a:solidFill>
                  <a:schemeClr val="bg2"/>
                </a:solidFill>
                <a:latin typeface="Times New Roman" charset="0"/>
              </a:rPr>
              <a:t>Values:</a:t>
            </a:r>
            <a:r>
              <a:rPr lang="en-US">
                <a:latin typeface="Times New Roman" charset="0"/>
              </a:rPr>
              <a:t> </a:t>
            </a:r>
            <a:r>
              <a:rPr lang="en-US">
                <a:solidFill>
                  <a:srgbClr val="800000"/>
                </a:solidFill>
                <a:latin typeface="Times New Roman" charset="0"/>
              </a:rPr>
              <a:t>18, 20,</a:t>
            </a:r>
            <a:br>
              <a:rPr lang="en-US">
                <a:solidFill>
                  <a:srgbClr val="800000"/>
                </a:solidFill>
                <a:latin typeface="Times New Roman" charset="0"/>
              </a:rPr>
            </a:br>
            <a:r>
              <a:rPr lang="en-US">
                <a:solidFill>
                  <a:srgbClr val="800000"/>
                </a:solidFill>
                <a:latin typeface="Times New Roman" charset="0"/>
              </a:rPr>
              <a:t>22, 24</a:t>
            </a:r>
            <a:r>
              <a:rPr lang="en-US">
                <a:latin typeface="Times New Roman" charset="0"/>
              </a:rPr>
              <a:t> </a:t>
            </a:r>
            <a:r>
              <a:rPr lang="en-US">
                <a:solidFill>
                  <a:schemeClr val="bg2"/>
                </a:solidFill>
                <a:latin typeface="Times New Roman" charset="0"/>
              </a:rPr>
              <a:t>(years)</a:t>
            </a:r>
          </a:p>
          <a:p>
            <a:pPr eaLnBrk="1" hangingPunct="1"/>
            <a:endParaRPr lang="en-US">
              <a:latin typeface="Times New Roman" charset="0"/>
            </a:endParaRPr>
          </a:p>
        </p:txBody>
      </p:sp>
      <p:sp>
        <p:nvSpPr>
          <p:cNvPr id="1031" name="Rectangle 5"/>
          <p:cNvSpPr>
            <a:spLocks noChangeArrowheads="1"/>
          </p:cNvSpPr>
          <p:nvPr/>
        </p:nvSpPr>
        <p:spPr bwMode="auto">
          <a:xfrm>
            <a:off x="5334000" y="2365375"/>
            <a:ext cx="5683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b="1">
                <a:solidFill>
                  <a:srgbClr val="006600"/>
                </a:solidFill>
                <a:latin typeface="Arial" charset="0"/>
              </a:rPr>
              <a:t>A</a:t>
            </a:r>
          </a:p>
        </p:txBody>
      </p:sp>
      <p:sp>
        <p:nvSpPr>
          <p:cNvPr id="1032" name="Rectangle 6"/>
          <p:cNvSpPr>
            <a:spLocks noChangeArrowheads="1"/>
          </p:cNvSpPr>
          <p:nvPr/>
        </p:nvSpPr>
        <p:spPr bwMode="auto">
          <a:xfrm>
            <a:off x="6508750" y="2262188"/>
            <a:ext cx="4921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b="1">
                <a:solidFill>
                  <a:schemeClr val="folHlink"/>
                </a:solidFill>
                <a:latin typeface="Arial" charset="0"/>
              </a:rPr>
              <a:t>B</a:t>
            </a:r>
          </a:p>
        </p:txBody>
      </p:sp>
      <p:sp>
        <p:nvSpPr>
          <p:cNvPr id="1033" name="Rectangle 7"/>
          <p:cNvSpPr>
            <a:spLocks noChangeArrowheads="1"/>
          </p:cNvSpPr>
          <p:nvPr/>
        </p:nvSpPr>
        <p:spPr bwMode="auto">
          <a:xfrm>
            <a:off x="7159625" y="2133600"/>
            <a:ext cx="4921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b="1">
                <a:solidFill>
                  <a:schemeClr val="hlink"/>
                </a:solidFill>
                <a:latin typeface="Arial" charset="0"/>
              </a:rPr>
              <a:t>C</a:t>
            </a:r>
          </a:p>
        </p:txBody>
      </p:sp>
      <p:sp>
        <p:nvSpPr>
          <p:cNvPr id="1034" name="Rectangle 8"/>
          <p:cNvSpPr>
            <a:spLocks noChangeArrowheads="1"/>
          </p:cNvSpPr>
          <p:nvPr/>
        </p:nvSpPr>
        <p:spPr bwMode="auto">
          <a:xfrm>
            <a:off x="7769225" y="2041525"/>
            <a:ext cx="6445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b="1">
                <a:solidFill>
                  <a:srgbClr val="993300"/>
                </a:solidFill>
                <a:latin typeface="Arial" charset="0"/>
              </a:rPr>
              <a:t>D</a:t>
            </a:r>
          </a:p>
        </p:txBody>
      </p:sp>
      <p:graphicFrame>
        <p:nvGraphicFramePr>
          <p:cNvPr id="1026" name="Object 9">
            <a:hlinkClick r:id="" action="ppaction://ole?verb=0"/>
          </p:cNvPr>
          <p:cNvGraphicFramePr>
            <a:graphicFrameLocks/>
          </p:cNvGraphicFramePr>
          <p:nvPr/>
        </p:nvGraphicFramePr>
        <p:xfrm>
          <a:off x="5486400" y="2471738"/>
          <a:ext cx="2981325" cy="4141787"/>
        </p:xfrm>
        <a:graphic>
          <a:graphicData uri="http://schemas.openxmlformats.org/presentationml/2006/ole">
            <mc:AlternateContent xmlns:mc="http://schemas.openxmlformats.org/markup-compatibility/2006">
              <mc:Choice xmlns:v="urn:schemas-microsoft-com:vml" Requires="v">
                <p:oleObj spid="_x0000_s1044" name="Clip" r:id="rId3" imgW="2982913" imgH="4143375" progId="MS_ClipArt_Gallery.2">
                  <p:embed/>
                </p:oleObj>
              </mc:Choice>
              <mc:Fallback>
                <p:oleObj name="Clip" r:id="rId3" imgW="2982913" imgH="4143375" progId="MS_ClipArt_Gallery.2">
                  <p:embed/>
                  <p:pic>
                    <p:nvPicPr>
                      <p:cNvPr id="0" name="Object 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2471738"/>
                        <a:ext cx="2981325" cy="4141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1027" name="Object 10">
            <a:hlinkClick r:id="" action="ppaction://ole?verb=0"/>
          </p:cNvPr>
          <p:cNvGraphicFramePr>
            <a:graphicFrameLocks/>
          </p:cNvGraphicFramePr>
          <p:nvPr/>
        </p:nvGraphicFramePr>
        <p:xfrm>
          <a:off x="7351713" y="2432050"/>
          <a:ext cx="1671637" cy="4273550"/>
        </p:xfrm>
        <a:graphic>
          <a:graphicData uri="http://schemas.openxmlformats.org/presentationml/2006/ole">
            <mc:AlternateContent xmlns:mc="http://schemas.openxmlformats.org/markup-compatibility/2006">
              <mc:Choice xmlns:v="urn:schemas-microsoft-com:vml" Requires="v">
                <p:oleObj spid="_x0000_s1045" name="Clip" r:id="rId5" imgW="1673225" imgH="4275138" progId="MS_ClipArt_Gallery.5">
                  <p:embed/>
                </p:oleObj>
              </mc:Choice>
              <mc:Fallback>
                <p:oleObj name="Clip" r:id="rId5" imgW="1673225" imgH="4275138" progId="MS_ClipArt_Gallery.5">
                  <p:embed/>
                  <p:pic>
                    <p:nvPicPr>
                      <p:cNvPr id="0" name="Object 1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51713" y="2432050"/>
                        <a:ext cx="1671637" cy="427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1028" name="Object 11">
            <a:hlinkClick r:id="" action="ppaction://ole?verb=0"/>
          </p:cNvPr>
          <p:cNvGraphicFramePr>
            <a:graphicFrameLocks/>
          </p:cNvGraphicFramePr>
          <p:nvPr/>
        </p:nvGraphicFramePr>
        <p:xfrm>
          <a:off x="6043613" y="2692400"/>
          <a:ext cx="1760537" cy="3937000"/>
        </p:xfrm>
        <a:graphic>
          <a:graphicData uri="http://schemas.openxmlformats.org/presentationml/2006/ole">
            <mc:AlternateContent xmlns:mc="http://schemas.openxmlformats.org/markup-compatibility/2006">
              <mc:Choice xmlns:v="urn:schemas-microsoft-com:vml" Requires="v">
                <p:oleObj spid="_x0000_s1046" name="Clip" r:id="rId7" imgW="1762125" imgH="3938588" progId="MS_ClipArt_Gallery.2">
                  <p:embed/>
                </p:oleObj>
              </mc:Choice>
              <mc:Fallback>
                <p:oleObj name="Clip" r:id="rId7" imgW="1762125" imgH="3938588" progId="MS_ClipArt_Gallery.2">
                  <p:embed/>
                  <p:pic>
                    <p:nvPicPr>
                      <p:cNvPr id="0" name="Object 1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43613" y="2692400"/>
                        <a:ext cx="1760537" cy="393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9"/>
          <p:cNvSpPr>
            <a:spLocks noChangeArrowheads="1"/>
          </p:cNvSpPr>
          <p:nvPr/>
        </p:nvSpPr>
        <p:spPr bwMode="auto">
          <a:xfrm>
            <a:off x="0" y="1828800"/>
            <a:ext cx="9144000" cy="5029200"/>
          </a:xfrm>
          <a:prstGeom prst="rect">
            <a:avLst/>
          </a:prstGeom>
          <a:solidFill>
            <a:schemeClr val="tx2"/>
          </a:solidFill>
          <a:ln w="38100">
            <a:solidFill>
              <a:schemeClr val="accent2"/>
            </a:solidFill>
            <a:miter lim="800000"/>
            <a:headEnd/>
            <a:tailEnd/>
          </a:ln>
        </p:spPr>
        <p:txBody>
          <a:bodyPr wrap="none" anchor="ctr"/>
          <a:lstStyle/>
          <a:p>
            <a:endParaRPr lang="en-US"/>
          </a:p>
        </p:txBody>
      </p:sp>
      <p:sp>
        <p:nvSpPr>
          <p:cNvPr id="2053" name="Rectangle 2"/>
          <p:cNvSpPr>
            <a:spLocks noGrp="1" noChangeArrowheads="1"/>
          </p:cNvSpPr>
          <p:nvPr>
            <p:ph type="title"/>
          </p:nvPr>
        </p:nvSpPr>
        <p:spPr/>
        <p:txBody>
          <a:bodyPr/>
          <a:lstStyle/>
          <a:p>
            <a:pPr eaLnBrk="1" hangingPunct="1"/>
            <a:r>
              <a:rPr lang="en-US">
                <a:latin typeface="Times New Roman" charset="0"/>
              </a:rPr>
              <a:t>Consider All Possible Samples of Size n = 2</a:t>
            </a:r>
          </a:p>
        </p:txBody>
      </p:sp>
      <p:sp>
        <p:nvSpPr>
          <p:cNvPr id="2054" name="Line 12"/>
          <p:cNvSpPr>
            <a:spLocks noChangeShapeType="1"/>
          </p:cNvSpPr>
          <p:nvPr/>
        </p:nvSpPr>
        <p:spPr bwMode="auto">
          <a:xfrm>
            <a:off x="1447800" y="5137150"/>
            <a:ext cx="0" cy="68580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aphicFrame>
        <p:nvGraphicFramePr>
          <p:cNvPr id="2050" name="Object 13">
            <a:hlinkClick r:id="" action="ppaction://ole?verb=0"/>
          </p:cNvPr>
          <p:cNvGraphicFramePr>
            <a:graphicFrameLocks/>
          </p:cNvGraphicFramePr>
          <p:nvPr/>
        </p:nvGraphicFramePr>
        <p:xfrm>
          <a:off x="-76200" y="2089150"/>
          <a:ext cx="7267575" cy="6597650"/>
        </p:xfrm>
        <a:graphic>
          <a:graphicData uri="http://schemas.openxmlformats.org/presentationml/2006/ole">
            <mc:AlternateContent xmlns:mc="http://schemas.openxmlformats.org/markup-compatibility/2006">
              <mc:Choice xmlns:v="urn:schemas-microsoft-com:vml" Requires="v">
                <p:oleObj spid="_x0000_s2072" name="Document" r:id="rId3" imgW="7274840" imgH="6633204" progId="Word.Document.8">
                  <p:embed/>
                </p:oleObj>
              </mc:Choice>
              <mc:Fallback>
                <p:oleObj name="Document" r:id="rId3" imgW="7274840" imgH="6633204" progId="Word.Document.8">
                  <p:embed/>
                  <p:pic>
                    <p:nvPicPr>
                      <p:cNvPr id="0" name="Object 1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2089150"/>
                        <a:ext cx="7267575" cy="659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2055" name="Rectangle 14"/>
          <p:cNvSpPr>
            <a:spLocks noChangeArrowheads="1"/>
          </p:cNvSpPr>
          <p:nvPr/>
        </p:nvSpPr>
        <p:spPr bwMode="auto">
          <a:xfrm>
            <a:off x="1600200" y="5289550"/>
            <a:ext cx="2590800" cy="1016000"/>
          </a:xfrm>
          <a:prstGeom prst="rect">
            <a:avLst/>
          </a:prstGeom>
          <a:solidFill>
            <a:schemeClr val="tx2"/>
          </a:solidFill>
          <a:ln w="12700">
            <a:solidFill>
              <a:schemeClr val="accent2"/>
            </a:solidFill>
            <a:miter lim="800000"/>
            <a:headEnd/>
            <a:tailEnd/>
          </a:ln>
        </p:spPr>
        <p:txBody>
          <a:bodyPr lIns="90488" tIns="44450" rIns="90488" bIns="44450">
            <a:spAutoFit/>
          </a:bodyPr>
          <a:lstStyle/>
          <a:p>
            <a:pPr algn="ctr">
              <a:spcBef>
                <a:spcPct val="50000"/>
              </a:spcBef>
            </a:pPr>
            <a:r>
              <a:rPr lang="en-US" sz="2000">
                <a:solidFill>
                  <a:schemeClr val="bg2"/>
                </a:solidFill>
                <a:latin typeface="Arial" charset="0"/>
              </a:rPr>
              <a:t>16 possible samples (sampling with replacement)</a:t>
            </a:r>
          </a:p>
        </p:txBody>
      </p:sp>
      <p:sp>
        <p:nvSpPr>
          <p:cNvPr id="2056" name="Line 15"/>
          <p:cNvSpPr>
            <a:spLocks noChangeShapeType="1"/>
          </p:cNvSpPr>
          <p:nvPr/>
        </p:nvSpPr>
        <p:spPr bwMode="auto">
          <a:xfrm>
            <a:off x="1447800" y="5822950"/>
            <a:ext cx="152400"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nvGrpSpPr>
          <p:cNvPr id="2" name="Group 18"/>
          <p:cNvGrpSpPr>
            <a:grpSpLocks/>
          </p:cNvGrpSpPr>
          <p:nvPr/>
        </p:nvGrpSpPr>
        <p:grpSpPr bwMode="auto">
          <a:xfrm>
            <a:off x="5562600" y="2317750"/>
            <a:ext cx="3505200" cy="4343400"/>
            <a:chOff x="3600" y="1700"/>
            <a:chExt cx="2208" cy="2736"/>
          </a:xfrm>
        </p:grpSpPr>
        <p:graphicFrame>
          <p:nvGraphicFramePr>
            <p:cNvPr id="2051" name="Object 19">
              <a:hlinkClick r:id="" action="ppaction://ole?verb=0"/>
            </p:cNvPr>
            <p:cNvGraphicFramePr>
              <a:graphicFrameLocks/>
            </p:cNvGraphicFramePr>
            <p:nvPr/>
          </p:nvGraphicFramePr>
          <p:xfrm>
            <a:off x="3600" y="2324"/>
            <a:ext cx="2208" cy="2112"/>
          </p:xfrm>
          <a:graphic>
            <a:graphicData uri="http://schemas.openxmlformats.org/presentationml/2006/ole">
              <mc:AlternateContent xmlns:mc="http://schemas.openxmlformats.org/markup-compatibility/2006">
                <mc:Choice xmlns:v="urn:schemas-microsoft-com:vml" Requires="v">
                  <p:oleObj spid="_x0000_s2073" name="Document" r:id="rId5" imgW="4187952" imgH="3880104" progId="Word.Document.8">
                    <p:embed/>
                  </p:oleObj>
                </mc:Choice>
                <mc:Fallback>
                  <p:oleObj name="Document" r:id="rId5" imgW="4187952" imgH="3880104" progId="Word.Document.8">
                    <p:embed/>
                    <p:pic>
                      <p:nvPicPr>
                        <p:cNvPr id="0" name="Object 1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0" y="2324"/>
                          <a:ext cx="2208" cy="2112"/>
                        </a:xfrm>
                        <a:prstGeom prst="rect">
                          <a:avLst/>
                        </a:prstGeom>
                        <a:solidFill>
                          <a:schemeClr val="tx2"/>
                        </a:solidFill>
                        <a:ln>
                          <a:noFill/>
                        </a:ln>
                        <a:effectLst/>
                        <a:extLs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2063" name="Rectangle 20"/>
            <p:cNvSpPr>
              <a:spLocks noChangeArrowheads="1"/>
            </p:cNvSpPr>
            <p:nvPr/>
          </p:nvSpPr>
          <p:spPr bwMode="auto">
            <a:xfrm>
              <a:off x="4416" y="1700"/>
              <a:ext cx="1262" cy="516"/>
            </a:xfrm>
            <a:prstGeom prst="rect">
              <a:avLst/>
            </a:prstGeom>
            <a:solidFill>
              <a:schemeClr val="tx2"/>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lgn="ctr">
                <a:spcBef>
                  <a:spcPct val="50000"/>
                </a:spcBef>
              </a:pPr>
              <a:r>
                <a:rPr lang="en-US">
                  <a:solidFill>
                    <a:schemeClr val="bg2"/>
                  </a:solidFill>
                  <a:latin typeface="Arial" charset="0"/>
                </a:rPr>
                <a:t>16 Sample Means</a:t>
              </a:r>
            </a:p>
          </p:txBody>
        </p:sp>
        <p:sp>
          <p:nvSpPr>
            <p:cNvPr id="2064" name="Line 21"/>
            <p:cNvSpPr>
              <a:spLocks noChangeShapeType="1"/>
            </p:cNvSpPr>
            <p:nvPr/>
          </p:nvSpPr>
          <p:spPr bwMode="auto">
            <a:xfrm flipV="1">
              <a:off x="4176" y="1988"/>
              <a:ext cx="0" cy="33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miter lim="800000"/>
                  <a:headEnd/>
                  <a:tailEnd/>
                </a14:hiddenLine>
              </a:ext>
            </a:extLst>
          </p:spPr>
          <p:txBody>
            <a:bodyPr wrap="none"/>
            <a:lstStyle/>
            <a:p>
              <a:endParaRPr lang="en-US"/>
            </a:p>
          </p:txBody>
        </p:sp>
        <p:sp>
          <p:nvSpPr>
            <p:cNvPr id="2065" name="Line 22"/>
            <p:cNvSpPr>
              <a:spLocks noChangeShapeType="1"/>
            </p:cNvSpPr>
            <p:nvPr/>
          </p:nvSpPr>
          <p:spPr bwMode="auto">
            <a:xfrm>
              <a:off x="4176" y="1988"/>
              <a:ext cx="24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miter lim="800000"/>
                  <a:headEnd/>
                  <a:tailEnd/>
                </a14:hiddenLine>
              </a:ext>
            </a:extLst>
          </p:spPr>
          <p:txBody>
            <a:bodyPr wrap="none"/>
            <a:lstStyle/>
            <a:p>
              <a:endParaRPr lang="en-US"/>
            </a:p>
          </p:txBody>
        </p:sp>
      </p:grpSp>
      <p:sp>
        <p:nvSpPr>
          <p:cNvPr id="2058" name="Line 23"/>
          <p:cNvSpPr>
            <a:spLocks noChangeShapeType="1"/>
          </p:cNvSpPr>
          <p:nvPr/>
        </p:nvSpPr>
        <p:spPr bwMode="auto">
          <a:xfrm>
            <a:off x="1828800" y="2546350"/>
            <a:ext cx="0" cy="2590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059" name="Line 24"/>
          <p:cNvSpPr>
            <a:spLocks noChangeShapeType="1"/>
          </p:cNvSpPr>
          <p:nvPr/>
        </p:nvSpPr>
        <p:spPr bwMode="auto">
          <a:xfrm>
            <a:off x="2971800" y="2546350"/>
            <a:ext cx="0" cy="2590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060" name="Line 25"/>
          <p:cNvSpPr>
            <a:spLocks noChangeShapeType="1"/>
          </p:cNvSpPr>
          <p:nvPr/>
        </p:nvSpPr>
        <p:spPr bwMode="auto">
          <a:xfrm>
            <a:off x="4114800" y="2546350"/>
            <a:ext cx="0" cy="2590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061" name="Rectangle 26"/>
          <p:cNvSpPr>
            <a:spLocks noChangeArrowheads="1"/>
          </p:cNvSpPr>
          <p:nvPr/>
        </p:nvSpPr>
        <p:spPr bwMode="auto">
          <a:xfrm>
            <a:off x="76200" y="2470150"/>
            <a:ext cx="685800" cy="762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6097" name="AutoShape 17"/>
          <p:cNvSpPr>
            <a:spLocks noChangeArrowheads="1"/>
          </p:cNvSpPr>
          <p:nvPr/>
        </p:nvSpPr>
        <p:spPr bwMode="auto">
          <a:xfrm>
            <a:off x="5105400" y="4298950"/>
            <a:ext cx="533400" cy="425450"/>
          </a:xfrm>
          <a:prstGeom prst="rightArrow">
            <a:avLst>
              <a:gd name="adj1" fmla="val 50000"/>
              <a:gd name="adj2" fmla="val 31343"/>
            </a:avLst>
          </a:prstGeom>
          <a:solidFill>
            <a:srgbClr val="00CA95"/>
          </a:solidFill>
          <a:ln w="9525">
            <a:solidFill>
              <a:schemeClr val="tx1"/>
            </a:solidFill>
            <a:miter lim="800000"/>
            <a:headEnd/>
            <a:tailEnd/>
          </a:ln>
        </p:spPr>
        <p:txBody>
          <a:bodyPr wrap="none" anchor="ctr"/>
          <a:lstStyle/>
          <a:p>
            <a:endParaRPr lang="en-US"/>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46097"/>
                                        </p:tgtEl>
                                        <p:attrNameLst>
                                          <p:attrName>style.visibility</p:attrName>
                                        </p:attrNameLst>
                                      </p:cBhvr>
                                      <p:to>
                                        <p:strVal val="visible"/>
                                      </p:to>
                                    </p:set>
                                    <p:anim calcmode="lin" valueType="num">
                                      <p:cBhvr>
                                        <p:cTn id="7" dur="500" fill="hold"/>
                                        <p:tgtEl>
                                          <p:spTgt spid="46097"/>
                                        </p:tgtEl>
                                        <p:attrNameLst>
                                          <p:attrName>ppt_x</p:attrName>
                                        </p:attrNameLst>
                                      </p:cBhvr>
                                      <p:tavLst>
                                        <p:tav tm="0">
                                          <p:val>
                                            <p:strVal val="#ppt_x-#ppt_w/2"/>
                                          </p:val>
                                        </p:tav>
                                        <p:tav tm="100000">
                                          <p:val>
                                            <p:strVal val="#ppt_x"/>
                                          </p:val>
                                        </p:tav>
                                      </p:tavLst>
                                    </p:anim>
                                    <p:anim calcmode="lin" valueType="num">
                                      <p:cBhvr>
                                        <p:cTn id="8" dur="500" fill="hold"/>
                                        <p:tgtEl>
                                          <p:spTgt spid="46097"/>
                                        </p:tgtEl>
                                        <p:attrNameLst>
                                          <p:attrName>ppt_y</p:attrName>
                                        </p:attrNameLst>
                                      </p:cBhvr>
                                      <p:tavLst>
                                        <p:tav tm="0">
                                          <p:val>
                                            <p:strVal val="#ppt_y"/>
                                          </p:val>
                                        </p:tav>
                                        <p:tav tm="100000">
                                          <p:val>
                                            <p:strVal val="#ppt_y"/>
                                          </p:val>
                                        </p:tav>
                                      </p:tavLst>
                                    </p:anim>
                                    <p:anim calcmode="lin" valueType="num">
                                      <p:cBhvr>
                                        <p:cTn id="9" dur="500" fill="hold"/>
                                        <p:tgtEl>
                                          <p:spTgt spid="46097"/>
                                        </p:tgtEl>
                                        <p:attrNameLst>
                                          <p:attrName>ppt_w</p:attrName>
                                        </p:attrNameLst>
                                      </p:cBhvr>
                                      <p:tavLst>
                                        <p:tav tm="0">
                                          <p:val>
                                            <p:fltVal val="0"/>
                                          </p:val>
                                        </p:tav>
                                        <p:tav tm="100000">
                                          <p:val>
                                            <p:strVal val="#ppt_w"/>
                                          </p:val>
                                        </p:tav>
                                      </p:tavLst>
                                    </p:anim>
                                    <p:anim calcmode="lin" valueType="num">
                                      <p:cBhvr>
                                        <p:cTn id="10" dur="500" fill="hold"/>
                                        <p:tgtEl>
                                          <p:spTgt spid="46097"/>
                                        </p:tgtEl>
                                        <p:attrNameLst>
                                          <p:attrName>ppt_h</p:attrName>
                                        </p:attrNameLst>
                                      </p:cBhvr>
                                      <p:tavLst>
                                        <p:tav tm="0">
                                          <p:val>
                                            <p:strVal val="#ppt_h"/>
                                          </p:val>
                                        </p:tav>
                                        <p:tav tm="100000">
                                          <p:val>
                                            <p:strVal val="#ppt_h"/>
                                          </p:val>
                                        </p:tav>
                                      </p:tavLst>
                                    </p:anim>
                                  </p:childTnLst>
                                </p:cTn>
                              </p:par>
                            </p:childTnLst>
                          </p:cTn>
                        </p:par>
                        <p:par>
                          <p:cTn id="11" fill="hold" nodeType="afterGroup">
                            <p:stCondLst>
                              <p:cond delay="500"/>
                            </p:stCondLst>
                            <p:childTnLst>
                              <p:par>
                                <p:cTn id="12" presetID="48575616" presetClass="entr" presetSubtype="48762368" fill="hold" nodeType="afterEffect">
                                  <p:stCondLst>
                                    <p:cond delay="0"/>
                                  </p:stCondLst>
                                  <p:childTnLst>
                                    <p:set>
                                      <p:cBhvr>
                                        <p:cTn id="13"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9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2"/>
          <p:cNvSpPr>
            <a:spLocks noChangeArrowheads="1"/>
          </p:cNvSpPr>
          <p:nvPr/>
        </p:nvSpPr>
        <p:spPr bwMode="auto">
          <a:xfrm>
            <a:off x="0" y="1820863"/>
            <a:ext cx="9144000" cy="5029200"/>
          </a:xfrm>
          <a:prstGeom prst="rect">
            <a:avLst/>
          </a:prstGeom>
          <a:solidFill>
            <a:schemeClr val="tx2"/>
          </a:solidFill>
          <a:ln w="38100">
            <a:solidFill>
              <a:schemeClr val="accent2"/>
            </a:solidFill>
            <a:miter lim="800000"/>
            <a:headEnd/>
            <a:tailEnd/>
          </a:ln>
        </p:spPr>
        <p:txBody>
          <a:bodyPr wrap="none" anchor="ctr"/>
          <a:lstStyle/>
          <a:p>
            <a:endParaRPr lang="en-US"/>
          </a:p>
        </p:txBody>
      </p:sp>
      <p:sp>
        <p:nvSpPr>
          <p:cNvPr id="3076" name="Rectangle 2"/>
          <p:cNvSpPr>
            <a:spLocks noGrp="1" noChangeArrowheads="1"/>
          </p:cNvSpPr>
          <p:nvPr>
            <p:ph type="title"/>
          </p:nvPr>
        </p:nvSpPr>
        <p:spPr/>
        <p:txBody>
          <a:bodyPr/>
          <a:lstStyle/>
          <a:p>
            <a:pPr eaLnBrk="1" hangingPunct="1"/>
            <a:r>
              <a:rPr lang="en-US">
                <a:latin typeface="Times New Roman" charset="0"/>
              </a:rPr>
              <a:t>Displaying the Sampling Distribution</a:t>
            </a:r>
          </a:p>
        </p:txBody>
      </p:sp>
      <p:graphicFrame>
        <p:nvGraphicFramePr>
          <p:cNvPr id="3074" name="Object 3">
            <a:hlinkClick r:id="" action="ppaction://ole?verb=0"/>
          </p:cNvPr>
          <p:cNvGraphicFramePr>
            <a:graphicFrameLocks/>
          </p:cNvGraphicFramePr>
          <p:nvPr/>
        </p:nvGraphicFramePr>
        <p:xfrm>
          <a:off x="228600" y="2970213"/>
          <a:ext cx="4184650" cy="3879850"/>
        </p:xfrm>
        <a:graphic>
          <a:graphicData uri="http://schemas.openxmlformats.org/presentationml/2006/ole">
            <mc:AlternateContent xmlns:mc="http://schemas.openxmlformats.org/markup-compatibility/2006">
              <mc:Choice xmlns:v="urn:schemas-microsoft-com:vml" Requires="v">
                <p:oleObj spid="_x0000_s3108" name="Document" r:id="rId3" imgW="4187952" imgH="3880104" progId="Word.Document.8">
                  <p:embed/>
                </p:oleObj>
              </mc:Choice>
              <mc:Fallback>
                <p:oleObj name="Document" r:id="rId3" imgW="4187952" imgH="3880104" progId="Word.Document.8">
                  <p:embed/>
                  <p:pic>
                    <p:nvPicPr>
                      <p:cNvPr id="0"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2970213"/>
                        <a:ext cx="4184650" cy="3879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3077" name="Rectangle 4"/>
          <p:cNvSpPr>
            <a:spLocks noChangeArrowheads="1"/>
          </p:cNvSpPr>
          <p:nvPr/>
        </p:nvSpPr>
        <p:spPr bwMode="auto">
          <a:xfrm>
            <a:off x="381000" y="2201863"/>
            <a:ext cx="3511550" cy="528637"/>
          </a:xfrm>
          <a:prstGeom prst="rect">
            <a:avLst/>
          </a:prstGeom>
          <a:solidFill>
            <a:schemeClr val="bg1"/>
          </a:solidFill>
          <a:ln w="12700">
            <a:solidFill>
              <a:schemeClr val="tx1"/>
            </a:solidFill>
            <a:miter lim="800000"/>
            <a:headEnd/>
            <a:tailEnd/>
          </a:ln>
        </p:spPr>
        <p:txBody>
          <a:bodyPr lIns="90488" tIns="44450" rIns="90488" bIns="44450">
            <a:spAutoFit/>
          </a:bodyPr>
          <a:lstStyle/>
          <a:p>
            <a:pPr algn="ctr">
              <a:spcBef>
                <a:spcPct val="50000"/>
              </a:spcBef>
            </a:pPr>
            <a:r>
              <a:rPr lang="en-US" sz="2800">
                <a:latin typeface="Arial" charset="0"/>
              </a:rPr>
              <a:t>16 Sample Means</a:t>
            </a:r>
          </a:p>
        </p:txBody>
      </p:sp>
      <p:sp>
        <p:nvSpPr>
          <p:cNvPr id="47109" name="AutoShape 5"/>
          <p:cNvSpPr>
            <a:spLocks noChangeArrowheads="1"/>
          </p:cNvSpPr>
          <p:nvPr/>
        </p:nvSpPr>
        <p:spPr bwMode="auto">
          <a:xfrm>
            <a:off x="4038600" y="4716463"/>
            <a:ext cx="762000" cy="381000"/>
          </a:xfrm>
          <a:prstGeom prst="rightArrow">
            <a:avLst>
              <a:gd name="adj1" fmla="val 50000"/>
              <a:gd name="adj2" fmla="val 50000"/>
            </a:avLst>
          </a:prstGeom>
          <a:solidFill>
            <a:srgbClr val="00CA95"/>
          </a:solidFill>
          <a:ln w="9525">
            <a:solidFill>
              <a:schemeClr val="tx1"/>
            </a:solidFill>
            <a:miter lim="800000"/>
            <a:headEnd/>
            <a:tailEnd/>
          </a:ln>
        </p:spPr>
        <p:txBody>
          <a:bodyPr wrap="none" anchor="ctr"/>
          <a:lstStyle/>
          <a:p>
            <a:endParaRPr lang="en-US"/>
          </a:p>
        </p:txBody>
      </p:sp>
      <p:grpSp>
        <p:nvGrpSpPr>
          <p:cNvPr id="2" name="Group 6"/>
          <p:cNvGrpSpPr>
            <a:grpSpLocks/>
          </p:cNvGrpSpPr>
          <p:nvPr/>
        </p:nvGrpSpPr>
        <p:grpSpPr bwMode="auto">
          <a:xfrm>
            <a:off x="4648200" y="2125663"/>
            <a:ext cx="4419600" cy="4111625"/>
            <a:chOff x="2928" y="1344"/>
            <a:chExt cx="2784" cy="2590"/>
          </a:xfrm>
        </p:grpSpPr>
        <p:grpSp>
          <p:nvGrpSpPr>
            <p:cNvPr id="3080" name="Group 7"/>
            <p:cNvGrpSpPr>
              <a:grpSpLocks/>
            </p:cNvGrpSpPr>
            <p:nvPr/>
          </p:nvGrpSpPr>
          <p:grpSpPr bwMode="auto">
            <a:xfrm>
              <a:off x="2928" y="1344"/>
              <a:ext cx="2784" cy="2590"/>
              <a:chOff x="2928" y="1344"/>
              <a:chExt cx="2784" cy="2590"/>
            </a:xfrm>
          </p:grpSpPr>
          <p:sp>
            <p:nvSpPr>
              <p:cNvPr id="3082" name="Line 8"/>
              <p:cNvSpPr>
                <a:spLocks noChangeShapeType="1"/>
              </p:cNvSpPr>
              <p:nvPr/>
            </p:nvSpPr>
            <p:spPr bwMode="auto">
              <a:xfrm>
                <a:off x="3264" y="2453"/>
                <a:ext cx="0" cy="108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3083" name="Line 9"/>
              <p:cNvSpPr>
                <a:spLocks noChangeShapeType="1"/>
              </p:cNvSpPr>
              <p:nvPr/>
            </p:nvSpPr>
            <p:spPr bwMode="auto">
              <a:xfrm>
                <a:off x="3409" y="3652"/>
                <a:ext cx="2139"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3084" name="Line 10"/>
              <p:cNvSpPr>
                <a:spLocks noChangeShapeType="1"/>
              </p:cNvSpPr>
              <p:nvPr/>
            </p:nvSpPr>
            <p:spPr bwMode="auto">
              <a:xfrm flipV="1">
                <a:off x="3264" y="3264"/>
                <a:ext cx="220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rnd">
                    <a:solidFill>
                      <a:srgbClr val="000000"/>
                    </a:solidFill>
                    <a:prstDash val="sysDot"/>
                    <a:round/>
                    <a:headEnd/>
                    <a:tailEnd/>
                  </a14:hiddenLine>
                </a:ext>
              </a:extLst>
            </p:spPr>
            <p:txBody>
              <a:bodyPr wrap="none" anchor="ctr"/>
              <a:lstStyle/>
              <a:p>
                <a:endParaRPr lang="en-US"/>
              </a:p>
            </p:txBody>
          </p:sp>
          <p:sp>
            <p:nvSpPr>
              <p:cNvPr id="3085" name="Line 11"/>
              <p:cNvSpPr>
                <a:spLocks noChangeShapeType="1"/>
              </p:cNvSpPr>
              <p:nvPr/>
            </p:nvSpPr>
            <p:spPr bwMode="auto">
              <a:xfrm flipV="1">
                <a:off x="3264" y="2880"/>
                <a:ext cx="220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rnd">
                    <a:solidFill>
                      <a:srgbClr val="000000"/>
                    </a:solidFill>
                    <a:prstDash val="sysDot"/>
                    <a:round/>
                    <a:headEnd/>
                    <a:tailEnd/>
                  </a14:hiddenLine>
                </a:ext>
              </a:extLst>
            </p:spPr>
            <p:txBody>
              <a:bodyPr wrap="none" anchor="ctr"/>
              <a:lstStyle/>
              <a:p>
                <a:endParaRPr lang="en-US"/>
              </a:p>
            </p:txBody>
          </p:sp>
          <p:sp>
            <p:nvSpPr>
              <p:cNvPr id="3086" name="Line 12"/>
              <p:cNvSpPr>
                <a:spLocks noChangeShapeType="1"/>
              </p:cNvSpPr>
              <p:nvPr/>
            </p:nvSpPr>
            <p:spPr bwMode="auto">
              <a:xfrm>
                <a:off x="3264" y="2496"/>
                <a:ext cx="220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cap="rnd">
                    <a:solidFill>
                      <a:srgbClr val="000000"/>
                    </a:solidFill>
                    <a:prstDash val="sysDot"/>
                    <a:round/>
                    <a:headEnd/>
                    <a:tailEnd/>
                  </a14:hiddenLine>
                </a:ext>
              </a:extLst>
            </p:spPr>
            <p:txBody>
              <a:bodyPr wrap="none" anchor="ctr"/>
              <a:lstStyle/>
              <a:p>
                <a:endParaRPr lang="en-US"/>
              </a:p>
            </p:txBody>
          </p:sp>
          <p:sp>
            <p:nvSpPr>
              <p:cNvPr id="3087" name="Rectangle 13"/>
              <p:cNvSpPr>
                <a:spLocks noChangeArrowheads="1"/>
              </p:cNvSpPr>
              <p:nvPr/>
            </p:nvSpPr>
            <p:spPr bwMode="auto">
              <a:xfrm>
                <a:off x="3552" y="3172"/>
                <a:ext cx="240" cy="480"/>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p>
            </p:txBody>
          </p:sp>
          <p:sp>
            <p:nvSpPr>
              <p:cNvPr id="3088" name="Rectangle 14"/>
              <p:cNvSpPr>
                <a:spLocks noChangeArrowheads="1"/>
              </p:cNvSpPr>
              <p:nvPr/>
            </p:nvSpPr>
            <p:spPr bwMode="auto">
              <a:xfrm>
                <a:off x="3840" y="2932"/>
                <a:ext cx="240" cy="720"/>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p>
            </p:txBody>
          </p:sp>
          <p:sp>
            <p:nvSpPr>
              <p:cNvPr id="3089" name="Rectangle 15"/>
              <p:cNvSpPr>
                <a:spLocks noChangeArrowheads="1"/>
              </p:cNvSpPr>
              <p:nvPr/>
            </p:nvSpPr>
            <p:spPr bwMode="auto">
              <a:xfrm>
                <a:off x="4128" y="2692"/>
                <a:ext cx="240" cy="960"/>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p>
            </p:txBody>
          </p:sp>
          <p:sp>
            <p:nvSpPr>
              <p:cNvPr id="3090" name="Rectangle 16"/>
              <p:cNvSpPr>
                <a:spLocks noChangeArrowheads="1"/>
              </p:cNvSpPr>
              <p:nvPr/>
            </p:nvSpPr>
            <p:spPr bwMode="auto">
              <a:xfrm>
                <a:off x="4416" y="2932"/>
                <a:ext cx="240" cy="720"/>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p>
            </p:txBody>
          </p:sp>
          <p:sp>
            <p:nvSpPr>
              <p:cNvPr id="3091" name="Rectangle 17"/>
              <p:cNvSpPr>
                <a:spLocks noChangeArrowheads="1"/>
              </p:cNvSpPr>
              <p:nvPr/>
            </p:nvSpPr>
            <p:spPr bwMode="auto">
              <a:xfrm>
                <a:off x="4704" y="3172"/>
                <a:ext cx="240" cy="480"/>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p>
            </p:txBody>
          </p:sp>
          <p:sp>
            <p:nvSpPr>
              <p:cNvPr id="3092" name="Rectangle 18"/>
              <p:cNvSpPr>
                <a:spLocks noChangeArrowheads="1"/>
              </p:cNvSpPr>
              <p:nvPr/>
            </p:nvSpPr>
            <p:spPr bwMode="auto">
              <a:xfrm>
                <a:off x="4992" y="3412"/>
                <a:ext cx="240" cy="240"/>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p>
            </p:txBody>
          </p:sp>
          <p:sp>
            <p:nvSpPr>
              <p:cNvPr id="3093" name="Rectangle 19"/>
              <p:cNvSpPr>
                <a:spLocks noChangeArrowheads="1"/>
              </p:cNvSpPr>
              <p:nvPr/>
            </p:nvSpPr>
            <p:spPr bwMode="auto">
              <a:xfrm>
                <a:off x="3253" y="3641"/>
                <a:ext cx="223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sz="1800">
                    <a:solidFill>
                      <a:schemeClr val="bg2"/>
                    </a:solidFill>
                    <a:latin typeface="Arial" charset="0"/>
                  </a:rPr>
                  <a:t>18   19    20   21   22   23    24</a:t>
                </a:r>
              </a:p>
            </p:txBody>
          </p:sp>
          <p:sp>
            <p:nvSpPr>
              <p:cNvPr id="3094" name="Rectangle 20"/>
              <p:cNvSpPr>
                <a:spLocks noChangeArrowheads="1"/>
              </p:cNvSpPr>
              <p:nvPr/>
            </p:nvSpPr>
            <p:spPr bwMode="auto">
              <a:xfrm>
                <a:off x="3013" y="3497"/>
                <a:ext cx="26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a:solidFill>
                      <a:schemeClr val="bg2"/>
                    </a:solidFill>
                    <a:latin typeface="Arial" charset="0"/>
                  </a:rPr>
                  <a:t>0 </a:t>
                </a:r>
              </a:p>
            </p:txBody>
          </p:sp>
          <p:sp>
            <p:nvSpPr>
              <p:cNvPr id="3095" name="Rectangle 21"/>
              <p:cNvSpPr>
                <a:spLocks noChangeArrowheads="1"/>
              </p:cNvSpPr>
              <p:nvPr/>
            </p:nvSpPr>
            <p:spPr bwMode="auto">
              <a:xfrm>
                <a:off x="2965" y="3113"/>
                <a:ext cx="358"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a:solidFill>
                      <a:schemeClr val="bg2"/>
                    </a:solidFill>
                    <a:latin typeface="Arial" charset="0"/>
                  </a:rPr>
                  <a:t>.1 </a:t>
                </a:r>
              </a:p>
            </p:txBody>
          </p:sp>
          <p:sp>
            <p:nvSpPr>
              <p:cNvPr id="3096" name="Rectangle 22"/>
              <p:cNvSpPr>
                <a:spLocks noChangeArrowheads="1"/>
              </p:cNvSpPr>
              <p:nvPr/>
            </p:nvSpPr>
            <p:spPr bwMode="auto">
              <a:xfrm>
                <a:off x="2965" y="2729"/>
                <a:ext cx="358"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a:solidFill>
                      <a:schemeClr val="bg2"/>
                    </a:solidFill>
                    <a:latin typeface="Arial" charset="0"/>
                  </a:rPr>
                  <a:t>.2 </a:t>
                </a:r>
              </a:p>
            </p:txBody>
          </p:sp>
          <p:sp>
            <p:nvSpPr>
              <p:cNvPr id="3097" name="Rectangle 23"/>
              <p:cNvSpPr>
                <a:spLocks noChangeArrowheads="1"/>
              </p:cNvSpPr>
              <p:nvPr/>
            </p:nvSpPr>
            <p:spPr bwMode="auto">
              <a:xfrm>
                <a:off x="3264" y="3412"/>
                <a:ext cx="240" cy="240"/>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p>
            </p:txBody>
          </p:sp>
          <p:sp>
            <p:nvSpPr>
              <p:cNvPr id="3098" name="Rectangle 24"/>
              <p:cNvSpPr>
                <a:spLocks noChangeArrowheads="1"/>
              </p:cNvSpPr>
              <p:nvPr/>
            </p:nvSpPr>
            <p:spPr bwMode="auto">
              <a:xfrm>
                <a:off x="2965" y="2345"/>
                <a:ext cx="358"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a:solidFill>
                      <a:schemeClr val="bg2"/>
                    </a:solidFill>
                    <a:latin typeface="Arial" charset="0"/>
                  </a:rPr>
                  <a:t>.3 </a:t>
                </a:r>
              </a:p>
            </p:txBody>
          </p:sp>
          <p:sp>
            <p:nvSpPr>
              <p:cNvPr id="3099" name="Rectangle 25"/>
              <p:cNvSpPr>
                <a:spLocks noChangeArrowheads="1"/>
              </p:cNvSpPr>
              <p:nvPr/>
            </p:nvSpPr>
            <p:spPr bwMode="auto">
              <a:xfrm>
                <a:off x="2928" y="2112"/>
                <a:ext cx="598"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b="1">
                    <a:solidFill>
                      <a:schemeClr val="bg2"/>
                    </a:solidFill>
                    <a:latin typeface="Arial" charset="0"/>
                  </a:rPr>
                  <a:t>P(X)</a:t>
                </a:r>
                <a:r>
                  <a:rPr lang="en-US">
                    <a:solidFill>
                      <a:schemeClr val="bg2"/>
                    </a:solidFill>
                    <a:latin typeface="Arial" charset="0"/>
                  </a:rPr>
                  <a:t> </a:t>
                </a:r>
              </a:p>
            </p:txBody>
          </p:sp>
          <p:sp>
            <p:nvSpPr>
              <p:cNvPr id="3100" name="Line 26"/>
              <p:cNvSpPr>
                <a:spLocks noChangeShapeType="1"/>
              </p:cNvSpPr>
              <p:nvPr/>
            </p:nvSpPr>
            <p:spPr bwMode="auto">
              <a:xfrm>
                <a:off x="3535" y="2068"/>
                <a:ext cx="1"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a:tailEnd/>
                  </a14:hiddenLine>
                </a:ext>
              </a:extLst>
            </p:spPr>
            <p:txBody>
              <a:bodyPr wrap="none" anchor="ctr"/>
              <a:lstStyle/>
              <a:p>
                <a:endParaRPr lang="en-US"/>
              </a:p>
            </p:txBody>
          </p:sp>
          <p:sp>
            <p:nvSpPr>
              <p:cNvPr id="3101" name="Rectangle 27"/>
              <p:cNvSpPr>
                <a:spLocks noChangeArrowheads="1"/>
              </p:cNvSpPr>
              <p:nvPr/>
            </p:nvSpPr>
            <p:spPr bwMode="auto">
              <a:xfrm>
                <a:off x="5402" y="3648"/>
                <a:ext cx="310"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sz="800" b="1">
                    <a:solidFill>
                      <a:schemeClr val="bg2"/>
                    </a:solidFill>
                    <a:latin typeface="Arial" charset="0"/>
                  </a:rPr>
                  <a:t> </a:t>
                </a:r>
                <a:r>
                  <a:rPr lang="en-US" b="1">
                    <a:solidFill>
                      <a:schemeClr val="bg2"/>
                    </a:solidFill>
                    <a:latin typeface="Arial" charset="0"/>
                  </a:rPr>
                  <a:t>X</a:t>
                </a:r>
              </a:p>
            </p:txBody>
          </p:sp>
          <p:sp>
            <p:nvSpPr>
              <p:cNvPr id="3102" name="Line 28"/>
              <p:cNvSpPr>
                <a:spLocks noChangeShapeType="1"/>
              </p:cNvSpPr>
              <p:nvPr/>
            </p:nvSpPr>
            <p:spPr bwMode="auto">
              <a:xfrm>
                <a:off x="5599" y="3700"/>
                <a:ext cx="1"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a:tailEnd/>
                  </a14:hiddenLine>
                </a:ext>
              </a:extLst>
            </p:spPr>
            <p:txBody>
              <a:bodyPr wrap="none" anchor="ctr"/>
              <a:lstStyle/>
              <a:p>
                <a:endParaRPr lang="en-US"/>
              </a:p>
            </p:txBody>
          </p:sp>
          <p:sp>
            <p:nvSpPr>
              <p:cNvPr id="3103" name="Rectangle 29"/>
              <p:cNvSpPr>
                <a:spLocks noChangeArrowheads="1"/>
              </p:cNvSpPr>
              <p:nvPr/>
            </p:nvSpPr>
            <p:spPr bwMode="auto">
              <a:xfrm>
                <a:off x="3596" y="1344"/>
                <a:ext cx="1684" cy="59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lgn="ctr">
                  <a:spcBef>
                    <a:spcPct val="50000"/>
                  </a:spcBef>
                </a:pPr>
                <a:r>
                  <a:rPr lang="en-US" sz="2800">
                    <a:solidFill>
                      <a:schemeClr val="tx2"/>
                    </a:solidFill>
                    <a:latin typeface="Arial" charset="0"/>
                  </a:rPr>
                  <a:t>Sample Means Distribution</a:t>
                </a:r>
              </a:p>
            </p:txBody>
          </p:sp>
          <p:sp>
            <p:nvSpPr>
              <p:cNvPr id="3104" name="Rectangle 30"/>
              <p:cNvSpPr>
                <a:spLocks noChangeArrowheads="1"/>
              </p:cNvSpPr>
              <p:nvPr/>
            </p:nvSpPr>
            <p:spPr bwMode="auto">
              <a:xfrm>
                <a:off x="5418" y="3419"/>
                <a:ext cx="246"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sz="2800" b="1">
                    <a:solidFill>
                      <a:schemeClr val="bg2"/>
                    </a:solidFill>
                    <a:latin typeface="Arial" charset="0"/>
                  </a:rPr>
                  <a:t>_</a:t>
                </a:r>
              </a:p>
            </p:txBody>
          </p:sp>
        </p:grpSp>
        <p:sp>
          <p:nvSpPr>
            <p:cNvPr id="3081" name="Rectangle 31"/>
            <p:cNvSpPr>
              <a:spLocks noChangeArrowheads="1"/>
            </p:cNvSpPr>
            <p:nvPr/>
          </p:nvSpPr>
          <p:spPr bwMode="auto">
            <a:xfrm>
              <a:off x="3120" y="1883"/>
              <a:ext cx="246"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sz="2800" b="1">
                  <a:solidFill>
                    <a:schemeClr val="bg2"/>
                  </a:solidFill>
                  <a:latin typeface="Arial" charset="0"/>
                </a:rPr>
                <a:t>_</a:t>
              </a:r>
            </a:p>
          </p:txBody>
        </p:sp>
      </p:gr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47109"/>
                                        </p:tgtEl>
                                        <p:attrNameLst>
                                          <p:attrName>style.visibility</p:attrName>
                                        </p:attrNameLst>
                                      </p:cBhvr>
                                      <p:to>
                                        <p:strVal val="visible"/>
                                      </p:to>
                                    </p:set>
                                    <p:anim calcmode="lin" valueType="num">
                                      <p:cBhvr>
                                        <p:cTn id="7" dur="500" fill="hold"/>
                                        <p:tgtEl>
                                          <p:spTgt spid="47109"/>
                                        </p:tgtEl>
                                        <p:attrNameLst>
                                          <p:attrName>ppt_x</p:attrName>
                                        </p:attrNameLst>
                                      </p:cBhvr>
                                      <p:tavLst>
                                        <p:tav tm="0">
                                          <p:val>
                                            <p:strVal val="#ppt_x-#ppt_w/2"/>
                                          </p:val>
                                        </p:tav>
                                        <p:tav tm="100000">
                                          <p:val>
                                            <p:strVal val="#ppt_x"/>
                                          </p:val>
                                        </p:tav>
                                      </p:tavLst>
                                    </p:anim>
                                    <p:anim calcmode="lin" valueType="num">
                                      <p:cBhvr>
                                        <p:cTn id="8" dur="500" fill="hold"/>
                                        <p:tgtEl>
                                          <p:spTgt spid="47109"/>
                                        </p:tgtEl>
                                        <p:attrNameLst>
                                          <p:attrName>ppt_y</p:attrName>
                                        </p:attrNameLst>
                                      </p:cBhvr>
                                      <p:tavLst>
                                        <p:tav tm="0">
                                          <p:val>
                                            <p:strVal val="#ppt_y"/>
                                          </p:val>
                                        </p:tav>
                                        <p:tav tm="100000">
                                          <p:val>
                                            <p:strVal val="#ppt_y"/>
                                          </p:val>
                                        </p:tav>
                                      </p:tavLst>
                                    </p:anim>
                                    <p:anim calcmode="lin" valueType="num">
                                      <p:cBhvr>
                                        <p:cTn id="9" dur="500" fill="hold"/>
                                        <p:tgtEl>
                                          <p:spTgt spid="47109"/>
                                        </p:tgtEl>
                                        <p:attrNameLst>
                                          <p:attrName>ppt_w</p:attrName>
                                        </p:attrNameLst>
                                      </p:cBhvr>
                                      <p:tavLst>
                                        <p:tav tm="0">
                                          <p:val>
                                            <p:fltVal val="0"/>
                                          </p:val>
                                        </p:tav>
                                        <p:tav tm="100000">
                                          <p:val>
                                            <p:strVal val="#ppt_w"/>
                                          </p:val>
                                        </p:tav>
                                      </p:tavLst>
                                    </p:anim>
                                    <p:anim calcmode="lin" valueType="num">
                                      <p:cBhvr>
                                        <p:cTn id="10" dur="500" fill="hold"/>
                                        <p:tgtEl>
                                          <p:spTgt spid="47109"/>
                                        </p:tgtEl>
                                        <p:attrNameLst>
                                          <p:attrName>ppt_h</p:attrName>
                                        </p:attrNameLst>
                                      </p:cBhvr>
                                      <p:tavLst>
                                        <p:tav tm="0">
                                          <p:val>
                                            <p:strVal val="#ppt_h"/>
                                          </p:val>
                                        </p:tav>
                                        <p:tav tm="100000">
                                          <p:val>
                                            <p:strVal val="#ppt_h"/>
                                          </p:val>
                                        </p:tav>
                                      </p:tavLst>
                                    </p:anim>
                                  </p:childTnLst>
                                </p:cTn>
                              </p:par>
                            </p:childTnLst>
                          </p:cTn>
                        </p:par>
                        <p:par>
                          <p:cTn id="11" fill="hold" nodeType="afterGroup">
                            <p:stCondLst>
                              <p:cond delay="500"/>
                            </p:stCondLst>
                            <p:childTnLst>
                              <p:par>
                                <p:cTn id="12" presetID="48576000" presetClass="entr" presetSubtype="48836736" fill="hold" nodeType="afterEffect">
                                  <p:stCondLst>
                                    <p:cond delay="0"/>
                                  </p:stCondLst>
                                  <p:childTnLst>
                                    <p:set>
                                      <p:cBhvr>
                                        <p:cTn id="13"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5"/>
          <p:cNvSpPr>
            <a:spLocks noChangeArrowheads="1"/>
          </p:cNvSpPr>
          <p:nvPr/>
        </p:nvSpPr>
        <p:spPr bwMode="auto">
          <a:xfrm>
            <a:off x="0" y="1820863"/>
            <a:ext cx="9144000" cy="5029200"/>
          </a:xfrm>
          <a:prstGeom prst="rect">
            <a:avLst/>
          </a:prstGeom>
          <a:solidFill>
            <a:schemeClr val="tx2"/>
          </a:solidFill>
          <a:ln w="38100">
            <a:solidFill>
              <a:schemeClr val="accent2"/>
            </a:solidFill>
            <a:miter lim="800000"/>
            <a:headEnd/>
            <a:tailEnd/>
          </a:ln>
        </p:spPr>
        <p:txBody>
          <a:bodyPr wrap="none" anchor="ctr"/>
          <a:lstStyle/>
          <a:p>
            <a:pPr algn="ctr"/>
            <a:endParaRPr lang="en-US">
              <a:solidFill>
                <a:schemeClr val="bg2"/>
              </a:solidFill>
            </a:endParaRPr>
          </a:p>
        </p:txBody>
      </p:sp>
      <p:sp>
        <p:nvSpPr>
          <p:cNvPr id="17411" name="Rectangle 2"/>
          <p:cNvSpPr>
            <a:spLocks noGrp="1" noChangeArrowheads="1"/>
          </p:cNvSpPr>
          <p:nvPr>
            <p:ph type="title"/>
          </p:nvPr>
        </p:nvSpPr>
        <p:spPr/>
        <p:txBody>
          <a:bodyPr/>
          <a:lstStyle/>
          <a:p>
            <a:pPr eaLnBrk="1" hangingPunct="1"/>
            <a:r>
              <a:rPr lang="en-US">
                <a:latin typeface="Times New Roman" charset="0"/>
              </a:rPr>
              <a:t>Population Distribution vs.</a:t>
            </a:r>
            <a:br>
              <a:rPr lang="en-US">
                <a:latin typeface="Times New Roman" charset="0"/>
              </a:rPr>
            </a:br>
            <a:r>
              <a:rPr lang="en-US">
                <a:latin typeface="Times New Roman" charset="0"/>
              </a:rPr>
              <a:t>Sampling Distribution</a:t>
            </a:r>
          </a:p>
        </p:txBody>
      </p:sp>
      <p:sp>
        <p:nvSpPr>
          <p:cNvPr id="17412" name="Line 3"/>
          <p:cNvSpPr>
            <a:spLocks noChangeShapeType="1"/>
          </p:cNvSpPr>
          <p:nvPr/>
        </p:nvSpPr>
        <p:spPr bwMode="auto">
          <a:xfrm>
            <a:off x="5164138" y="3810000"/>
            <a:ext cx="0" cy="17192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13" name="Line 4"/>
          <p:cNvSpPr>
            <a:spLocks noChangeShapeType="1"/>
          </p:cNvSpPr>
          <p:nvPr/>
        </p:nvSpPr>
        <p:spPr bwMode="auto">
          <a:xfrm>
            <a:off x="5394325" y="5713413"/>
            <a:ext cx="339566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14" name="Line 5"/>
          <p:cNvSpPr>
            <a:spLocks noChangeShapeType="1"/>
          </p:cNvSpPr>
          <p:nvPr/>
        </p:nvSpPr>
        <p:spPr bwMode="auto">
          <a:xfrm>
            <a:off x="5394325" y="5103813"/>
            <a:ext cx="3319463"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15" name="Line 6"/>
          <p:cNvSpPr>
            <a:spLocks noChangeShapeType="1"/>
          </p:cNvSpPr>
          <p:nvPr/>
        </p:nvSpPr>
        <p:spPr bwMode="auto">
          <a:xfrm>
            <a:off x="5394325" y="4494213"/>
            <a:ext cx="3319463"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16" name="Line 7"/>
          <p:cNvSpPr>
            <a:spLocks noChangeShapeType="1"/>
          </p:cNvSpPr>
          <p:nvPr/>
        </p:nvSpPr>
        <p:spPr bwMode="auto">
          <a:xfrm>
            <a:off x="5394325" y="3884613"/>
            <a:ext cx="3319463"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17" name="Rectangle 8"/>
          <p:cNvSpPr>
            <a:spLocks noChangeArrowheads="1"/>
          </p:cNvSpPr>
          <p:nvPr/>
        </p:nvSpPr>
        <p:spPr bwMode="auto">
          <a:xfrm>
            <a:off x="5621338" y="4951413"/>
            <a:ext cx="381000" cy="762000"/>
          </a:xfrm>
          <a:prstGeom prst="rect">
            <a:avLst/>
          </a:prstGeom>
          <a:solidFill>
            <a:schemeClr val="accent1"/>
          </a:solidFill>
          <a:ln w="12700">
            <a:solidFill>
              <a:schemeClr val="tx1"/>
            </a:solidFill>
            <a:miter lim="800000"/>
            <a:headEnd/>
            <a:tailEnd/>
          </a:ln>
        </p:spPr>
        <p:txBody>
          <a:bodyPr wrap="none" anchor="ctr"/>
          <a:lstStyle/>
          <a:p>
            <a:endParaRPr lang="en-US"/>
          </a:p>
        </p:txBody>
      </p:sp>
      <p:sp>
        <p:nvSpPr>
          <p:cNvPr id="17418" name="Rectangle 9"/>
          <p:cNvSpPr>
            <a:spLocks noChangeArrowheads="1"/>
          </p:cNvSpPr>
          <p:nvPr/>
        </p:nvSpPr>
        <p:spPr bwMode="auto">
          <a:xfrm>
            <a:off x="6078538" y="4570413"/>
            <a:ext cx="381000" cy="1143000"/>
          </a:xfrm>
          <a:prstGeom prst="rect">
            <a:avLst/>
          </a:prstGeom>
          <a:solidFill>
            <a:schemeClr val="accent1"/>
          </a:solidFill>
          <a:ln w="12700">
            <a:solidFill>
              <a:schemeClr val="tx1"/>
            </a:solidFill>
            <a:miter lim="800000"/>
            <a:headEnd/>
            <a:tailEnd/>
          </a:ln>
        </p:spPr>
        <p:txBody>
          <a:bodyPr wrap="none" anchor="ctr"/>
          <a:lstStyle/>
          <a:p>
            <a:endParaRPr lang="en-US"/>
          </a:p>
        </p:txBody>
      </p:sp>
      <p:sp>
        <p:nvSpPr>
          <p:cNvPr id="17419" name="Rectangle 10"/>
          <p:cNvSpPr>
            <a:spLocks noChangeArrowheads="1"/>
          </p:cNvSpPr>
          <p:nvPr/>
        </p:nvSpPr>
        <p:spPr bwMode="auto">
          <a:xfrm>
            <a:off x="6535738" y="4189413"/>
            <a:ext cx="381000" cy="1524000"/>
          </a:xfrm>
          <a:prstGeom prst="rect">
            <a:avLst/>
          </a:prstGeom>
          <a:solidFill>
            <a:schemeClr val="accent1"/>
          </a:solidFill>
          <a:ln w="12700">
            <a:solidFill>
              <a:schemeClr val="tx1"/>
            </a:solidFill>
            <a:miter lim="800000"/>
            <a:headEnd/>
            <a:tailEnd/>
          </a:ln>
        </p:spPr>
        <p:txBody>
          <a:bodyPr wrap="none" anchor="ctr"/>
          <a:lstStyle/>
          <a:p>
            <a:endParaRPr lang="en-US"/>
          </a:p>
        </p:txBody>
      </p:sp>
      <p:sp>
        <p:nvSpPr>
          <p:cNvPr id="17420" name="Rectangle 11"/>
          <p:cNvSpPr>
            <a:spLocks noChangeArrowheads="1"/>
          </p:cNvSpPr>
          <p:nvPr/>
        </p:nvSpPr>
        <p:spPr bwMode="auto">
          <a:xfrm>
            <a:off x="6992938" y="4570413"/>
            <a:ext cx="381000" cy="1143000"/>
          </a:xfrm>
          <a:prstGeom prst="rect">
            <a:avLst/>
          </a:prstGeom>
          <a:solidFill>
            <a:schemeClr val="accent1"/>
          </a:solidFill>
          <a:ln w="12700">
            <a:solidFill>
              <a:schemeClr val="tx1"/>
            </a:solidFill>
            <a:miter lim="800000"/>
            <a:headEnd/>
            <a:tailEnd/>
          </a:ln>
        </p:spPr>
        <p:txBody>
          <a:bodyPr wrap="none" anchor="ctr"/>
          <a:lstStyle/>
          <a:p>
            <a:endParaRPr lang="en-US"/>
          </a:p>
        </p:txBody>
      </p:sp>
      <p:sp>
        <p:nvSpPr>
          <p:cNvPr id="17421" name="Rectangle 12"/>
          <p:cNvSpPr>
            <a:spLocks noChangeArrowheads="1"/>
          </p:cNvSpPr>
          <p:nvPr/>
        </p:nvSpPr>
        <p:spPr bwMode="auto">
          <a:xfrm>
            <a:off x="7450138" y="4951413"/>
            <a:ext cx="381000" cy="762000"/>
          </a:xfrm>
          <a:prstGeom prst="rect">
            <a:avLst/>
          </a:prstGeom>
          <a:solidFill>
            <a:schemeClr val="accent1"/>
          </a:solidFill>
          <a:ln w="12700">
            <a:solidFill>
              <a:schemeClr val="tx1"/>
            </a:solidFill>
            <a:miter lim="800000"/>
            <a:headEnd/>
            <a:tailEnd/>
          </a:ln>
        </p:spPr>
        <p:txBody>
          <a:bodyPr wrap="none" anchor="ctr"/>
          <a:lstStyle/>
          <a:p>
            <a:endParaRPr lang="en-US"/>
          </a:p>
        </p:txBody>
      </p:sp>
      <p:sp>
        <p:nvSpPr>
          <p:cNvPr id="17422" name="Rectangle 13"/>
          <p:cNvSpPr>
            <a:spLocks noChangeArrowheads="1"/>
          </p:cNvSpPr>
          <p:nvPr/>
        </p:nvSpPr>
        <p:spPr bwMode="auto">
          <a:xfrm>
            <a:off x="7907338" y="5332413"/>
            <a:ext cx="381000" cy="381000"/>
          </a:xfrm>
          <a:prstGeom prst="rect">
            <a:avLst/>
          </a:prstGeom>
          <a:solidFill>
            <a:schemeClr val="accent1"/>
          </a:solidFill>
          <a:ln w="12700">
            <a:solidFill>
              <a:schemeClr val="tx1"/>
            </a:solidFill>
            <a:miter lim="800000"/>
            <a:headEnd/>
            <a:tailEnd/>
          </a:ln>
        </p:spPr>
        <p:txBody>
          <a:bodyPr wrap="none" anchor="ctr"/>
          <a:lstStyle/>
          <a:p>
            <a:endParaRPr lang="en-US"/>
          </a:p>
        </p:txBody>
      </p:sp>
      <p:sp>
        <p:nvSpPr>
          <p:cNvPr id="17423" name="Rectangle 14"/>
          <p:cNvSpPr>
            <a:spLocks noChangeArrowheads="1"/>
          </p:cNvSpPr>
          <p:nvPr/>
        </p:nvSpPr>
        <p:spPr bwMode="auto">
          <a:xfrm>
            <a:off x="5146675" y="5695950"/>
            <a:ext cx="354012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sz="1800">
                <a:solidFill>
                  <a:schemeClr val="bg2"/>
                </a:solidFill>
                <a:latin typeface="Arial" charset="0"/>
              </a:rPr>
              <a:t>18   19    20   21   22   23    24</a:t>
            </a:r>
          </a:p>
        </p:txBody>
      </p:sp>
      <p:sp>
        <p:nvSpPr>
          <p:cNvPr id="17424" name="Rectangle 15"/>
          <p:cNvSpPr>
            <a:spLocks noChangeArrowheads="1"/>
          </p:cNvSpPr>
          <p:nvPr/>
        </p:nvSpPr>
        <p:spPr bwMode="auto">
          <a:xfrm>
            <a:off x="4841875" y="5467350"/>
            <a:ext cx="4159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b="1">
                <a:solidFill>
                  <a:schemeClr val="bg2"/>
                </a:solidFill>
                <a:latin typeface="Arial" charset="0"/>
              </a:rPr>
              <a:t>0 </a:t>
            </a:r>
          </a:p>
        </p:txBody>
      </p:sp>
      <p:sp>
        <p:nvSpPr>
          <p:cNvPr id="17425" name="Rectangle 16"/>
          <p:cNvSpPr>
            <a:spLocks noChangeArrowheads="1"/>
          </p:cNvSpPr>
          <p:nvPr/>
        </p:nvSpPr>
        <p:spPr bwMode="auto">
          <a:xfrm>
            <a:off x="4765675" y="4857750"/>
            <a:ext cx="5683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b="1">
                <a:solidFill>
                  <a:schemeClr val="bg2"/>
                </a:solidFill>
                <a:latin typeface="Arial" charset="0"/>
              </a:rPr>
              <a:t>.1 </a:t>
            </a:r>
          </a:p>
        </p:txBody>
      </p:sp>
      <p:sp>
        <p:nvSpPr>
          <p:cNvPr id="17426" name="Rectangle 17"/>
          <p:cNvSpPr>
            <a:spLocks noChangeArrowheads="1"/>
          </p:cNvSpPr>
          <p:nvPr/>
        </p:nvSpPr>
        <p:spPr bwMode="auto">
          <a:xfrm>
            <a:off x="4765675" y="4248150"/>
            <a:ext cx="5683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b="1">
                <a:solidFill>
                  <a:schemeClr val="bg2"/>
                </a:solidFill>
                <a:latin typeface="Arial" charset="0"/>
              </a:rPr>
              <a:t>.2 </a:t>
            </a:r>
          </a:p>
        </p:txBody>
      </p:sp>
      <p:sp>
        <p:nvSpPr>
          <p:cNvPr id="17427" name="Rectangle 18"/>
          <p:cNvSpPr>
            <a:spLocks noChangeArrowheads="1"/>
          </p:cNvSpPr>
          <p:nvPr/>
        </p:nvSpPr>
        <p:spPr bwMode="auto">
          <a:xfrm>
            <a:off x="5164138" y="5332413"/>
            <a:ext cx="381000" cy="381000"/>
          </a:xfrm>
          <a:prstGeom prst="rect">
            <a:avLst/>
          </a:prstGeom>
          <a:solidFill>
            <a:schemeClr val="accent1"/>
          </a:solidFill>
          <a:ln w="12700">
            <a:solidFill>
              <a:schemeClr val="tx1"/>
            </a:solidFill>
            <a:miter lim="800000"/>
            <a:headEnd/>
            <a:tailEnd/>
          </a:ln>
        </p:spPr>
        <p:txBody>
          <a:bodyPr wrap="none" anchor="ctr"/>
          <a:lstStyle/>
          <a:p>
            <a:endParaRPr lang="en-US"/>
          </a:p>
        </p:txBody>
      </p:sp>
      <p:sp>
        <p:nvSpPr>
          <p:cNvPr id="17428" name="Rectangle 19"/>
          <p:cNvSpPr>
            <a:spLocks noChangeArrowheads="1"/>
          </p:cNvSpPr>
          <p:nvPr/>
        </p:nvSpPr>
        <p:spPr bwMode="auto">
          <a:xfrm>
            <a:off x="4765675" y="3638550"/>
            <a:ext cx="5683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b="1">
                <a:solidFill>
                  <a:schemeClr val="bg2"/>
                </a:solidFill>
                <a:latin typeface="Arial" charset="0"/>
              </a:rPr>
              <a:t>.3 </a:t>
            </a:r>
          </a:p>
        </p:txBody>
      </p:sp>
      <p:sp>
        <p:nvSpPr>
          <p:cNvPr id="17429" name="Rectangle 20"/>
          <p:cNvSpPr>
            <a:spLocks noChangeArrowheads="1"/>
          </p:cNvSpPr>
          <p:nvPr/>
        </p:nvSpPr>
        <p:spPr bwMode="auto">
          <a:xfrm>
            <a:off x="4624388" y="3344863"/>
            <a:ext cx="9493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a:solidFill>
                  <a:schemeClr val="bg2"/>
                </a:solidFill>
                <a:latin typeface="Arial" charset="0"/>
              </a:rPr>
              <a:t>P(X) </a:t>
            </a:r>
          </a:p>
        </p:txBody>
      </p:sp>
      <p:sp>
        <p:nvSpPr>
          <p:cNvPr id="17430" name="Line 21"/>
          <p:cNvSpPr>
            <a:spLocks noChangeShapeType="1"/>
          </p:cNvSpPr>
          <p:nvPr/>
        </p:nvSpPr>
        <p:spPr bwMode="auto">
          <a:xfrm>
            <a:off x="5518150" y="3351213"/>
            <a:ext cx="15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1" name="Rectangle 22"/>
          <p:cNvSpPr>
            <a:spLocks noChangeArrowheads="1"/>
          </p:cNvSpPr>
          <p:nvPr/>
        </p:nvSpPr>
        <p:spPr bwMode="auto">
          <a:xfrm>
            <a:off x="8610600" y="5792788"/>
            <a:ext cx="4921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b="1">
                <a:solidFill>
                  <a:schemeClr val="bg2"/>
                </a:solidFill>
                <a:latin typeface="Arial" charset="0"/>
              </a:rPr>
              <a:t>X</a:t>
            </a:r>
          </a:p>
        </p:txBody>
      </p:sp>
      <p:sp>
        <p:nvSpPr>
          <p:cNvPr id="17432" name="Line 23"/>
          <p:cNvSpPr>
            <a:spLocks noChangeShapeType="1"/>
          </p:cNvSpPr>
          <p:nvPr/>
        </p:nvSpPr>
        <p:spPr bwMode="auto">
          <a:xfrm>
            <a:off x="8870950" y="5789613"/>
            <a:ext cx="15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3" name="Rectangle 24"/>
          <p:cNvSpPr>
            <a:spLocks noChangeArrowheads="1"/>
          </p:cNvSpPr>
          <p:nvPr/>
        </p:nvSpPr>
        <p:spPr bwMode="auto">
          <a:xfrm>
            <a:off x="954088" y="5694363"/>
            <a:ext cx="3387725"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a:solidFill>
                  <a:schemeClr val="bg2"/>
                </a:solidFill>
                <a:latin typeface="Arial" charset="0"/>
              </a:rPr>
              <a:t> </a:t>
            </a:r>
            <a:r>
              <a:rPr lang="en-US" sz="1800" b="1">
                <a:solidFill>
                  <a:schemeClr val="bg2"/>
                </a:solidFill>
                <a:latin typeface="Arial" charset="0"/>
              </a:rPr>
              <a:t>  18         20         22          24</a:t>
            </a:r>
            <a:endParaRPr lang="en-US" b="1">
              <a:solidFill>
                <a:schemeClr val="bg2"/>
              </a:solidFill>
              <a:latin typeface="Arial" charset="0"/>
            </a:endParaRPr>
          </a:p>
          <a:p>
            <a:pPr>
              <a:lnSpc>
                <a:spcPct val="40000"/>
              </a:lnSpc>
              <a:spcBef>
                <a:spcPct val="50000"/>
              </a:spcBef>
            </a:pPr>
            <a:r>
              <a:rPr lang="en-US" b="1">
                <a:solidFill>
                  <a:schemeClr val="bg2"/>
                </a:solidFill>
                <a:latin typeface="Arial" charset="0"/>
              </a:rPr>
              <a:t>   A       B       C        D</a:t>
            </a:r>
          </a:p>
        </p:txBody>
      </p:sp>
      <p:sp>
        <p:nvSpPr>
          <p:cNvPr id="17434" name="Line 25"/>
          <p:cNvSpPr>
            <a:spLocks noChangeShapeType="1"/>
          </p:cNvSpPr>
          <p:nvPr/>
        </p:nvSpPr>
        <p:spPr bwMode="auto">
          <a:xfrm>
            <a:off x="974725" y="5103813"/>
            <a:ext cx="3319463"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5" name="Line 26"/>
          <p:cNvSpPr>
            <a:spLocks noChangeShapeType="1"/>
          </p:cNvSpPr>
          <p:nvPr/>
        </p:nvSpPr>
        <p:spPr bwMode="auto">
          <a:xfrm>
            <a:off x="974725" y="4494213"/>
            <a:ext cx="3319463"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6" name="Rectangle 27"/>
          <p:cNvSpPr>
            <a:spLocks noChangeArrowheads="1"/>
          </p:cNvSpPr>
          <p:nvPr/>
        </p:nvSpPr>
        <p:spPr bwMode="auto">
          <a:xfrm>
            <a:off x="1201738" y="4189413"/>
            <a:ext cx="381000" cy="1524000"/>
          </a:xfrm>
          <a:prstGeom prst="rect">
            <a:avLst/>
          </a:prstGeom>
          <a:solidFill>
            <a:schemeClr val="accent1"/>
          </a:solidFill>
          <a:ln w="12700">
            <a:solidFill>
              <a:schemeClr val="tx1"/>
            </a:solidFill>
            <a:miter lim="800000"/>
            <a:headEnd/>
            <a:tailEnd/>
          </a:ln>
        </p:spPr>
        <p:txBody>
          <a:bodyPr wrap="none" anchor="ctr"/>
          <a:lstStyle/>
          <a:p>
            <a:endParaRPr lang="en-US"/>
          </a:p>
        </p:txBody>
      </p:sp>
      <p:sp>
        <p:nvSpPr>
          <p:cNvPr id="17437" name="Rectangle 28"/>
          <p:cNvSpPr>
            <a:spLocks noChangeArrowheads="1"/>
          </p:cNvSpPr>
          <p:nvPr/>
        </p:nvSpPr>
        <p:spPr bwMode="auto">
          <a:xfrm>
            <a:off x="2039938" y="4189413"/>
            <a:ext cx="381000" cy="1524000"/>
          </a:xfrm>
          <a:prstGeom prst="rect">
            <a:avLst/>
          </a:prstGeom>
          <a:solidFill>
            <a:schemeClr val="accent1"/>
          </a:solidFill>
          <a:ln w="12700">
            <a:solidFill>
              <a:schemeClr val="tx1"/>
            </a:solidFill>
            <a:miter lim="800000"/>
            <a:headEnd/>
            <a:tailEnd/>
          </a:ln>
        </p:spPr>
        <p:txBody>
          <a:bodyPr wrap="none" anchor="ctr"/>
          <a:lstStyle/>
          <a:p>
            <a:endParaRPr lang="en-US"/>
          </a:p>
        </p:txBody>
      </p:sp>
      <p:sp>
        <p:nvSpPr>
          <p:cNvPr id="17438" name="Rectangle 29"/>
          <p:cNvSpPr>
            <a:spLocks noChangeArrowheads="1"/>
          </p:cNvSpPr>
          <p:nvPr/>
        </p:nvSpPr>
        <p:spPr bwMode="auto">
          <a:xfrm>
            <a:off x="2878138" y="4189413"/>
            <a:ext cx="381000" cy="1524000"/>
          </a:xfrm>
          <a:prstGeom prst="rect">
            <a:avLst/>
          </a:prstGeom>
          <a:solidFill>
            <a:schemeClr val="accent1"/>
          </a:solidFill>
          <a:ln w="12700">
            <a:solidFill>
              <a:schemeClr val="tx1"/>
            </a:solidFill>
            <a:miter lim="800000"/>
            <a:headEnd/>
            <a:tailEnd/>
          </a:ln>
        </p:spPr>
        <p:txBody>
          <a:bodyPr wrap="none" anchor="ctr"/>
          <a:lstStyle/>
          <a:p>
            <a:endParaRPr lang="en-US"/>
          </a:p>
        </p:txBody>
      </p:sp>
      <p:sp>
        <p:nvSpPr>
          <p:cNvPr id="17439" name="Rectangle 30"/>
          <p:cNvSpPr>
            <a:spLocks noChangeArrowheads="1"/>
          </p:cNvSpPr>
          <p:nvPr/>
        </p:nvSpPr>
        <p:spPr bwMode="auto">
          <a:xfrm>
            <a:off x="3716338" y="4189413"/>
            <a:ext cx="381000" cy="1524000"/>
          </a:xfrm>
          <a:prstGeom prst="rect">
            <a:avLst/>
          </a:prstGeom>
          <a:solidFill>
            <a:schemeClr val="accent1"/>
          </a:solidFill>
          <a:ln w="12700">
            <a:solidFill>
              <a:schemeClr val="tx1"/>
            </a:solidFill>
            <a:miter lim="800000"/>
            <a:headEnd/>
            <a:tailEnd/>
          </a:ln>
        </p:spPr>
        <p:txBody>
          <a:bodyPr wrap="none" anchor="ctr"/>
          <a:lstStyle/>
          <a:p>
            <a:endParaRPr lang="en-US"/>
          </a:p>
        </p:txBody>
      </p:sp>
      <p:sp>
        <p:nvSpPr>
          <p:cNvPr id="17440" name="Line 31"/>
          <p:cNvSpPr>
            <a:spLocks noChangeShapeType="1"/>
          </p:cNvSpPr>
          <p:nvPr/>
        </p:nvSpPr>
        <p:spPr bwMode="auto">
          <a:xfrm>
            <a:off x="974725" y="3960813"/>
            <a:ext cx="3319463"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41" name="Line 32"/>
          <p:cNvSpPr>
            <a:spLocks noChangeShapeType="1"/>
          </p:cNvSpPr>
          <p:nvPr/>
        </p:nvSpPr>
        <p:spPr bwMode="auto">
          <a:xfrm>
            <a:off x="762000" y="3884613"/>
            <a:ext cx="0" cy="1828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42" name="Line 33"/>
          <p:cNvSpPr>
            <a:spLocks noChangeShapeType="1"/>
          </p:cNvSpPr>
          <p:nvPr/>
        </p:nvSpPr>
        <p:spPr bwMode="auto">
          <a:xfrm>
            <a:off x="762000" y="5713413"/>
            <a:ext cx="3608388"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43" name="Rectangle 34"/>
          <p:cNvSpPr>
            <a:spLocks noChangeArrowheads="1"/>
          </p:cNvSpPr>
          <p:nvPr/>
        </p:nvSpPr>
        <p:spPr bwMode="auto">
          <a:xfrm>
            <a:off x="422275" y="5467350"/>
            <a:ext cx="4159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b="1">
                <a:solidFill>
                  <a:schemeClr val="bg2"/>
                </a:solidFill>
                <a:latin typeface="Arial" charset="0"/>
              </a:rPr>
              <a:t>0 </a:t>
            </a:r>
          </a:p>
        </p:txBody>
      </p:sp>
      <p:sp>
        <p:nvSpPr>
          <p:cNvPr id="17444" name="Rectangle 35"/>
          <p:cNvSpPr>
            <a:spLocks noChangeArrowheads="1"/>
          </p:cNvSpPr>
          <p:nvPr/>
        </p:nvSpPr>
        <p:spPr bwMode="auto">
          <a:xfrm>
            <a:off x="346075" y="4857750"/>
            <a:ext cx="5683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b="1">
                <a:solidFill>
                  <a:schemeClr val="bg2"/>
                </a:solidFill>
                <a:latin typeface="Arial" charset="0"/>
              </a:rPr>
              <a:t>.1 </a:t>
            </a:r>
          </a:p>
        </p:txBody>
      </p:sp>
      <p:sp>
        <p:nvSpPr>
          <p:cNvPr id="17445" name="Rectangle 36"/>
          <p:cNvSpPr>
            <a:spLocks noChangeArrowheads="1"/>
          </p:cNvSpPr>
          <p:nvPr/>
        </p:nvSpPr>
        <p:spPr bwMode="auto">
          <a:xfrm>
            <a:off x="346075" y="4248150"/>
            <a:ext cx="5683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b="1">
                <a:solidFill>
                  <a:schemeClr val="bg2"/>
                </a:solidFill>
                <a:latin typeface="Arial" charset="0"/>
              </a:rPr>
              <a:t>.2 </a:t>
            </a:r>
          </a:p>
        </p:txBody>
      </p:sp>
      <p:sp>
        <p:nvSpPr>
          <p:cNvPr id="17446" name="Rectangle 37"/>
          <p:cNvSpPr>
            <a:spLocks noChangeArrowheads="1"/>
          </p:cNvSpPr>
          <p:nvPr/>
        </p:nvSpPr>
        <p:spPr bwMode="auto">
          <a:xfrm>
            <a:off x="346075" y="3714750"/>
            <a:ext cx="5683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b="1">
                <a:solidFill>
                  <a:schemeClr val="bg2"/>
                </a:solidFill>
                <a:latin typeface="Arial" charset="0"/>
              </a:rPr>
              <a:t>.3 </a:t>
            </a:r>
          </a:p>
        </p:txBody>
      </p:sp>
      <p:sp>
        <p:nvSpPr>
          <p:cNvPr id="17447" name="Rectangle 38"/>
          <p:cNvSpPr>
            <a:spLocks noChangeArrowheads="1"/>
          </p:cNvSpPr>
          <p:nvPr/>
        </p:nvSpPr>
        <p:spPr bwMode="auto">
          <a:xfrm>
            <a:off x="668338" y="1905000"/>
            <a:ext cx="3448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endParaRPr lang="en-US"/>
          </a:p>
        </p:txBody>
      </p:sp>
      <p:sp>
        <p:nvSpPr>
          <p:cNvPr id="17448" name="Rectangle 39"/>
          <p:cNvSpPr>
            <a:spLocks noChangeArrowheads="1"/>
          </p:cNvSpPr>
          <p:nvPr/>
        </p:nvSpPr>
        <p:spPr bwMode="auto">
          <a:xfrm>
            <a:off x="1031875" y="2032000"/>
            <a:ext cx="2320925" cy="528638"/>
          </a:xfrm>
          <a:prstGeom prst="rect">
            <a:avLst/>
          </a:prstGeom>
          <a:solidFill>
            <a:schemeClr val="accent1"/>
          </a:solidFill>
          <a:ln w="12700">
            <a:solidFill>
              <a:schemeClr val="tx1"/>
            </a:solidFill>
            <a:miter lim="800000"/>
            <a:headEnd/>
            <a:tailEnd/>
          </a:ln>
        </p:spPr>
        <p:txBody>
          <a:bodyPr lIns="90488" tIns="44450" rIns="90488" bIns="44450">
            <a:spAutoFit/>
          </a:bodyPr>
          <a:lstStyle/>
          <a:p>
            <a:pPr algn="ctr">
              <a:spcBef>
                <a:spcPct val="50000"/>
              </a:spcBef>
            </a:pPr>
            <a:r>
              <a:rPr lang="en-US" sz="2800">
                <a:solidFill>
                  <a:schemeClr val="tx2"/>
                </a:solidFill>
                <a:latin typeface="Arial" charset="0"/>
              </a:rPr>
              <a:t>Population</a:t>
            </a:r>
          </a:p>
        </p:txBody>
      </p:sp>
      <p:sp>
        <p:nvSpPr>
          <p:cNvPr id="17449" name="Rectangle 40"/>
          <p:cNvSpPr>
            <a:spLocks noChangeArrowheads="1"/>
          </p:cNvSpPr>
          <p:nvPr/>
        </p:nvSpPr>
        <p:spPr bwMode="auto">
          <a:xfrm>
            <a:off x="357188" y="3344863"/>
            <a:ext cx="107950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a:solidFill>
                  <a:schemeClr val="bg2"/>
                </a:solidFill>
                <a:latin typeface="Arial" charset="0"/>
              </a:rPr>
              <a:t>P(X) </a:t>
            </a:r>
          </a:p>
        </p:txBody>
      </p:sp>
      <p:sp>
        <p:nvSpPr>
          <p:cNvPr id="17450" name="Rectangle 41"/>
          <p:cNvSpPr>
            <a:spLocks noChangeArrowheads="1"/>
          </p:cNvSpPr>
          <p:nvPr/>
        </p:nvSpPr>
        <p:spPr bwMode="auto">
          <a:xfrm>
            <a:off x="4232275" y="5619750"/>
            <a:ext cx="4921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a:solidFill>
                  <a:schemeClr val="bg2"/>
                </a:solidFill>
                <a:latin typeface="Arial" charset="0"/>
              </a:rPr>
              <a:t>X</a:t>
            </a:r>
          </a:p>
        </p:txBody>
      </p:sp>
      <p:sp>
        <p:nvSpPr>
          <p:cNvPr id="17451" name="Rectangle 42"/>
          <p:cNvSpPr>
            <a:spLocks noChangeArrowheads="1"/>
          </p:cNvSpPr>
          <p:nvPr/>
        </p:nvSpPr>
        <p:spPr bwMode="auto">
          <a:xfrm>
            <a:off x="8610600" y="5427663"/>
            <a:ext cx="390525"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sz="2800">
                <a:solidFill>
                  <a:schemeClr val="bg2"/>
                </a:solidFill>
                <a:latin typeface="Arial" charset="0"/>
              </a:rPr>
              <a:t>_</a:t>
            </a:r>
          </a:p>
        </p:txBody>
      </p:sp>
      <p:sp>
        <p:nvSpPr>
          <p:cNvPr id="17452" name="Rectangle 43"/>
          <p:cNvSpPr>
            <a:spLocks noChangeArrowheads="1"/>
          </p:cNvSpPr>
          <p:nvPr/>
        </p:nvSpPr>
        <p:spPr bwMode="auto">
          <a:xfrm>
            <a:off x="4495800" y="2019300"/>
            <a:ext cx="4530725" cy="871538"/>
          </a:xfrm>
          <a:prstGeom prst="rect">
            <a:avLst/>
          </a:prstGeom>
          <a:solidFill>
            <a:schemeClr val="accent1"/>
          </a:solidFill>
          <a:ln w="12700">
            <a:solidFill>
              <a:schemeClr val="tx1"/>
            </a:solidFill>
            <a:miter lim="800000"/>
            <a:headEnd/>
            <a:tailEnd/>
          </a:ln>
        </p:spPr>
        <p:txBody>
          <a:bodyPr lIns="90488" tIns="44450" rIns="90488" bIns="44450">
            <a:spAutoFit/>
          </a:bodyPr>
          <a:lstStyle/>
          <a:p>
            <a:pPr algn="ctr">
              <a:spcBef>
                <a:spcPct val="50000"/>
              </a:spcBef>
            </a:pPr>
            <a:r>
              <a:rPr lang="en-US" sz="2800">
                <a:solidFill>
                  <a:schemeClr val="tx2"/>
                </a:solidFill>
                <a:latin typeface="Arial" charset="0"/>
              </a:rPr>
              <a:t>Sample Means Distribution</a:t>
            </a:r>
          </a:p>
          <a:p>
            <a:pPr algn="ctr">
              <a:lnSpc>
                <a:spcPct val="30000"/>
              </a:lnSpc>
              <a:spcBef>
                <a:spcPct val="50000"/>
              </a:spcBef>
            </a:pPr>
            <a:r>
              <a:rPr lang="en-US" sz="2800">
                <a:solidFill>
                  <a:schemeClr val="tx2"/>
                </a:solidFill>
                <a:latin typeface="Arial" charset="0"/>
              </a:rPr>
              <a:t>n = 2</a:t>
            </a:r>
          </a:p>
        </p:txBody>
      </p:sp>
      <p:sp>
        <p:nvSpPr>
          <p:cNvPr id="17453" name="Rectangle 44"/>
          <p:cNvSpPr>
            <a:spLocks noChangeArrowheads="1"/>
          </p:cNvSpPr>
          <p:nvPr/>
        </p:nvSpPr>
        <p:spPr bwMode="auto">
          <a:xfrm>
            <a:off x="4943475" y="2989263"/>
            <a:ext cx="390525"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spcBef>
                <a:spcPct val="50000"/>
              </a:spcBef>
            </a:pPr>
            <a:r>
              <a:rPr lang="en-US" sz="2800">
                <a:latin typeface="Arial" charset="0"/>
              </a:rPr>
              <a:t>_</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atin typeface="Times New Roman" charset="0"/>
              </a:rPr>
              <a:t>The Law of Large Numbers</a:t>
            </a:r>
          </a:p>
        </p:txBody>
      </p:sp>
      <p:sp>
        <p:nvSpPr>
          <p:cNvPr id="18435" name="Rectangle 3"/>
          <p:cNvSpPr>
            <a:spLocks noGrp="1" noChangeArrowheads="1"/>
          </p:cNvSpPr>
          <p:nvPr>
            <p:ph type="body" idx="1"/>
          </p:nvPr>
        </p:nvSpPr>
        <p:spPr>
          <a:solidFill>
            <a:schemeClr val="tx2"/>
          </a:solidFill>
          <a:ln w="38100">
            <a:solidFill>
              <a:schemeClr val="accent2"/>
            </a:solidFill>
            <a:miter lim="800000"/>
            <a:headEnd/>
            <a:tailEnd/>
          </a:ln>
        </p:spPr>
        <p:txBody>
          <a:bodyPr/>
          <a:lstStyle/>
          <a:p>
            <a:pPr eaLnBrk="1" hangingPunct="1"/>
            <a:r>
              <a:rPr lang="en-US" dirty="0">
                <a:solidFill>
                  <a:schemeClr val="bg2"/>
                </a:solidFill>
                <a:latin typeface="Times New Roman" charset="0"/>
              </a:rPr>
              <a:t>A sample is drawn at random from any population with mean </a:t>
            </a:r>
            <a:r>
              <a:rPr lang="en-US" dirty="0">
                <a:solidFill>
                  <a:schemeClr val="bg2"/>
                </a:solidFill>
                <a:latin typeface="Symbol" charset="0"/>
              </a:rPr>
              <a:t>m</a:t>
            </a:r>
            <a:r>
              <a:rPr lang="en-US" dirty="0">
                <a:solidFill>
                  <a:schemeClr val="bg2"/>
                </a:solidFill>
                <a:latin typeface="Times New Roman" charset="0"/>
              </a:rPr>
              <a:t>.</a:t>
            </a:r>
          </a:p>
          <a:p>
            <a:pPr eaLnBrk="1" hangingPunct="1"/>
            <a:r>
              <a:rPr lang="en-US" dirty="0">
                <a:solidFill>
                  <a:schemeClr val="bg2"/>
                </a:solidFill>
                <a:latin typeface="Times New Roman" charset="0"/>
              </a:rPr>
              <a:t>As the number of observations goes up, the sample mean    </a:t>
            </a:r>
            <a:r>
              <a:rPr lang="en-US" dirty="0" smtClean="0">
                <a:solidFill>
                  <a:schemeClr val="bg2"/>
                </a:solidFill>
                <a:latin typeface="Times New Roman" charset="0"/>
              </a:rPr>
              <a:t>tends to get </a:t>
            </a:r>
            <a:r>
              <a:rPr lang="en-US" dirty="0">
                <a:solidFill>
                  <a:schemeClr val="bg2"/>
                </a:solidFill>
                <a:latin typeface="Times New Roman" charset="0"/>
              </a:rPr>
              <a:t>closer to the population mean </a:t>
            </a:r>
            <a:r>
              <a:rPr lang="en-US" dirty="0">
                <a:solidFill>
                  <a:schemeClr val="bg2"/>
                </a:solidFill>
                <a:latin typeface="Symbol" charset="0"/>
              </a:rPr>
              <a:t>m</a:t>
            </a:r>
            <a:r>
              <a:rPr lang="en-US" dirty="0">
                <a:solidFill>
                  <a:schemeClr val="bg2"/>
                </a:solidFill>
                <a:latin typeface="Times New Roman" charset="0"/>
              </a:rPr>
              <a:t>.</a:t>
            </a:r>
          </a:p>
        </p:txBody>
      </p:sp>
      <p:pic>
        <p:nvPicPr>
          <p:cNvPr id="1843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8988" y="3505200"/>
            <a:ext cx="2524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atin typeface="Times New Roman" charset="0"/>
              </a:rPr>
              <a:t>Example: Class of 20 Students</a:t>
            </a:r>
          </a:p>
        </p:txBody>
      </p:sp>
      <p:sp>
        <p:nvSpPr>
          <p:cNvPr id="19459" name="Rectangle 3"/>
          <p:cNvSpPr>
            <a:spLocks noGrp="1" noChangeArrowheads="1"/>
          </p:cNvSpPr>
          <p:nvPr>
            <p:ph type="body" idx="1"/>
          </p:nvPr>
        </p:nvSpPr>
        <p:spPr>
          <a:solidFill>
            <a:schemeClr val="tx2"/>
          </a:solidFill>
          <a:ln w="38100">
            <a:solidFill>
              <a:schemeClr val="accent2"/>
            </a:solidFill>
            <a:miter lim="800000"/>
            <a:headEnd/>
            <a:tailEnd/>
          </a:ln>
        </p:spPr>
        <p:txBody>
          <a:bodyPr/>
          <a:lstStyle/>
          <a:p>
            <a:pPr eaLnBrk="1" hangingPunct="1"/>
            <a:r>
              <a:rPr lang="en-US">
                <a:solidFill>
                  <a:schemeClr val="bg2"/>
                </a:solidFill>
                <a:latin typeface="Times New Roman" charset="0"/>
              </a:rPr>
              <a:t>Suppose there are 20 people in a class and you are interested in the average height of the class.</a:t>
            </a:r>
          </a:p>
          <a:p>
            <a:pPr eaLnBrk="1" hangingPunct="1"/>
            <a:r>
              <a:rPr lang="en-US">
                <a:solidFill>
                  <a:schemeClr val="bg2"/>
                </a:solidFill>
                <a:latin typeface="Times New Roman" charset="0"/>
              </a:rPr>
              <a:t>The heights (in inches):</a:t>
            </a:r>
          </a:p>
          <a:p>
            <a:pPr algn="ctr" eaLnBrk="1" hangingPunct="1">
              <a:buFontTx/>
              <a:buNone/>
            </a:pPr>
            <a:r>
              <a:rPr lang="en-US">
                <a:solidFill>
                  <a:schemeClr val="bg2"/>
                </a:solidFill>
                <a:latin typeface="Times New Roman" charset="0"/>
              </a:rPr>
              <a:t>72 64 75 63 62 61 68 76 59 73</a:t>
            </a:r>
          </a:p>
          <a:p>
            <a:pPr algn="ctr" eaLnBrk="1" hangingPunct="1">
              <a:buFontTx/>
              <a:buNone/>
            </a:pPr>
            <a:r>
              <a:rPr lang="en-US">
                <a:solidFill>
                  <a:schemeClr val="bg2"/>
                </a:solidFill>
                <a:latin typeface="Times New Roman" charset="0"/>
              </a:rPr>
              <a:t>67 66 65 64 60 65 70 56 71 62</a:t>
            </a:r>
          </a:p>
          <a:p>
            <a:pPr eaLnBrk="1" hangingPunct="1"/>
            <a:r>
              <a:rPr lang="en-US">
                <a:solidFill>
                  <a:schemeClr val="bg2"/>
                </a:solidFill>
                <a:latin typeface="Times New Roman" charset="0"/>
              </a:rPr>
              <a:t>The average height is 65.95 in.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atin typeface="Times New Roman" charset="0"/>
              </a:rPr>
              <a:t>Example: n = 5</a:t>
            </a:r>
          </a:p>
        </p:txBody>
      </p:sp>
      <p:pic>
        <p:nvPicPr>
          <p:cNvPr id="20483" name="Picture 5" descr="samp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524000"/>
            <a:ext cx="5438775" cy="4906963"/>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atin typeface="Times New Roman" charset="0"/>
              </a:rPr>
              <a:t>Example: n = 10</a:t>
            </a:r>
          </a:p>
        </p:txBody>
      </p:sp>
      <p:pic>
        <p:nvPicPr>
          <p:cNvPr id="21507" name="Picture 4" descr="samp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6450" y="1524000"/>
            <a:ext cx="5467350" cy="4908550"/>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atin typeface="Times New Roman" charset="0"/>
              </a:rPr>
              <a:t>Example: n = 15</a:t>
            </a:r>
          </a:p>
        </p:txBody>
      </p:sp>
      <p:pic>
        <p:nvPicPr>
          <p:cNvPr id="22531" name="Picture 5" descr="samp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520825"/>
            <a:ext cx="5410200" cy="487997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atin typeface="Times New Roman" charset="0"/>
              </a:rPr>
              <a:t>What the Law of Large Numbers Tells Us</a:t>
            </a:r>
          </a:p>
        </p:txBody>
      </p:sp>
      <p:sp>
        <p:nvSpPr>
          <p:cNvPr id="11267" name="Rectangle 3"/>
          <p:cNvSpPr>
            <a:spLocks noGrp="1" noChangeArrowheads="1"/>
          </p:cNvSpPr>
          <p:nvPr>
            <p:ph type="body" idx="1"/>
          </p:nvPr>
        </p:nvSpPr>
        <p:spPr>
          <a:xfrm>
            <a:off x="685800" y="1905000"/>
            <a:ext cx="7772400" cy="4495800"/>
          </a:xfrm>
          <a:solidFill>
            <a:schemeClr val="tx2"/>
          </a:solidFill>
          <a:ln w="38100">
            <a:solidFill>
              <a:schemeClr val="accent2"/>
            </a:solidFill>
            <a:miter lim="800000"/>
            <a:headEnd/>
            <a:tailEnd/>
          </a:ln>
        </p:spPr>
        <p:txBody>
          <a:bodyPr/>
          <a:lstStyle/>
          <a:p>
            <a:pPr eaLnBrk="1" hangingPunct="1"/>
            <a:r>
              <a:rPr lang="en-US">
                <a:solidFill>
                  <a:schemeClr val="bg2"/>
                </a:solidFill>
                <a:latin typeface="Times New Roman" charset="0"/>
              </a:rPr>
              <a:t>It tells us that our estimate of the population mean will get better and better as we take bigger and bigger samples.</a:t>
            </a:r>
          </a:p>
          <a:p>
            <a:pPr eaLnBrk="1" hangingPunct="1"/>
            <a:r>
              <a:rPr lang="en-US">
                <a:solidFill>
                  <a:schemeClr val="bg2"/>
                </a:solidFill>
                <a:latin typeface="Times New Roman" charset="0"/>
              </a:rPr>
              <a:t>This means the variability (or spread) of the sample mean decreases as </a:t>
            </a:r>
            <a:r>
              <a:rPr lang="en-US" i="1">
                <a:solidFill>
                  <a:schemeClr val="bg2"/>
                </a:solidFill>
                <a:latin typeface="Times New Roman" charset="0"/>
              </a:rPr>
              <a:t>n</a:t>
            </a:r>
            <a:r>
              <a:rPr lang="en-US">
                <a:solidFill>
                  <a:schemeClr val="bg2"/>
                </a:solidFill>
                <a:latin typeface="Times New Roman" charset="0"/>
              </a:rPr>
              <a:t> increases.</a:t>
            </a:r>
          </a:p>
          <a:p>
            <a:pPr eaLnBrk="1" hangingPunct="1"/>
            <a:r>
              <a:rPr lang="en-US">
                <a:solidFill>
                  <a:schemeClr val="bg2"/>
                </a:solidFill>
                <a:latin typeface="Times New Roman" charset="0"/>
              </a:rPr>
              <a:t>However, there are some cautions regarding misusing it.</a:t>
            </a: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blinds(horizontal)">
                                      <p:cBhvr>
                                        <p:cTn id="7" dur="500"/>
                                        <p:tgtEl>
                                          <p:spTgt spid="112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animEffect transition="in" filter="blinds(horizontal)">
                                      <p:cBhvr>
                                        <p:cTn id="12" dur="500"/>
                                        <p:tgtEl>
                                          <p:spTgt spid="112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267">
                                            <p:txEl>
                                              <p:pRg st="2" end="2"/>
                                            </p:txEl>
                                          </p:spTgt>
                                        </p:tgtEl>
                                        <p:attrNameLst>
                                          <p:attrName>style.visibility</p:attrName>
                                        </p:attrNameLst>
                                      </p:cBhvr>
                                      <p:to>
                                        <p:strVal val="visible"/>
                                      </p:to>
                                    </p:set>
                                    <p:animEffect transition="in" filter="blinds(horizontal)">
                                      <p:cBhvr>
                                        <p:cTn id="17" dur="500"/>
                                        <p:tgtEl>
                                          <p:spTgt spid="112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atin typeface="Times New Roman" charset="0"/>
              </a:rPr>
              <a:t>Applying the LLN to Probabilities</a:t>
            </a:r>
          </a:p>
        </p:txBody>
      </p:sp>
      <p:sp>
        <p:nvSpPr>
          <p:cNvPr id="24579" name="Rectangle 3"/>
          <p:cNvSpPr>
            <a:spLocks noGrp="1" noChangeArrowheads="1"/>
          </p:cNvSpPr>
          <p:nvPr>
            <p:ph type="body" idx="1"/>
          </p:nvPr>
        </p:nvSpPr>
        <p:spPr>
          <a:solidFill>
            <a:schemeClr val="tx2"/>
          </a:solidFill>
          <a:ln w="38100">
            <a:solidFill>
              <a:schemeClr val="accent2"/>
            </a:solidFill>
            <a:miter lim="800000"/>
            <a:headEnd/>
            <a:tailEnd/>
          </a:ln>
        </p:spPr>
        <p:txBody>
          <a:bodyPr/>
          <a:lstStyle/>
          <a:p>
            <a:pPr eaLnBrk="1" hangingPunct="1"/>
            <a:r>
              <a:rPr lang="en-US">
                <a:solidFill>
                  <a:schemeClr val="bg2"/>
                </a:solidFill>
                <a:latin typeface="Times New Roman" charset="0"/>
              </a:rPr>
              <a:t>A process is repeated through many trials.</a:t>
            </a:r>
          </a:p>
          <a:p>
            <a:pPr eaLnBrk="1" hangingPunct="1"/>
            <a:r>
              <a:rPr lang="en-US">
                <a:solidFill>
                  <a:schemeClr val="bg2"/>
                </a:solidFill>
                <a:latin typeface="Times New Roman" charset="0"/>
              </a:rPr>
              <a:t>Proportion of times event </a:t>
            </a:r>
            <a:r>
              <a:rPr lang="en-US" i="1">
                <a:solidFill>
                  <a:schemeClr val="bg2"/>
                </a:solidFill>
                <a:latin typeface="Times New Roman" charset="0"/>
              </a:rPr>
              <a:t>A</a:t>
            </a:r>
            <a:r>
              <a:rPr lang="en-US">
                <a:solidFill>
                  <a:schemeClr val="bg2"/>
                </a:solidFill>
                <a:latin typeface="Times New Roman" charset="0"/>
              </a:rPr>
              <a:t> occurs will be close to the probability P(</a:t>
            </a:r>
            <a:r>
              <a:rPr lang="en-US" i="1">
                <a:solidFill>
                  <a:schemeClr val="bg2"/>
                </a:solidFill>
                <a:latin typeface="Times New Roman" charset="0"/>
              </a:rPr>
              <a:t>A</a:t>
            </a:r>
            <a:r>
              <a:rPr lang="en-US">
                <a:solidFill>
                  <a:schemeClr val="bg2"/>
                </a:solidFill>
                <a:latin typeface="Times New Roman" charset="0"/>
              </a:rPr>
              <a:t>).  </a:t>
            </a:r>
          </a:p>
          <a:p>
            <a:pPr eaLnBrk="1" hangingPunct="1"/>
            <a:r>
              <a:rPr lang="en-US">
                <a:solidFill>
                  <a:schemeClr val="bg2"/>
                </a:solidFill>
                <a:latin typeface="Times New Roman" charset="0"/>
              </a:rPr>
              <a:t>The larger the number of trials the closer the proportion should be to P(</a:t>
            </a:r>
            <a:r>
              <a:rPr lang="en-US" i="1">
                <a:solidFill>
                  <a:schemeClr val="bg2"/>
                </a:solidFill>
                <a:latin typeface="Times New Roman" charset="0"/>
              </a:rPr>
              <a:t>A</a:t>
            </a:r>
            <a:r>
              <a:rPr lang="en-US">
                <a:solidFill>
                  <a:schemeClr val="bg2"/>
                </a:solidFill>
                <a:latin typeface="Times New Roman" charset="0"/>
              </a:rPr>
              <a:t>).</a:t>
            </a:r>
          </a:p>
          <a:p>
            <a:pPr eaLnBrk="1" hangingPunct="1"/>
            <a:endParaRPr lang="en-US">
              <a:solidFill>
                <a:schemeClr val="bg2"/>
              </a:solidFill>
              <a:latin typeface="Times New Roman"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atin typeface="Times New Roman" charset="0"/>
              </a:rPr>
              <a:t>Example: Rolling a Die</a:t>
            </a:r>
          </a:p>
        </p:txBody>
      </p:sp>
      <p:pic>
        <p:nvPicPr>
          <p:cNvPr id="25603" name="Picture 3" descr="fig07-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166938"/>
            <a:ext cx="8077200" cy="3395662"/>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atin typeface="Times New Roman" charset="0"/>
              </a:rPr>
              <a:t>Caution: Football Example</a:t>
            </a:r>
          </a:p>
        </p:txBody>
      </p:sp>
      <p:sp>
        <p:nvSpPr>
          <p:cNvPr id="26627" name="Rectangle 3"/>
          <p:cNvSpPr>
            <a:spLocks noGrp="1" noChangeArrowheads="1"/>
          </p:cNvSpPr>
          <p:nvPr>
            <p:ph type="body" idx="1"/>
          </p:nvPr>
        </p:nvSpPr>
        <p:spPr>
          <a:solidFill>
            <a:schemeClr val="tx2"/>
          </a:solidFill>
          <a:ln w="38100">
            <a:solidFill>
              <a:schemeClr val="accent2"/>
            </a:solidFill>
            <a:miter lim="800000"/>
            <a:headEnd/>
            <a:tailEnd/>
          </a:ln>
        </p:spPr>
        <p:txBody>
          <a:bodyPr/>
          <a:lstStyle/>
          <a:p>
            <a:pPr eaLnBrk="1" hangingPunct="1">
              <a:lnSpc>
                <a:spcPct val="90000"/>
              </a:lnSpc>
            </a:pPr>
            <a:r>
              <a:rPr lang="en-US">
                <a:solidFill>
                  <a:schemeClr val="bg2"/>
                </a:solidFill>
                <a:latin typeface="Times New Roman" charset="0"/>
              </a:rPr>
              <a:t>A quarterback has a career pass completion ratio of 0.60.</a:t>
            </a:r>
          </a:p>
          <a:p>
            <a:pPr eaLnBrk="1" hangingPunct="1">
              <a:lnSpc>
                <a:spcPct val="90000"/>
              </a:lnSpc>
            </a:pPr>
            <a:r>
              <a:rPr lang="en-US">
                <a:solidFill>
                  <a:schemeClr val="bg2"/>
                </a:solidFill>
                <a:latin typeface="Times New Roman" charset="0"/>
              </a:rPr>
              <a:t>In today</a:t>
            </a:r>
            <a:r>
              <a:rPr lang="ja-JP" altLang="en-US">
                <a:solidFill>
                  <a:schemeClr val="bg2"/>
                </a:solidFill>
                <a:latin typeface="Times New Roman" charset="0"/>
              </a:rPr>
              <a:t>’</a:t>
            </a:r>
            <a:r>
              <a:rPr lang="en-US">
                <a:solidFill>
                  <a:schemeClr val="bg2"/>
                </a:solidFill>
                <a:latin typeface="Times New Roman" charset="0"/>
              </a:rPr>
              <a:t>s game, he has so far thrown 10 passes and only completed 2 of them.</a:t>
            </a:r>
          </a:p>
          <a:p>
            <a:pPr eaLnBrk="1" hangingPunct="1">
              <a:lnSpc>
                <a:spcPct val="90000"/>
              </a:lnSpc>
            </a:pPr>
            <a:r>
              <a:rPr lang="en-US">
                <a:solidFill>
                  <a:schemeClr val="bg2"/>
                </a:solidFill>
                <a:latin typeface="Times New Roman" charset="0"/>
              </a:rPr>
              <a:t>The commentator says, </a:t>
            </a:r>
            <a:r>
              <a:rPr lang="ja-JP" altLang="en-US">
                <a:solidFill>
                  <a:schemeClr val="bg2"/>
                </a:solidFill>
                <a:latin typeface="Times New Roman" charset="0"/>
              </a:rPr>
              <a:t>“</a:t>
            </a:r>
            <a:r>
              <a:rPr lang="en-US">
                <a:solidFill>
                  <a:schemeClr val="bg2"/>
                </a:solidFill>
                <a:latin typeface="Times New Roman" charset="0"/>
              </a:rPr>
              <a:t>He</a:t>
            </a:r>
            <a:r>
              <a:rPr lang="ja-JP" altLang="en-US">
                <a:solidFill>
                  <a:schemeClr val="bg2"/>
                </a:solidFill>
                <a:latin typeface="Times New Roman" charset="0"/>
              </a:rPr>
              <a:t>’</a:t>
            </a:r>
            <a:r>
              <a:rPr lang="en-US">
                <a:solidFill>
                  <a:schemeClr val="bg2"/>
                </a:solidFill>
                <a:latin typeface="Times New Roman" charset="0"/>
              </a:rPr>
              <a:t>s bound to complete the next few by the law of averages!</a:t>
            </a:r>
            <a:r>
              <a:rPr lang="ja-JP" altLang="en-US">
                <a:solidFill>
                  <a:schemeClr val="bg2"/>
                </a:solidFill>
                <a:latin typeface="Times New Roman" charset="0"/>
              </a:rPr>
              <a:t>”</a:t>
            </a:r>
            <a:endParaRPr lang="en-US">
              <a:solidFill>
                <a:schemeClr val="bg2"/>
              </a:solidFill>
              <a:latin typeface="Times New Roman" charset="0"/>
            </a:endParaRPr>
          </a:p>
          <a:p>
            <a:pPr lvl="1" eaLnBrk="1" hangingPunct="1">
              <a:lnSpc>
                <a:spcPct val="90000"/>
              </a:lnSpc>
            </a:pPr>
            <a:r>
              <a:rPr lang="en-US">
                <a:solidFill>
                  <a:schemeClr val="bg2"/>
                </a:solidFill>
                <a:latin typeface="Times New Roman" charset="0"/>
              </a:rPr>
              <a:t>Faulty logic!</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a:xfrm>
            <a:off x="1173163" y="457200"/>
            <a:ext cx="7970837" cy="1143000"/>
          </a:xfrm>
        </p:spPr>
        <p:txBody>
          <a:bodyPr/>
          <a:lstStyle/>
          <a:p>
            <a:pPr eaLnBrk="1" hangingPunct="1"/>
            <a:r>
              <a:rPr lang="en-US">
                <a:latin typeface="Times New Roman" charset="0"/>
              </a:rPr>
              <a:t>Sampling Distribution of a Mean</a:t>
            </a:r>
          </a:p>
        </p:txBody>
      </p:sp>
      <p:sp>
        <p:nvSpPr>
          <p:cNvPr id="4101" name="Rectangle 3"/>
          <p:cNvSpPr>
            <a:spLocks noGrp="1" noChangeArrowheads="1"/>
          </p:cNvSpPr>
          <p:nvPr>
            <p:ph type="body" idx="1"/>
          </p:nvPr>
        </p:nvSpPr>
        <p:spPr>
          <a:solidFill>
            <a:schemeClr val="tx2"/>
          </a:solidFill>
          <a:ln w="38100">
            <a:solidFill>
              <a:schemeClr val="accent2"/>
            </a:solidFill>
            <a:miter lim="800000"/>
            <a:headEnd/>
            <a:tailEnd/>
          </a:ln>
        </p:spPr>
        <p:txBody>
          <a:bodyPr/>
          <a:lstStyle/>
          <a:p>
            <a:pPr eaLnBrk="1" hangingPunct="1"/>
            <a:r>
              <a:rPr lang="en-US" sz="2800">
                <a:solidFill>
                  <a:srgbClr val="000000"/>
                </a:solidFill>
                <a:latin typeface="Times New Roman" charset="0"/>
              </a:rPr>
              <a:t>A SRS of </a:t>
            </a:r>
            <a:r>
              <a:rPr lang="en-US" sz="2800" i="1">
                <a:solidFill>
                  <a:srgbClr val="000000"/>
                </a:solidFill>
                <a:latin typeface="Times New Roman" charset="0"/>
                <a:sym typeface="Symbol" charset="0"/>
              </a:rPr>
              <a:t>n</a:t>
            </a:r>
            <a:r>
              <a:rPr lang="en-US" sz="2800">
                <a:solidFill>
                  <a:srgbClr val="000000"/>
                </a:solidFill>
                <a:latin typeface="Times New Roman" charset="0"/>
                <a:sym typeface="Symbol" charset="0"/>
              </a:rPr>
              <a:t> observations</a:t>
            </a:r>
            <a:r>
              <a:rPr lang="en-US" sz="2800">
                <a:solidFill>
                  <a:srgbClr val="000000"/>
                </a:solidFill>
                <a:latin typeface="Times New Roman" charset="0"/>
              </a:rPr>
              <a:t> is taken from a large population with a mean </a:t>
            </a:r>
            <a:r>
              <a:rPr lang="en-US" sz="2800">
                <a:solidFill>
                  <a:srgbClr val="000000"/>
                </a:solidFill>
                <a:latin typeface="Times New Roman" charset="0"/>
                <a:sym typeface="Symbol" charset="0"/>
              </a:rPr>
              <a:t> and a standard deviation .</a:t>
            </a:r>
          </a:p>
          <a:p>
            <a:pPr eaLnBrk="1" hangingPunct="1"/>
            <a:r>
              <a:rPr lang="en-US" sz="2800">
                <a:solidFill>
                  <a:srgbClr val="000000"/>
                </a:solidFill>
                <a:latin typeface="Times New Roman" charset="0"/>
              </a:rPr>
              <a:t>The </a:t>
            </a:r>
            <a:r>
              <a:rPr lang="en-US" sz="2800">
                <a:solidFill>
                  <a:srgbClr val="000000"/>
                </a:solidFill>
                <a:latin typeface="Times New Roman" charset="0"/>
                <a:sym typeface="Symbol" charset="0"/>
              </a:rPr>
              <a:t>sampling distribution of the sample mean has the same mean: </a:t>
            </a:r>
          </a:p>
          <a:p>
            <a:pPr eaLnBrk="1" hangingPunct="1"/>
            <a:endParaRPr lang="en-US" sz="2800">
              <a:solidFill>
                <a:srgbClr val="000000"/>
              </a:solidFill>
              <a:latin typeface="Times New Roman" charset="0"/>
              <a:sym typeface="Symbol" charset="0"/>
            </a:endParaRPr>
          </a:p>
          <a:p>
            <a:pPr eaLnBrk="1" hangingPunct="1"/>
            <a:r>
              <a:rPr lang="en-US" sz="2800">
                <a:solidFill>
                  <a:srgbClr val="000000"/>
                </a:solidFill>
                <a:latin typeface="Times New Roman" charset="0"/>
              </a:rPr>
              <a:t>The standard deviation is</a:t>
            </a:r>
            <a:endParaRPr lang="en-US" sz="2800">
              <a:solidFill>
                <a:srgbClr val="000000"/>
              </a:solidFill>
              <a:latin typeface="Times New Roman" charset="0"/>
              <a:sym typeface="Symbol" charset="0"/>
            </a:endParaRPr>
          </a:p>
        </p:txBody>
      </p:sp>
      <p:graphicFrame>
        <p:nvGraphicFramePr>
          <p:cNvPr id="4098" name="Object 4"/>
          <p:cNvGraphicFramePr>
            <a:graphicFrameLocks noChangeAspect="1"/>
          </p:cNvGraphicFramePr>
          <p:nvPr/>
        </p:nvGraphicFramePr>
        <p:xfrm>
          <a:off x="3657600" y="3962400"/>
          <a:ext cx="1981200" cy="685800"/>
        </p:xfrm>
        <a:graphic>
          <a:graphicData uri="http://schemas.openxmlformats.org/presentationml/2006/ole">
            <mc:AlternateContent xmlns:mc="http://schemas.openxmlformats.org/markup-compatibility/2006">
              <mc:Choice xmlns:v="urn:schemas-microsoft-com:vml" Requires="v">
                <p:oleObj spid="_x0000_s4108" name="Equation" r:id="rId3" imgW="584343" imgH="203508" progId="Equation.COEE2">
                  <p:embed/>
                </p:oleObj>
              </mc:Choice>
              <mc:Fallback>
                <p:oleObj name="Equation" r:id="rId3" imgW="584343" imgH="203508" progId="Equation.COEE2">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3962400"/>
                        <a:ext cx="19812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099" name="Object 5"/>
          <p:cNvGraphicFramePr>
            <a:graphicFrameLocks noChangeAspect="1"/>
          </p:cNvGraphicFramePr>
          <p:nvPr/>
        </p:nvGraphicFramePr>
        <p:xfrm>
          <a:off x="5181600" y="4572000"/>
          <a:ext cx="1752600" cy="1230313"/>
        </p:xfrm>
        <a:graphic>
          <a:graphicData uri="http://schemas.openxmlformats.org/presentationml/2006/ole">
            <mc:AlternateContent xmlns:mc="http://schemas.openxmlformats.org/markup-compatibility/2006">
              <mc:Choice xmlns:v="urn:schemas-microsoft-com:vml" Requires="v">
                <p:oleObj spid="_x0000_s4109" name="Equation" r:id="rId5" imgW="597297" imgH="419497" progId="Equation.COEE2">
                  <p:embed/>
                </p:oleObj>
              </mc:Choice>
              <mc:Fallback>
                <p:oleObj name="Equation" r:id="rId5" imgW="597297" imgH="419497" progId="Equation.COEE2">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1600" y="4572000"/>
                        <a:ext cx="1752600" cy="1230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atin typeface="Times New Roman" charset="0"/>
              </a:rPr>
              <a:t>Example: Sodium Measurements</a:t>
            </a:r>
          </a:p>
        </p:txBody>
      </p:sp>
      <p:sp>
        <p:nvSpPr>
          <p:cNvPr id="27651" name="Rectangle 3"/>
          <p:cNvSpPr>
            <a:spLocks noGrp="1" noChangeArrowheads="1"/>
          </p:cNvSpPr>
          <p:nvPr>
            <p:ph type="body" idx="1"/>
          </p:nvPr>
        </p:nvSpPr>
        <p:spPr>
          <a:xfrm>
            <a:off x="685800" y="1828800"/>
            <a:ext cx="7772400" cy="4572000"/>
          </a:xfrm>
          <a:solidFill>
            <a:schemeClr val="tx2"/>
          </a:solidFill>
          <a:ln w="38100">
            <a:solidFill>
              <a:schemeClr val="accent2"/>
            </a:solidFill>
            <a:miter lim="800000"/>
            <a:headEnd/>
            <a:tailEnd/>
          </a:ln>
        </p:spPr>
        <p:txBody>
          <a:bodyPr/>
          <a:lstStyle/>
          <a:p>
            <a:pPr eaLnBrk="1" hangingPunct="1"/>
            <a:r>
              <a:rPr lang="en-US">
                <a:solidFill>
                  <a:schemeClr val="bg2"/>
                </a:solidFill>
                <a:latin typeface="Times New Roman" charset="0"/>
              </a:rPr>
              <a:t>Standard deviation of sodium content 10 mg.</a:t>
            </a:r>
          </a:p>
          <a:p>
            <a:pPr eaLnBrk="1" hangingPunct="1"/>
            <a:r>
              <a:rPr lang="en-US">
                <a:solidFill>
                  <a:schemeClr val="bg2"/>
                </a:solidFill>
                <a:latin typeface="Times New Roman" charset="0"/>
              </a:rPr>
              <a:t>Measure 3 times and the mean of these 3 measurements is recorded.</a:t>
            </a:r>
          </a:p>
          <a:p>
            <a:pPr eaLnBrk="1" hangingPunct="1"/>
            <a:r>
              <a:rPr lang="en-US">
                <a:solidFill>
                  <a:schemeClr val="bg2"/>
                </a:solidFill>
                <a:latin typeface="Times New Roman" charset="0"/>
              </a:rPr>
              <a:t>What is the standard deviation of the mean result?</a:t>
            </a:r>
          </a:p>
          <a:p>
            <a:pPr eaLnBrk="1" hangingPunct="1"/>
            <a:r>
              <a:rPr lang="en-US">
                <a:solidFill>
                  <a:schemeClr val="bg2"/>
                </a:solidFill>
                <a:latin typeface="Times New Roman" charset="0"/>
              </a:rPr>
              <a:t>How many measurements are needed to get a standard deviation of the mean equal to 5?</a:t>
            </a:r>
          </a:p>
        </p:txBody>
      </p:sp>
    </p:spTree>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pPr eaLnBrk="1" hangingPunct="1"/>
            <a:r>
              <a:rPr lang="en-US">
                <a:latin typeface="Times New Roman" charset="0"/>
              </a:rPr>
              <a:t>Sampling Distribution of a Mean</a:t>
            </a:r>
          </a:p>
        </p:txBody>
      </p:sp>
      <p:sp>
        <p:nvSpPr>
          <p:cNvPr id="5124" name="Rectangle 3"/>
          <p:cNvSpPr>
            <a:spLocks noGrp="1" noChangeArrowheads="1"/>
          </p:cNvSpPr>
          <p:nvPr>
            <p:ph type="body" idx="1"/>
          </p:nvPr>
        </p:nvSpPr>
        <p:spPr>
          <a:solidFill>
            <a:schemeClr val="tx2"/>
          </a:solidFill>
          <a:ln w="38100">
            <a:solidFill>
              <a:schemeClr val="accent2"/>
            </a:solidFill>
            <a:miter lim="800000"/>
            <a:headEnd/>
            <a:tailEnd/>
          </a:ln>
        </p:spPr>
        <p:txBody>
          <a:bodyPr/>
          <a:lstStyle/>
          <a:p>
            <a:pPr eaLnBrk="1" hangingPunct="1"/>
            <a:r>
              <a:rPr lang="en-US">
                <a:solidFill>
                  <a:schemeClr val="bg2"/>
                </a:solidFill>
                <a:latin typeface="Times New Roman" charset="0"/>
              </a:rPr>
              <a:t>If  the distribution of the population is</a:t>
            </a:r>
            <a:br>
              <a:rPr lang="en-US">
                <a:solidFill>
                  <a:schemeClr val="bg2"/>
                </a:solidFill>
                <a:latin typeface="Times New Roman" charset="0"/>
              </a:rPr>
            </a:br>
            <a:r>
              <a:rPr lang="en-US">
                <a:solidFill>
                  <a:schemeClr val="bg2"/>
                </a:solidFill>
                <a:latin typeface="Times New Roman" charset="0"/>
              </a:rPr>
              <a:t>N(</a:t>
            </a:r>
            <a:r>
              <a:rPr lang="en-US" sz="2800">
                <a:solidFill>
                  <a:schemeClr val="bg2"/>
                </a:solidFill>
                <a:latin typeface="Times New Roman" charset="0"/>
                <a:sym typeface="Symbol" charset="0"/>
              </a:rPr>
              <a:t>, </a:t>
            </a:r>
            <a:r>
              <a:rPr lang="en-US">
                <a:solidFill>
                  <a:schemeClr val="bg2"/>
                </a:solidFill>
                <a:latin typeface="Times New Roman" charset="0"/>
              </a:rPr>
              <a:t>)</a:t>
            </a:r>
          </a:p>
          <a:p>
            <a:pPr eaLnBrk="1" hangingPunct="1"/>
            <a:r>
              <a:rPr lang="en-US">
                <a:solidFill>
                  <a:schemeClr val="bg2"/>
                </a:solidFill>
                <a:latin typeface="Times New Roman" charset="0"/>
              </a:rPr>
              <a:t>Then the sample mean of n independent observations has the distribution:</a:t>
            </a:r>
            <a:endParaRPr lang="en-US" sz="2800">
              <a:solidFill>
                <a:schemeClr val="bg2"/>
              </a:solidFill>
              <a:latin typeface="Times New Roman" charset="0"/>
              <a:sym typeface="Symbol" charset="0"/>
            </a:endParaRPr>
          </a:p>
        </p:txBody>
      </p:sp>
      <p:graphicFrame>
        <p:nvGraphicFramePr>
          <p:cNvPr id="5122" name="Object 4"/>
          <p:cNvGraphicFramePr>
            <a:graphicFrameLocks noChangeAspect="1"/>
          </p:cNvGraphicFramePr>
          <p:nvPr/>
        </p:nvGraphicFramePr>
        <p:xfrm>
          <a:off x="3581400" y="4343400"/>
          <a:ext cx="1981200" cy="1238250"/>
        </p:xfrm>
        <a:graphic>
          <a:graphicData uri="http://schemas.openxmlformats.org/presentationml/2006/ole">
            <mc:AlternateContent xmlns:mc="http://schemas.openxmlformats.org/markup-compatibility/2006">
              <mc:Choice xmlns:v="urn:schemas-microsoft-com:vml" Requires="v">
                <p:oleObj spid="_x0000_s5128" name="Equation" r:id="rId3" imgW="609600" imgH="381000" progId="Equation.3">
                  <p:embed/>
                </p:oleObj>
              </mc:Choice>
              <mc:Fallback>
                <p:oleObj name="Equation" r:id="rId3" imgW="609600" imgH="3810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4343400"/>
                        <a:ext cx="1981200" cy="123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9"/>
          <p:cNvSpPr>
            <a:spLocks noChangeArrowheads="1"/>
          </p:cNvSpPr>
          <p:nvPr/>
        </p:nvSpPr>
        <p:spPr bwMode="auto">
          <a:xfrm>
            <a:off x="304800" y="1905000"/>
            <a:ext cx="8534400" cy="4191000"/>
          </a:xfrm>
          <a:prstGeom prst="rect">
            <a:avLst/>
          </a:prstGeom>
          <a:solidFill>
            <a:schemeClr val="tx2"/>
          </a:solidFill>
          <a:ln w="38100">
            <a:solidFill>
              <a:schemeClr val="accent2"/>
            </a:solidFill>
            <a:miter lim="800000"/>
            <a:headEnd/>
            <a:tailEnd/>
          </a:ln>
        </p:spPr>
        <p:txBody>
          <a:bodyPr wrap="none" anchor="ctr"/>
          <a:lstStyle/>
          <a:p>
            <a:endParaRPr lang="en-US"/>
          </a:p>
        </p:txBody>
      </p:sp>
      <p:sp>
        <p:nvSpPr>
          <p:cNvPr id="28675" name="Rectangle 2"/>
          <p:cNvSpPr>
            <a:spLocks noGrp="1" noChangeArrowheads="1"/>
          </p:cNvSpPr>
          <p:nvPr>
            <p:ph type="title"/>
          </p:nvPr>
        </p:nvSpPr>
        <p:spPr/>
        <p:txBody>
          <a:bodyPr/>
          <a:lstStyle/>
          <a:p>
            <a:pPr eaLnBrk="1" hangingPunct="1"/>
            <a:r>
              <a:rPr lang="en-US">
                <a:latin typeface="Times New Roman" charset="0"/>
              </a:rPr>
              <a:t>Graphical Depiction</a:t>
            </a:r>
          </a:p>
        </p:txBody>
      </p:sp>
      <p:pic>
        <p:nvPicPr>
          <p:cNvPr id="2867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9013" y="2362200"/>
            <a:ext cx="204787"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4"/>
          <p:cNvGrpSpPr>
            <a:grpSpLocks/>
          </p:cNvGrpSpPr>
          <p:nvPr/>
        </p:nvGrpSpPr>
        <p:grpSpPr bwMode="auto">
          <a:xfrm>
            <a:off x="2286000" y="4572000"/>
            <a:ext cx="4267200" cy="1058863"/>
            <a:chOff x="1104" y="2793"/>
            <a:chExt cx="3392" cy="841"/>
          </a:xfrm>
        </p:grpSpPr>
        <p:sp>
          <p:nvSpPr>
            <p:cNvPr id="28697" name="Freeform 5"/>
            <p:cNvSpPr>
              <a:spLocks/>
            </p:cNvSpPr>
            <p:nvPr/>
          </p:nvSpPr>
          <p:spPr bwMode="auto">
            <a:xfrm>
              <a:off x="2823" y="2793"/>
              <a:ext cx="1673" cy="841"/>
            </a:xfrm>
            <a:custGeom>
              <a:avLst/>
              <a:gdLst>
                <a:gd name="T0" fmla="*/ 900 w 901"/>
                <a:gd name="T1" fmla="*/ 720 h 721"/>
                <a:gd name="T2" fmla="*/ 805 w 901"/>
                <a:gd name="T3" fmla="*/ 712 h 721"/>
                <a:gd name="T4" fmla="*/ 758 w 901"/>
                <a:gd name="T5" fmla="*/ 704 h 721"/>
                <a:gd name="T6" fmla="*/ 711 w 901"/>
                <a:gd name="T7" fmla="*/ 691 h 721"/>
                <a:gd name="T8" fmla="*/ 663 w 901"/>
                <a:gd name="T9" fmla="*/ 675 h 721"/>
                <a:gd name="T10" fmla="*/ 615 w 901"/>
                <a:gd name="T11" fmla="*/ 653 h 721"/>
                <a:gd name="T12" fmla="*/ 568 w 901"/>
                <a:gd name="T13" fmla="*/ 623 h 721"/>
                <a:gd name="T14" fmla="*/ 473 w 901"/>
                <a:gd name="T15" fmla="*/ 540 h 721"/>
                <a:gd name="T16" fmla="*/ 378 w 901"/>
                <a:gd name="T17" fmla="*/ 422 h 721"/>
                <a:gd name="T18" fmla="*/ 284 w 901"/>
                <a:gd name="T19" fmla="*/ 281 h 721"/>
                <a:gd name="T20" fmla="*/ 236 w 901"/>
                <a:gd name="T21" fmla="*/ 209 h 721"/>
                <a:gd name="T22" fmla="*/ 189 w 901"/>
                <a:gd name="T23" fmla="*/ 142 h 721"/>
                <a:gd name="T24" fmla="*/ 142 w 901"/>
                <a:gd name="T25" fmla="*/ 83 h 721"/>
                <a:gd name="T26" fmla="*/ 94 w 901"/>
                <a:gd name="T27" fmla="*/ 38 h 721"/>
                <a:gd name="T28" fmla="*/ 47 w 901"/>
                <a:gd name="T29" fmla="*/ 9 h 721"/>
                <a:gd name="T30" fmla="*/ 0 w 901"/>
                <a:gd name="T31" fmla="*/ 0 h 7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01"/>
                <a:gd name="T49" fmla="*/ 0 h 721"/>
                <a:gd name="T50" fmla="*/ 901 w 901"/>
                <a:gd name="T51" fmla="*/ 721 h 7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01" h="721">
                  <a:moveTo>
                    <a:pt x="900" y="720"/>
                  </a:moveTo>
                  <a:lnTo>
                    <a:pt x="805" y="712"/>
                  </a:lnTo>
                  <a:lnTo>
                    <a:pt x="758" y="704"/>
                  </a:lnTo>
                  <a:lnTo>
                    <a:pt x="711" y="691"/>
                  </a:lnTo>
                  <a:lnTo>
                    <a:pt x="663" y="675"/>
                  </a:lnTo>
                  <a:lnTo>
                    <a:pt x="615" y="653"/>
                  </a:lnTo>
                  <a:lnTo>
                    <a:pt x="568" y="623"/>
                  </a:lnTo>
                  <a:lnTo>
                    <a:pt x="473" y="540"/>
                  </a:lnTo>
                  <a:lnTo>
                    <a:pt x="378" y="422"/>
                  </a:lnTo>
                  <a:lnTo>
                    <a:pt x="284" y="281"/>
                  </a:lnTo>
                  <a:lnTo>
                    <a:pt x="236" y="209"/>
                  </a:lnTo>
                  <a:lnTo>
                    <a:pt x="189" y="142"/>
                  </a:lnTo>
                  <a:lnTo>
                    <a:pt x="142" y="83"/>
                  </a:lnTo>
                  <a:lnTo>
                    <a:pt x="94" y="38"/>
                  </a:lnTo>
                  <a:lnTo>
                    <a:pt x="47" y="9"/>
                  </a:lnTo>
                  <a:lnTo>
                    <a:pt x="0" y="0"/>
                  </a:lnTo>
                </a:path>
              </a:pathLst>
            </a:custGeom>
            <a:noFill/>
            <a:ln w="50800" cap="rnd">
              <a:solidFill>
                <a:srgbClr val="003366"/>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698" name="Freeform 6"/>
            <p:cNvSpPr>
              <a:spLocks/>
            </p:cNvSpPr>
            <p:nvPr/>
          </p:nvSpPr>
          <p:spPr bwMode="auto">
            <a:xfrm>
              <a:off x="1104" y="2793"/>
              <a:ext cx="1719" cy="840"/>
            </a:xfrm>
            <a:custGeom>
              <a:avLst/>
              <a:gdLst>
                <a:gd name="T0" fmla="*/ 0 w 901"/>
                <a:gd name="T1" fmla="*/ 720 h 721"/>
                <a:gd name="T2" fmla="*/ 95 w 901"/>
                <a:gd name="T3" fmla="*/ 712 h 721"/>
                <a:gd name="T4" fmla="*/ 142 w 901"/>
                <a:gd name="T5" fmla="*/ 704 h 721"/>
                <a:gd name="T6" fmla="*/ 189 w 901"/>
                <a:gd name="T7" fmla="*/ 691 h 721"/>
                <a:gd name="T8" fmla="*/ 237 w 901"/>
                <a:gd name="T9" fmla="*/ 675 h 721"/>
                <a:gd name="T10" fmla="*/ 284 w 901"/>
                <a:gd name="T11" fmla="*/ 653 h 721"/>
                <a:gd name="T12" fmla="*/ 331 w 901"/>
                <a:gd name="T13" fmla="*/ 623 h 721"/>
                <a:gd name="T14" fmla="*/ 426 w 901"/>
                <a:gd name="T15" fmla="*/ 540 h 721"/>
                <a:gd name="T16" fmla="*/ 521 w 901"/>
                <a:gd name="T17" fmla="*/ 422 h 721"/>
                <a:gd name="T18" fmla="*/ 616 w 901"/>
                <a:gd name="T19" fmla="*/ 281 h 721"/>
                <a:gd name="T20" fmla="*/ 663 w 901"/>
                <a:gd name="T21" fmla="*/ 209 h 721"/>
                <a:gd name="T22" fmla="*/ 710 w 901"/>
                <a:gd name="T23" fmla="*/ 142 h 721"/>
                <a:gd name="T24" fmla="*/ 757 w 901"/>
                <a:gd name="T25" fmla="*/ 83 h 721"/>
                <a:gd name="T26" fmla="*/ 805 w 901"/>
                <a:gd name="T27" fmla="*/ 38 h 721"/>
                <a:gd name="T28" fmla="*/ 852 w 901"/>
                <a:gd name="T29" fmla="*/ 9 h 721"/>
                <a:gd name="T30" fmla="*/ 900 w 901"/>
                <a:gd name="T31" fmla="*/ 0 h 7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01"/>
                <a:gd name="T49" fmla="*/ 0 h 721"/>
                <a:gd name="T50" fmla="*/ 901 w 901"/>
                <a:gd name="T51" fmla="*/ 721 h 7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01" h="721">
                  <a:moveTo>
                    <a:pt x="0" y="720"/>
                  </a:moveTo>
                  <a:lnTo>
                    <a:pt x="95" y="712"/>
                  </a:lnTo>
                  <a:lnTo>
                    <a:pt x="142" y="704"/>
                  </a:lnTo>
                  <a:lnTo>
                    <a:pt x="189" y="691"/>
                  </a:lnTo>
                  <a:lnTo>
                    <a:pt x="237" y="675"/>
                  </a:lnTo>
                  <a:lnTo>
                    <a:pt x="284" y="653"/>
                  </a:lnTo>
                  <a:lnTo>
                    <a:pt x="331" y="623"/>
                  </a:lnTo>
                  <a:lnTo>
                    <a:pt x="426" y="540"/>
                  </a:lnTo>
                  <a:lnTo>
                    <a:pt x="521" y="422"/>
                  </a:lnTo>
                  <a:lnTo>
                    <a:pt x="616" y="281"/>
                  </a:lnTo>
                  <a:lnTo>
                    <a:pt x="663" y="209"/>
                  </a:lnTo>
                  <a:lnTo>
                    <a:pt x="710" y="142"/>
                  </a:lnTo>
                  <a:lnTo>
                    <a:pt x="757" y="83"/>
                  </a:lnTo>
                  <a:lnTo>
                    <a:pt x="805" y="38"/>
                  </a:lnTo>
                  <a:lnTo>
                    <a:pt x="852" y="9"/>
                  </a:lnTo>
                  <a:lnTo>
                    <a:pt x="900" y="0"/>
                  </a:lnTo>
                </a:path>
              </a:pathLst>
            </a:custGeom>
            <a:noFill/>
            <a:ln w="50800" cap="rnd">
              <a:solidFill>
                <a:srgbClr val="003366"/>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 name="Group 7"/>
          <p:cNvGrpSpPr>
            <a:grpSpLocks/>
          </p:cNvGrpSpPr>
          <p:nvPr/>
        </p:nvGrpSpPr>
        <p:grpSpPr bwMode="auto">
          <a:xfrm>
            <a:off x="2819400" y="3886200"/>
            <a:ext cx="3200400" cy="1744663"/>
            <a:chOff x="1104" y="2793"/>
            <a:chExt cx="3392" cy="841"/>
          </a:xfrm>
        </p:grpSpPr>
        <p:sp>
          <p:nvSpPr>
            <p:cNvPr id="28695" name="Freeform 8"/>
            <p:cNvSpPr>
              <a:spLocks/>
            </p:cNvSpPr>
            <p:nvPr/>
          </p:nvSpPr>
          <p:spPr bwMode="auto">
            <a:xfrm>
              <a:off x="2823" y="2793"/>
              <a:ext cx="1673" cy="841"/>
            </a:xfrm>
            <a:custGeom>
              <a:avLst/>
              <a:gdLst>
                <a:gd name="T0" fmla="*/ 900 w 901"/>
                <a:gd name="T1" fmla="*/ 720 h 721"/>
                <a:gd name="T2" fmla="*/ 805 w 901"/>
                <a:gd name="T3" fmla="*/ 712 h 721"/>
                <a:gd name="T4" fmla="*/ 758 w 901"/>
                <a:gd name="T5" fmla="*/ 704 h 721"/>
                <a:gd name="T6" fmla="*/ 711 w 901"/>
                <a:gd name="T7" fmla="*/ 691 h 721"/>
                <a:gd name="T8" fmla="*/ 663 w 901"/>
                <a:gd name="T9" fmla="*/ 675 h 721"/>
                <a:gd name="T10" fmla="*/ 615 w 901"/>
                <a:gd name="T11" fmla="*/ 653 h 721"/>
                <a:gd name="T12" fmla="*/ 568 w 901"/>
                <a:gd name="T13" fmla="*/ 623 h 721"/>
                <a:gd name="T14" fmla="*/ 473 w 901"/>
                <a:gd name="T15" fmla="*/ 540 h 721"/>
                <a:gd name="T16" fmla="*/ 378 w 901"/>
                <a:gd name="T17" fmla="*/ 422 h 721"/>
                <a:gd name="T18" fmla="*/ 284 w 901"/>
                <a:gd name="T19" fmla="*/ 281 h 721"/>
                <a:gd name="T20" fmla="*/ 236 w 901"/>
                <a:gd name="T21" fmla="*/ 209 h 721"/>
                <a:gd name="T22" fmla="*/ 189 w 901"/>
                <a:gd name="T23" fmla="*/ 142 h 721"/>
                <a:gd name="T24" fmla="*/ 142 w 901"/>
                <a:gd name="T25" fmla="*/ 83 h 721"/>
                <a:gd name="T26" fmla="*/ 94 w 901"/>
                <a:gd name="T27" fmla="*/ 38 h 721"/>
                <a:gd name="T28" fmla="*/ 47 w 901"/>
                <a:gd name="T29" fmla="*/ 9 h 721"/>
                <a:gd name="T30" fmla="*/ 0 w 901"/>
                <a:gd name="T31" fmla="*/ 0 h 7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01"/>
                <a:gd name="T49" fmla="*/ 0 h 721"/>
                <a:gd name="T50" fmla="*/ 901 w 901"/>
                <a:gd name="T51" fmla="*/ 721 h 7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01" h="721">
                  <a:moveTo>
                    <a:pt x="900" y="720"/>
                  </a:moveTo>
                  <a:lnTo>
                    <a:pt x="805" y="712"/>
                  </a:lnTo>
                  <a:lnTo>
                    <a:pt x="758" y="704"/>
                  </a:lnTo>
                  <a:lnTo>
                    <a:pt x="711" y="691"/>
                  </a:lnTo>
                  <a:lnTo>
                    <a:pt x="663" y="675"/>
                  </a:lnTo>
                  <a:lnTo>
                    <a:pt x="615" y="653"/>
                  </a:lnTo>
                  <a:lnTo>
                    <a:pt x="568" y="623"/>
                  </a:lnTo>
                  <a:lnTo>
                    <a:pt x="473" y="540"/>
                  </a:lnTo>
                  <a:lnTo>
                    <a:pt x="378" y="422"/>
                  </a:lnTo>
                  <a:lnTo>
                    <a:pt x="284" y="281"/>
                  </a:lnTo>
                  <a:lnTo>
                    <a:pt x="236" y="209"/>
                  </a:lnTo>
                  <a:lnTo>
                    <a:pt x="189" y="142"/>
                  </a:lnTo>
                  <a:lnTo>
                    <a:pt x="142" y="83"/>
                  </a:lnTo>
                  <a:lnTo>
                    <a:pt x="94" y="38"/>
                  </a:lnTo>
                  <a:lnTo>
                    <a:pt x="47" y="9"/>
                  </a:lnTo>
                  <a:lnTo>
                    <a:pt x="0" y="0"/>
                  </a:lnTo>
                </a:path>
              </a:pathLst>
            </a:custGeom>
            <a:noFill/>
            <a:ln w="50800" cap="rnd">
              <a:solidFill>
                <a:srgbClr val="003366"/>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696" name="Freeform 9"/>
            <p:cNvSpPr>
              <a:spLocks/>
            </p:cNvSpPr>
            <p:nvPr/>
          </p:nvSpPr>
          <p:spPr bwMode="auto">
            <a:xfrm>
              <a:off x="1104" y="2793"/>
              <a:ext cx="1719" cy="840"/>
            </a:xfrm>
            <a:custGeom>
              <a:avLst/>
              <a:gdLst>
                <a:gd name="T0" fmla="*/ 0 w 901"/>
                <a:gd name="T1" fmla="*/ 720 h 721"/>
                <a:gd name="T2" fmla="*/ 95 w 901"/>
                <a:gd name="T3" fmla="*/ 712 h 721"/>
                <a:gd name="T4" fmla="*/ 142 w 901"/>
                <a:gd name="T5" fmla="*/ 704 h 721"/>
                <a:gd name="T6" fmla="*/ 189 w 901"/>
                <a:gd name="T7" fmla="*/ 691 h 721"/>
                <a:gd name="T8" fmla="*/ 237 w 901"/>
                <a:gd name="T9" fmla="*/ 675 h 721"/>
                <a:gd name="T10" fmla="*/ 284 w 901"/>
                <a:gd name="T11" fmla="*/ 653 h 721"/>
                <a:gd name="T12" fmla="*/ 331 w 901"/>
                <a:gd name="T13" fmla="*/ 623 h 721"/>
                <a:gd name="T14" fmla="*/ 426 w 901"/>
                <a:gd name="T15" fmla="*/ 540 h 721"/>
                <a:gd name="T16" fmla="*/ 521 w 901"/>
                <a:gd name="T17" fmla="*/ 422 h 721"/>
                <a:gd name="T18" fmla="*/ 616 w 901"/>
                <a:gd name="T19" fmla="*/ 281 h 721"/>
                <a:gd name="T20" fmla="*/ 663 w 901"/>
                <a:gd name="T21" fmla="*/ 209 h 721"/>
                <a:gd name="T22" fmla="*/ 710 w 901"/>
                <a:gd name="T23" fmla="*/ 142 h 721"/>
                <a:gd name="T24" fmla="*/ 757 w 901"/>
                <a:gd name="T25" fmla="*/ 83 h 721"/>
                <a:gd name="T26" fmla="*/ 805 w 901"/>
                <a:gd name="T27" fmla="*/ 38 h 721"/>
                <a:gd name="T28" fmla="*/ 852 w 901"/>
                <a:gd name="T29" fmla="*/ 9 h 721"/>
                <a:gd name="T30" fmla="*/ 900 w 901"/>
                <a:gd name="T31" fmla="*/ 0 h 7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01"/>
                <a:gd name="T49" fmla="*/ 0 h 721"/>
                <a:gd name="T50" fmla="*/ 901 w 901"/>
                <a:gd name="T51" fmla="*/ 721 h 7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01" h="721">
                  <a:moveTo>
                    <a:pt x="0" y="720"/>
                  </a:moveTo>
                  <a:lnTo>
                    <a:pt x="95" y="712"/>
                  </a:lnTo>
                  <a:lnTo>
                    <a:pt x="142" y="704"/>
                  </a:lnTo>
                  <a:lnTo>
                    <a:pt x="189" y="691"/>
                  </a:lnTo>
                  <a:lnTo>
                    <a:pt x="237" y="675"/>
                  </a:lnTo>
                  <a:lnTo>
                    <a:pt x="284" y="653"/>
                  </a:lnTo>
                  <a:lnTo>
                    <a:pt x="331" y="623"/>
                  </a:lnTo>
                  <a:lnTo>
                    <a:pt x="426" y="540"/>
                  </a:lnTo>
                  <a:lnTo>
                    <a:pt x="521" y="422"/>
                  </a:lnTo>
                  <a:lnTo>
                    <a:pt x="616" y="281"/>
                  </a:lnTo>
                  <a:lnTo>
                    <a:pt x="663" y="209"/>
                  </a:lnTo>
                  <a:lnTo>
                    <a:pt x="710" y="142"/>
                  </a:lnTo>
                  <a:lnTo>
                    <a:pt x="757" y="83"/>
                  </a:lnTo>
                  <a:lnTo>
                    <a:pt x="805" y="38"/>
                  </a:lnTo>
                  <a:lnTo>
                    <a:pt x="852" y="9"/>
                  </a:lnTo>
                  <a:lnTo>
                    <a:pt x="900" y="0"/>
                  </a:lnTo>
                </a:path>
              </a:pathLst>
            </a:custGeom>
            <a:noFill/>
            <a:ln w="50800" cap="rnd">
              <a:solidFill>
                <a:srgbClr val="003366"/>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 name="Group 10"/>
          <p:cNvGrpSpPr>
            <a:grpSpLocks/>
          </p:cNvGrpSpPr>
          <p:nvPr/>
        </p:nvGrpSpPr>
        <p:grpSpPr bwMode="auto">
          <a:xfrm>
            <a:off x="3352800" y="3352800"/>
            <a:ext cx="2133600" cy="2278063"/>
            <a:chOff x="1104" y="2793"/>
            <a:chExt cx="3392" cy="841"/>
          </a:xfrm>
        </p:grpSpPr>
        <p:sp>
          <p:nvSpPr>
            <p:cNvPr id="28693" name="Freeform 11"/>
            <p:cNvSpPr>
              <a:spLocks/>
            </p:cNvSpPr>
            <p:nvPr/>
          </p:nvSpPr>
          <p:spPr bwMode="auto">
            <a:xfrm>
              <a:off x="2823" y="2793"/>
              <a:ext cx="1673" cy="841"/>
            </a:xfrm>
            <a:custGeom>
              <a:avLst/>
              <a:gdLst>
                <a:gd name="T0" fmla="*/ 900 w 901"/>
                <a:gd name="T1" fmla="*/ 720 h 721"/>
                <a:gd name="T2" fmla="*/ 805 w 901"/>
                <a:gd name="T3" fmla="*/ 712 h 721"/>
                <a:gd name="T4" fmla="*/ 758 w 901"/>
                <a:gd name="T5" fmla="*/ 704 h 721"/>
                <a:gd name="T6" fmla="*/ 711 w 901"/>
                <a:gd name="T7" fmla="*/ 691 h 721"/>
                <a:gd name="T8" fmla="*/ 663 w 901"/>
                <a:gd name="T9" fmla="*/ 675 h 721"/>
                <a:gd name="T10" fmla="*/ 615 w 901"/>
                <a:gd name="T11" fmla="*/ 653 h 721"/>
                <a:gd name="T12" fmla="*/ 568 w 901"/>
                <a:gd name="T13" fmla="*/ 623 h 721"/>
                <a:gd name="T14" fmla="*/ 473 w 901"/>
                <a:gd name="T15" fmla="*/ 540 h 721"/>
                <a:gd name="T16" fmla="*/ 378 w 901"/>
                <a:gd name="T17" fmla="*/ 422 h 721"/>
                <a:gd name="T18" fmla="*/ 284 w 901"/>
                <a:gd name="T19" fmla="*/ 281 h 721"/>
                <a:gd name="T20" fmla="*/ 236 w 901"/>
                <a:gd name="T21" fmla="*/ 209 h 721"/>
                <a:gd name="T22" fmla="*/ 189 w 901"/>
                <a:gd name="T23" fmla="*/ 142 h 721"/>
                <a:gd name="T24" fmla="*/ 142 w 901"/>
                <a:gd name="T25" fmla="*/ 83 h 721"/>
                <a:gd name="T26" fmla="*/ 94 w 901"/>
                <a:gd name="T27" fmla="*/ 38 h 721"/>
                <a:gd name="T28" fmla="*/ 47 w 901"/>
                <a:gd name="T29" fmla="*/ 9 h 721"/>
                <a:gd name="T30" fmla="*/ 0 w 901"/>
                <a:gd name="T31" fmla="*/ 0 h 7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01"/>
                <a:gd name="T49" fmla="*/ 0 h 721"/>
                <a:gd name="T50" fmla="*/ 901 w 901"/>
                <a:gd name="T51" fmla="*/ 721 h 7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01" h="721">
                  <a:moveTo>
                    <a:pt x="900" y="720"/>
                  </a:moveTo>
                  <a:lnTo>
                    <a:pt x="805" y="712"/>
                  </a:lnTo>
                  <a:lnTo>
                    <a:pt x="758" y="704"/>
                  </a:lnTo>
                  <a:lnTo>
                    <a:pt x="711" y="691"/>
                  </a:lnTo>
                  <a:lnTo>
                    <a:pt x="663" y="675"/>
                  </a:lnTo>
                  <a:lnTo>
                    <a:pt x="615" y="653"/>
                  </a:lnTo>
                  <a:lnTo>
                    <a:pt x="568" y="623"/>
                  </a:lnTo>
                  <a:lnTo>
                    <a:pt x="473" y="540"/>
                  </a:lnTo>
                  <a:lnTo>
                    <a:pt x="378" y="422"/>
                  </a:lnTo>
                  <a:lnTo>
                    <a:pt x="284" y="281"/>
                  </a:lnTo>
                  <a:lnTo>
                    <a:pt x="236" y="209"/>
                  </a:lnTo>
                  <a:lnTo>
                    <a:pt x="189" y="142"/>
                  </a:lnTo>
                  <a:lnTo>
                    <a:pt x="142" y="83"/>
                  </a:lnTo>
                  <a:lnTo>
                    <a:pt x="94" y="38"/>
                  </a:lnTo>
                  <a:lnTo>
                    <a:pt x="47" y="9"/>
                  </a:lnTo>
                  <a:lnTo>
                    <a:pt x="0" y="0"/>
                  </a:lnTo>
                </a:path>
              </a:pathLst>
            </a:custGeom>
            <a:noFill/>
            <a:ln w="50800" cap="rnd">
              <a:solidFill>
                <a:srgbClr val="003366"/>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694" name="Freeform 12"/>
            <p:cNvSpPr>
              <a:spLocks/>
            </p:cNvSpPr>
            <p:nvPr/>
          </p:nvSpPr>
          <p:spPr bwMode="auto">
            <a:xfrm>
              <a:off x="1104" y="2793"/>
              <a:ext cx="1719" cy="840"/>
            </a:xfrm>
            <a:custGeom>
              <a:avLst/>
              <a:gdLst>
                <a:gd name="T0" fmla="*/ 0 w 901"/>
                <a:gd name="T1" fmla="*/ 720 h 721"/>
                <a:gd name="T2" fmla="*/ 95 w 901"/>
                <a:gd name="T3" fmla="*/ 712 h 721"/>
                <a:gd name="T4" fmla="*/ 142 w 901"/>
                <a:gd name="T5" fmla="*/ 704 h 721"/>
                <a:gd name="T6" fmla="*/ 189 w 901"/>
                <a:gd name="T7" fmla="*/ 691 h 721"/>
                <a:gd name="T8" fmla="*/ 237 w 901"/>
                <a:gd name="T9" fmla="*/ 675 h 721"/>
                <a:gd name="T10" fmla="*/ 284 w 901"/>
                <a:gd name="T11" fmla="*/ 653 h 721"/>
                <a:gd name="T12" fmla="*/ 331 w 901"/>
                <a:gd name="T13" fmla="*/ 623 h 721"/>
                <a:gd name="T14" fmla="*/ 426 w 901"/>
                <a:gd name="T15" fmla="*/ 540 h 721"/>
                <a:gd name="T16" fmla="*/ 521 w 901"/>
                <a:gd name="T17" fmla="*/ 422 h 721"/>
                <a:gd name="T18" fmla="*/ 616 w 901"/>
                <a:gd name="T19" fmla="*/ 281 h 721"/>
                <a:gd name="T20" fmla="*/ 663 w 901"/>
                <a:gd name="T21" fmla="*/ 209 h 721"/>
                <a:gd name="T22" fmla="*/ 710 w 901"/>
                <a:gd name="T23" fmla="*/ 142 h 721"/>
                <a:gd name="T24" fmla="*/ 757 w 901"/>
                <a:gd name="T25" fmla="*/ 83 h 721"/>
                <a:gd name="T26" fmla="*/ 805 w 901"/>
                <a:gd name="T27" fmla="*/ 38 h 721"/>
                <a:gd name="T28" fmla="*/ 852 w 901"/>
                <a:gd name="T29" fmla="*/ 9 h 721"/>
                <a:gd name="T30" fmla="*/ 900 w 901"/>
                <a:gd name="T31" fmla="*/ 0 h 7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01"/>
                <a:gd name="T49" fmla="*/ 0 h 721"/>
                <a:gd name="T50" fmla="*/ 901 w 901"/>
                <a:gd name="T51" fmla="*/ 721 h 7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01" h="721">
                  <a:moveTo>
                    <a:pt x="0" y="720"/>
                  </a:moveTo>
                  <a:lnTo>
                    <a:pt x="95" y="712"/>
                  </a:lnTo>
                  <a:lnTo>
                    <a:pt x="142" y="704"/>
                  </a:lnTo>
                  <a:lnTo>
                    <a:pt x="189" y="691"/>
                  </a:lnTo>
                  <a:lnTo>
                    <a:pt x="237" y="675"/>
                  </a:lnTo>
                  <a:lnTo>
                    <a:pt x="284" y="653"/>
                  </a:lnTo>
                  <a:lnTo>
                    <a:pt x="331" y="623"/>
                  </a:lnTo>
                  <a:lnTo>
                    <a:pt x="426" y="540"/>
                  </a:lnTo>
                  <a:lnTo>
                    <a:pt x="521" y="422"/>
                  </a:lnTo>
                  <a:lnTo>
                    <a:pt x="616" y="281"/>
                  </a:lnTo>
                  <a:lnTo>
                    <a:pt x="663" y="209"/>
                  </a:lnTo>
                  <a:lnTo>
                    <a:pt x="710" y="142"/>
                  </a:lnTo>
                  <a:lnTo>
                    <a:pt x="757" y="83"/>
                  </a:lnTo>
                  <a:lnTo>
                    <a:pt x="805" y="38"/>
                  </a:lnTo>
                  <a:lnTo>
                    <a:pt x="852" y="9"/>
                  </a:lnTo>
                  <a:lnTo>
                    <a:pt x="900" y="0"/>
                  </a:lnTo>
                </a:path>
              </a:pathLst>
            </a:custGeom>
            <a:noFill/>
            <a:ln w="50800" cap="rnd">
              <a:solidFill>
                <a:srgbClr val="003366"/>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8680" name="Line 13"/>
          <p:cNvSpPr>
            <a:spLocks noChangeShapeType="1"/>
          </p:cNvSpPr>
          <p:nvPr/>
        </p:nvSpPr>
        <p:spPr bwMode="auto">
          <a:xfrm>
            <a:off x="381000" y="5638800"/>
            <a:ext cx="830580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5" name="Group 14"/>
          <p:cNvGrpSpPr>
            <a:grpSpLocks/>
          </p:cNvGrpSpPr>
          <p:nvPr/>
        </p:nvGrpSpPr>
        <p:grpSpPr bwMode="auto">
          <a:xfrm>
            <a:off x="3695700" y="2971800"/>
            <a:ext cx="1447800" cy="2659063"/>
            <a:chOff x="1104" y="2793"/>
            <a:chExt cx="3392" cy="841"/>
          </a:xfrm>
        </p:grpSpPr>
        <p:sp>
          <p:nvSpPr>
            <p:cNvPr id="28691" name="Freeform 15"/>
            <p:cNvSpPr>
              <a:spLocks/>
            </p:cNvSpPr>
            <p:nvPr/>
          </p:nvSpPr>
          <p:spPr bwMode="auto">
            <a:xfrm>
              <a:off x="2823" y="2793"/>
              <a:ext cx="1673" cy="841"/>
            </a:xfrm>
            <a:custGeom>
              <a:avLst/>
              <a:gdLst>
                <a:gd name="T0" fmla="*/ 900 w 901"/>
                <a:gd name="T1" fmla="*/ 720 h 721"/>
                <a:gd name="T2" fmla="*/ 805 w 901"/>
                <a:gd name="T3" fmla="*/ 712 h 721"/>
                <a:gd name="T4" fmla="*/ 758 w 901"/>
                <a:gd name="T5" fmla="*/ 704 h 721"/>
                <a:gd name="T6" fmla="*/ 711 w 901"/>
                <a:gd name="T7" fmla="*/ 691 h 721"/>
                <a:gd name="T8" fmla="*/ 663 w 901"/>
                <a:gd name="T9" fmla="*/ 675 h 721"/>
                <a:gd name="T10" fmla="*/ 615 w 901"/>
                <a:gd name="T11" fmla="*/ 653 h 721"/>
                <a:gd name="T12" fmla="*/ 568 w 901"/>
                <a:gd name="T13" fmla="*/ 623 h 721"/>
                <a:gd name="T14" fmla="*/ 473 w 901"/>
                <a:gd name="T15" fmla="*/ 540 h 721"/>
                <a:gd name="T16" fmla="*/ 378 w 901"/>
                <a:gd name="T17" fmla="*/ 422 h 721"/>
                <a:gd name="T18" fmla="*/ 284 w 901"/>
                <a:gd name="T19" fmla="*/ 281 h 721"/>
                <a:gd name="T20" fmla="*/ 236 w 901"/>
                <a:gd name="T21" fmla="*/ 209 h 721"/>
                <a:gd name="T22" fmla="*/ 189 w 901"/>
                <a:gd name="T23" fmla="*/ 142 h 721"/>
                <a:gd name="T24" fmla="*/ 142 w 901"/>
                <a:gd name="T25" fmla="*/ 83 h 721"/>
                <a:gd name="T26" fmla="*/ 94 w 901"/>
                <a:gd name="T27" fmla="*/ 38 h 721"/>
                <a:gd name="T28" fmla="*/ 47 w 901"/>
                <a:gd name="T29" fmla="*/ 9 h 721"/>
                <a:gd name="T30" fmla="*/ 0 w 901"/>
                <a:gd name="T31" fmla="*/ 0 h 7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01"/>
                <a:gd name="T49" fmla="*/ 0 h 721"/>
                <a:gd name="T50" fmla="*/ 901 w 901"/>
                <a:gd name="T51" fmla="*/ 721 h 7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01" h="721">
                  <a:moveTo>
                    <a:pt x="900" y="720"/>
                  </a:moveTo>
                  <a:lnTo>
                    <a:pt x="805" y="712"/>
                  </a:lnTo>
                  <a:lnTo>
                    <a:pt x="758" y="704"/>
                  </a:lnTo>
                  <a:lnTo>
                    <a:pt x="711" y="691"/>
                  </a:lnTo>
                  <a:lnTo>
                    <a:pt x="663" y="675"/>
                  </a:lnTo>
                  <a:lnTo>
                    <a:pt x="615" y="653"/>
                  </a:lnTo>
                  <a:lnTo>
                    <a:pt x="568" y="623"/>
                  </a:lnTo>
                  <a:lnTo>
                    <a:pt x="473" y="540"/>
                  </a:lnTo>
                  <a:lnTo>
                    <a:pt x="378" y="422"/>
                  </a:lnTo>
                  <a:lnTo>
                    <a:pt x="284" y="281"/>
                  </a:lnTo>
                  <a:lnTo>
                    <a:pt x="236" y="209"/>
                  </a:lnTo>
                  <a:lnTo>
                    <a:pt x="189" y="142"/>
                  </a:lnTo>
                  <a:lnTo>
                    <a:pt x="142" y="83"/>
                  </a:lnTo>
                  <a:lnTo>
                    <a:pt x="94" y="38"/>
                  </a:lnTo>
                  <a:lnTo>
                    <a:pt x="47" y="9"/>
                  </a:lnTo>
                  <a:lnTo>
                    <a:pt x="0" y="0"/>
                  </a:lnTo>
                </a:path>
              </a:pathLst>
            </a:custGeom>
            <a:noFill/>
            <a:ln w="50800" cap="rnd">
              <a:solidFill>
                <a:srgbClr val="003366"/>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692" name="Freeform 16"/>
            <p:cNvSpPr>
              <a:spLocks/>
            </p:cNvSpPr>
            <p:nvPr/>
          </p:nvSpPr>
          <p:spPr bwMode="auto">
            <a:xfrm>
              <a:off x="1104" y="2793"/>
              <a:ext cx="1719" cy="840"/>
            </a:xfrm>
            <a:custGeom>
              <a:avLst/>
              <a:gdLst>
                <a:gd name="T0" fmla="*/ 0 w 901"/>
                <a:gd name="T1" fmla="*/ 720 h 721"/>
                <a:gd name="T2" fmla="*/ 95 w 901"/>
                <a:gd name="T3" fmla="*/ 712 h 721"/>
                <a:gd name="T4" fmla="*/ 142 w 901"/>
                <a:gd name="T5" fmla="*/ 704 h 721"/>
                <a:gd name="T6" fmla="*/ 189 w 901"/>
                <a:gd name="T7" fmla="*/ 691 h 721"/>
                <a:gd name="T8" fmla="*/ 237 w 901"/>
                <a:gd name="T9" fmla="*/ 675 h 721"/>
                <a:gd name="T10" fmla="*/ 284 w 901"/>
                <a:gd name="T11" fmla="*/ 653 h 721"/>
                <a:gd name="T12" fmla="*/ 331 w 901"/>
                <a:gd name="T13" fmla="*/ 623 h 721"/>
                <a:gd name="T14" fmla="*/ 426 w 901"/>
                <a:gd name="T15" fmla="*/ 540 h 721"/>
                <a:gd name="T16" fmla="*/ 521 w 901"/>
                <a:gd name="T17" fmla="*/ 422 h 721"/>
                <a:gd name="T18" fmla="*/ 616 w 901"/>
                <a:gd name="T19" fmla="*/ 281 h 721"/>
                <a:gd name="T20" fmla="*/ 663 w 901"/>
                <a:gd name="T21" fmla="*/ 209 h 721"/>
                <a:gd name="T22" fmla="*/ 710 w 901"/>
                <a:gd name="T23" fmla="*/ 142 h 721"/>
                <a:gd name="T24" fmla="*/ 757 w 901"/>
                <a:gd name="T25" fmla="*/ 83 h 721"/>
                <a:gd name="T26" fmla="*/ 805 w 901"/>
                <a:gd name="T27" fmla="*/ 38 h 721"/>
                <a:gd name="T28" fmla="*/ 852 w 901"/>
                <a:gd name="T29" fmla="*/ 9 h 721"/>
                <a:gd name="T30" fmla="*/ 900 w 901"/>
                <a:gd name="T31" fmla="*/ 0 h 7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01"/>
                <a:gd name="T49" fmla="*/ 0 h 721"/>
                <a:gd name="T50" fmla="*/ 901 w 901"/>
                <a:gd name="T51" fmla="*/ 721 h 7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01" h="721">
                  <a:moveTo>
                    <a:pt x="0" y="720"/>
                  </a:moveTo>
                  <a:lnTo>
                    <a:pt x="95" y="712"/>
                  </a:lnTo>
                  <a:lnTo>
                    <a:pt x="142" y="704"/>
                  </a:lnTo>
                  <a:lnTo>
                    <a:pt x="189" y="691"/>
                  </a:lnTo>
                  <a:lnTo>
                    <a:pt x="237" y="675"/>
                  </a:lnTo>
                  <a:lnTo>
                    <a:pt x="284" y="653"/>
                  </a:lnTo>
                  <a:lnTo>
                    <a:pt x="331" y="623"/>
                  </a:lnTo>
                  <a:lnTo>
                    <a:pt x="426" y="540"/>
                  </a:lnTo>
                  <a:lnTo>
                    <a:pt x="521" y="422"/>
                  </a:lnTo>
                  <a:lnTo>
                    <a:pt x="616" y="281"/>
                  </a:lnTo>
                  <a:lnTo>
                    <a:pt x="663" y="209"/>
                  </a:lnTo>
                  <a:lnTo>
                    <a:pt x="710" y="142"/>
                  </a:lnTo>
                  <a:lnTo>
                    <a:pt x="757" y="83"/>
                  </a:lnTo>
                  <a:lnTo>
                    <a:pt x="805" y="38"/>
                  </a:lnTo>
                  <a:lnTo>
                    <a:pt x="852" y="9"/>
                  </a:lnTo>
                  <a:lnTo>
                    <a:pt x="900" y="0"/>
                  </a:lnTo>
                </a:path>
              </a:pathLst>
            </a:custGeom>
            <a:noFill/>
            <a:ln w="50800" cap="rnd">
              <a:solidFill>
                <a:srgbClr val="003366"/>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8682" name="Group 17"/>
          <p:cNvGrpSpPr>
            <a:grpSpLocks/>
          </p:cNvGrpSpPr>
          <p:nvPr/>
        </p:nvGrpSpPr>
        <p:grpSpPr bwMode="auto">
          <a:xfrm>
            <a:off x="5535613" y="3465513"/>
            <a:ext cx="2438400" cy="508000"/>
            <a:chOff x="3744" y="2832"/>
            <a:chExt cx="1536" cy="320"/>
          </a:xfrm>
        </p:grpSpPr>
        <p:pic>
          <p:nvPicPr>
            <p:cNvPr id="28689" name="Picture 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8" y="2832"/>
              <a:ext cx="129"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90" name="Text Box 19"/>
            <p:cNvSpPr txBox="1">
              <a:spLocks noChangeArrowheads="1"/>
            </p:cNvSpPr>
            <p:nvPr/>
          </p:nvSpPr>
          <p:spPr bwMode="auto">
            <a:xfrm>
              <a:off x="3744" y="2864"/>
              <a:ext cx="15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pPr>
                <a:spcBef>
                  <a:spcPct val="50000"/>
                </a:spcBef>
              </a:pPr>
              <a:r>
                <a:rPr lang="en-US">
                  <a:solidFill>
                    <a:schemeClr val="bg2"/>
                  </a:solidFill>
                  <a:latin typeface="Times New Roman" charset="0"/>
                </a:rPr>
                <a:t>Distribution of </a:t>
              </a:r>
            </a:p>
          </p:txBody>
        </p:sp>
      </p:grpSp>
      <p:sp>
        <p:nvSpPr>
          <p:cNvPr id="16404" name="Text Box 20"/>
          <p:cNvSpPr txBox="1">
            <a:spLocks noChangeArrowheads="1"/>
          </p:cNvSpPr>
          <p:nvPr/>
        </p:nvSpPr>
        <p:spPr bwMode="auto">
          <a:xfrm>
            <a:off x="2655888" y="4413250"/>
            <a:ext cx="4111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pPr>
              <a:spcBef>
                <a:spcPct val="50000"/>
              </a:spcBef>
            </a:pPr>
            <a:r>
              <a:rPr lang="en-US" sz="1800">
                <a:solidFill>
                  <a:schemeClr val="bg2"/>
                </a:solidFill>
                <a:latin typeface="Times New Roman" charset="0"/>
              </a:rPr>
              <a:t>n</a:t>
            </a:r>
            <a:endParaRPr lang="en-US">
              <a:solidFill>
                <a:schemeClr val="bg2"/>
              </a:solidFill>
              <a:latin typeface="Times New Roman" charset="0"/>
            </a:endParaRPr>
          </a:p>
        </p:txBody>
      </p:sp>
      <p:sp>
        <p:nvSpPr>
          <p:cNvPr id="16405" name="Text Box 21"/>
          <p:cNvSpPr txBox="1">
            <a:spLocks noChangeArrowheads="1"/>
          </p:cNvSpPr>
          <p:nvPr/>
        </p:nvSpPr>
        <p:spPr bwMode="auto">
          <a:xfrm>
            <a:off x="2228850" y="4398963"/>
            <a:ext cx="1235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pPr>
              <a:spcBef>
                <a:spcPct val="50000"/>
              </a:spcBef>
            </a:pPr>
            <a:r>
              <a:rPr lang="en-US">
                <a:solidFill>
                  <a:schemeClr val="bg2"/>
                </a:solidFill>
                <a:latin typeface="Times New Roman" charset="0"/>
              </a:rPr>
              <a:t>n larger</a:t>
            </a:r>
          </a:p>
        </p:txBody>
      </p:sp>
      <p:sp>
        <p:nvSpPr>
          <p:cNvPr id="16406" name="Text Box 22"/>
          <p:cNvSpPr txBox="1">
            <a:spLocks noChangeArrowheads="1"/>
          </p:cNvSpPr>
          <p:nvPr/>
        </p:nvSpPr>
        <p:spPr bwMode="auto">
          <a:xfrm>
            <a:off x="1917700" y="4306888"/>
            <a:ext cx="17367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pPr>
              <a:spcBef>
                <a:spcPct val="50000"/>
              </a:spcBef>
            </a:pPr>
            <a:r>
              <a:rPr lang="en-US" sz="3200">
                <a:solidFill>
                  <a:schemeClr val="bg2"/>
                </a:solidFill>
                <a:latin typeface="Times New Roman" charset="0"/>
              </a:rPr>
              <a:t>n larger</a:t>
            </a:r>
          </a:p>
        </p:txBody>
      </p:sp>
      <p:sp>
        <p:nvSpPr>
          <p:cNvPr id="16407" name="Text Box 23"/>
          <p:cNvSpPr txBox="1">
            <a:spLocks noChangeArrowheads="1"/>
          </p:cNvSpPr>
          <p:nvPr/>
        </p:nvSpPr>
        <p:spPr bwMode="auto">
          <a:xfrm>
            <a:off x="1504950" y="4098925"/>
            <a:ext cx="220027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pPr>
              <a:spcBef>
                <a:spcPct val="50000"/>
              </a:spcBef>
            </a:pPr>
            <a:r>
              <a:rPr lang="en-US" sz="4800">
                <a:solidFill>
                  <a:schemeClr val="bg2"/>
                </a:solidFill>
                <a:latin typeface="Times New Roman" charset="0"/>
              </a:rPr>
              <a:t>n larger</a:t>
            </a:r>
          </a:p>
        </p:txBody>
      </p:sp>
      <p:sp>
        <p:nvSpPr>
          <p:cNvPr id="28687" name="Text Box 24"/>
          <p:cNvSpPr txBox="1">
            <a:spLocks noChangeArrowheads="1"/>
          </p:cNvSpPr>
          <p:nvPr/>
        </p:nvSpPr>
        <p:spPr bwMode="auto">
          <a:xfrm>
            <a:off x="4237038" y="5199063"/>
            <a:ext cx="4365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pPr>
              <a:spcBef>
                <a:spcPct val="50000"/>
              </a:spcBef>
            </a:pPr>
            <a:r>
              <a:rPr lang="en-US">
                <a:solidFill>
                  <a:schemeClr val="bg2"/>
                </a:solidFill>
                <a:latin typeface="Symbol" charset="0"/>
              </a:rPr>
              <a:t>m</a:t>
            </a:r>
          </a:p>
        </p:txBody>
      </p:sp>
      <p:sp>
        <p:nvSpPr>
          <p:cNvPr id="28688" name="Line 25"/>
          <p:cNvSpPr>
            <a:spLocks noChangeShapeType="1"/>
          </p:cNvSpPr>
          <p:nvPr/>
        </p:nvSpPr>
        <p:spPr bwMode="auto">
          <a:xfrm flipV="1">
            <a:off x="4418013" y="5584825"/>
            <a:ext cx="0" cy="168275"/>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nodeType="afterGroup">
                            <p:stCondLst>
                              <p:cond delay="500"/>
                            </p:stCondLst>
                            <p:childTnLst>
                              <p:par>
                                <p:cTn id="8" presetID="3" presetClass="entr" presetSubtype="10" fill="hold" grpId="0" nodeType="afterEffect">
                                  <p:stCondLst>
                                    <p:cond delay="0"/>
                                  </p:stCondLst>
                                  <p:childTnLst>
                                    <p:set>
                                      <p:cBhvr>
                                        <p:cTn id="9" dur="1" fill="hold">
                                          <p:stCondLst>
                                            <p:cond delay="0"/>
                                          </p:stCondLst>
                                        </p:cTn>
                                        <p:tgtEl>
                                          <p:spTgt spid="16404"/>
                                        </p:tgtEl>
                                        <p:attrNameLst>
                                          <p:attrName>style.visibility</p:attrName>
                                        </p:attrNameLst>
                                      </p:cBhvr>
                                      <p:to>
                                        <p:strVal val="visible"/>
                                      </p:to>
                                    </p:set>
                                    <p:animEffect transition="in" filter="blinds(horizontal)">
                                      <p:cBhvr>
                                        <p:cTn id="10" dur="500"/>
                                        <p:tgtEl>
                                          <p:spTgt spid="16404"/>
                                        </p:tgtEl>
                                      </p:cBhvr>
                                    </p:animEffect>
                                  </p:childTnLst>
                                  <p:subTnLst>
                                    <p:set>
                                      <p:cBhvr override="childStyle">
                                        <p:cTn dur="1" fill="hold" display="0" masterRel="nextClick" afterEffect="1"/>
                                        <p:tgtEl>
                                          <p:spTgt spid="16404"/>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
                                        </p:tgtEl>
                                        <p:attrNameLst>
                                          <p:attrName>style.visibility</p:attrName>
                                        </p:attrNameLst>
                                      </p:cBhvr>
                                      <p:to>
                                        <p:strVal val="visible"/>
                                      </p:to>
                                    </p:set>
                                  </p:childTnLst>
                                </p:cTn>
                              </p:par>
                            </p:childTnLst>
                          </p:cTn>
                        </p:par>
                        <p:par>
                          <p:cTn id="15" fill="hold" nodeType="afterGroup">
                            <p:stCondLst>
                              <p:cond delay="500"/>
                            </p:stCondLst>
                            <p:childTnLst>
                              <p:par>
                                <p:cTn id="16" presetID="3" presetClass="entr" presetSubtype="10" fill="hold" grpId="0" nodeType="afterEffect">
                                  <p:stCondLst>
                                    <p:cond delay="0"/>
                                  </p:stCondLst>
                                  <p:childTnLst>
                                    <p:set>
                                      <p:cBhvr>
                                        <p:cTn id="17" dur="1" fill="hold">
                                          <p:stCondLst>
                                            <p:cond delay="0"/>
                                          </p:stCondLst>
                                        </p:cTn>
                                        <p:tgtEl>
                                          <p:spTgt spid="16405"/>
                                        </p:tgtEl>
                                        <p:attrNameLst>
                                          <p:attrName>style.visibility</p:attrName>
                                        </p:attrNameLst>
                                      </p:cBhvr>
                                      <p:to>
                                        <p:strVal val="visible"/>
                                      </p:to>
                                    </p:set>
                                    <p:animEffect transition="in" filter="blinds(horizontal)">
                                      <p:cBhvr>
                                        <p:cTn id="18" dur="500"/>
                                        <p:tgtEl>
                                          <p:spTgt spid="16405"/>
                                        </p:tgtEl>
                                      </p:cBhvr>
                                    </p:animEffect>
                                  </p:childTnLst>
                                  <p:subTnLst>
                                    <p:set>
                                      <p:cBhvr override="childStyle">
                                        <p:cTn dur="1" fill="hold" display="0" masterRel="nextClick" afterEffect="1"/>
                                        <p:tgtEl>
                                          <p:spTgt spid="16405"/>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4"/>
                                        </p:tgtEl>
                                        <p:attrNameLst>
                                          <p:attrName>style.visibility</p:attrName>
                                        </p:attrNameLst>
                                      </p:cBhvr>
                                      <p:to>
                                        <p:strVal val="visible"/>
                                      </p:to>
                                    </p:set>
                                  </p:childTnLst>
                                </p:cTn>
                              </p:par>
                            </p:childTnLst>
                          </p:cTn>
                        </p:par>
                        <p:par>
                          <p:cTn id="23" fill="hold" nodeType="afterGroup">
                            <p:stCondLst>
                              <p:cond delay="500"/>
                            </p:stCondLst>
                            <p:childTnLst>
                              <p:par>
                                <p:cTn id="24" presetID="3" presetClass="entr" presetSubtype="10" fill="hold" grpId="0" nodeType="afterEffect">
                                  <p:stCondLst>
                                    <p:cond delay="0"/>
                                  </p:stCondLst>
                                  <p:childTnLst>
                                    <p:set>
                                      <p:cBhvr>
                                        <p:cTn id="25" dur="1" fill="hold">
                                          <p:stCondLst>
                                            <p:cond delay="0"/>
                                          </p:stCondLst>
                                        </p:cTn>
                                        <p:tgtEl>
                                          <p:spTgt spid="16406"/>
                                        </p:tgtEl>
                                        <p:attrNameLst>
                                          <p:attrName>style.visibility</p:attrName>
                                        </p:attrNameLst>
                                      </p:cBhvr>
                                      <p:to>
                                        <p:strVal val="visible"/>
                                      </p:to>
                                    </p:set>
                                    <p:animEffect transition="in" filter="blinds(horizontal)">
                                      <p:cBhvr>
                                        <p:cTn id="26" dur="500"/>
                                        <p:tgtEl>
                                          <p:spTgt spid="16406"/>
                                        </p:tgtEl>
                                      </p:cBhvr>
                                    </p:animEffect>
                                  </p:childTnLst>
                                  <p:subTnLst>
                                    <p:set>
                                      <p:cBhvr override="childStyle">
                                        <p:cTn dur="1" fill="hold" display="0" masterRel="nextClick" afterEffect="1"/>
                                        <p:tgtEl>
                                          <p:spTgt spid="16406"/>
                                        </p:tgtEl>
                                        <p:attrNameLst>
                                          <p:attrName>style.visibility</p:attrName>
                                        </p:attrNameLst>
                                      </p:cBhvr>
                                      <p:to>
                                        <p:strVal val="hidden"/>
                                      </p:to>
                                    </p:set>
                                  </p:sub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5"/>
                                        </p:tgtEl>
                                        <p:attrNameLst>
                                          <p:attrName>style.visibility</p:attrName>
                                        </p:attrNameLst>
                                      </p:cBhvr>
                                      <p:to>
                                        <p:strVal val="visible"/>
                                      </p:to>
                                    </p:set>
                                  </p:childTnLst>
                                </p:cTn>
                              </p:par>
                            </p:childTnLst>
                          </p:cTn>
                        </p:par>
                        <p:par>
                          <p:cTn id="31" fill="hold" nodeType="afterGroup">
                            <p:stCondLst>
                              <p:cond delay="500"/>
                            </p:stCondLst>
                            <p:childTnLst>
                              <p:par>
                                <p:cTn id="32" presetID="3" presetClass="entr" presetSubtype="10" fill="hold" grpId="0" nodeType="afterEffect">
                                  <p:stCondLst>
                                    <p:cond delay="0"/>
                                  </p:stCondLst>
                                  <p:childTnLst>
                                    <p:set>
                                      <p:cBhvr>
                                        <p:cTn id="33" dur="1" fill="hold">
                                          <p:stCondLst>
                                            <p:cond delay="0"/>
                                          </p:stCondLst>
                                        </p:cTn>
                                        <p:tgtEl>
                                          <p:spTgt spid="16407"/>
                                        </p:tgtEl>
                                        <p:attrNameLst>
                                          <p:attrName>style.visibility</p:attrName>
                                        </p:attrNameLst>
                                      </p:cBhvr>
                                      <p:to>
                                        <p:strVal val="visible"/>
                                      </p:to>
                                    </p:set>
                                    <p:animEffect transition="in" filter="blinds(horizontal)">
                                      <p:cBhvr>
                                        <p:cTn id="34" dur="500"/>
                                        <p:tgtEl>
                                          <p:spTgt spid="16407"/>
                                        </p:tgtEl>
                                      </p:cBhvr>
                                    </p:animEffect>
                                  </p:childTnLst>
                                  <p:subTnLst>
                                    <p:set>
                                      <p:cBhvr override="childStyle">
                                        <p:cTn dur="1" fill="hold" display="0" masterRel="nextClick" afterEffect="1"/>
                                        <p:tgtEl>
                                          <p:spTgt spid="1640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04" grpId="0" autoUpdateAnimBg="0"/>
      <p:bldP spid="16405" grpId="0" autoUpdateAnimBg="0"/>
      <p:bldP spid="16406" grpId="0" autoUpdateAnimBg="0"/>
      <p:bldP spid="16407"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atin typeface="Times New Roman" charset="0"/>
              </a:rPr>
              <a:t>The Central Limit Theorem</a:t>
            </a:r>
          </a:p>
        </p:txBody>
      </p:sp>
      <p:sp>
        <p:nvSpPr>
          <p:cNvPr id="29699" name="Freeform 3"/>
          <p:cNvSpPr>
            <a:spLocks/>
          </p:cNvSpPr>
          <p:nvPr/>
        </p:nvSpPr>
        <p:spPr bwMode="auto">
          <a:xfrm>
            <a:off x="4076700" y="3671888"/>
            <a:ext cx="4241800" cy="2455862"/>
          </a:xfrm>
          <a:custGeom>
            <a:avLst/>
            <a:gdLst>
              <a:gd name="T0" fmla="*/ 2672 w 2672"/>
              <a:gd name="T1" fmla="*/ 1547 h 1547"/>
              <a:gd name="T2" fmla="*/ 2389 w 2672"/>
              <a:gd name="T3" fmla="*/ 1525 h 1547"/>
              <a:gd name="T4" fmla="*/ 2252 w 2672"/>
              <a:gd name="T5" fmla="*/ 1507 h 1547"/>
              <a:gd name="T6" fmla="*/ 2110 w 2672"/>
              <a:gd name="T7" fmla="*/ 1486 h 1547"/>
              <a:gd name="T8" fmla="*/ 1969 w 2672"/>
              <a:gd name="T9" fmla="*/ 1450 h 1547"/>
              <a:gd name="T10" fmla="*/ 1827 w 2672"/>
              <a:gd name="T11" fmla="*/ 1402 h 1547"/>
              <a:gd name="T12" fmla="*/ 1686 w 2672"/>
              <a:gd name="T13" fmla="*/ 1337 h 1547"/>
              <a:gd name="T14" fmla="*/ 1407 w 2672"/>
              <a:gd name="T15" fmla="*/ 1157 h 1547"/>
              <a:gd name="T16" fmla="*/ 1124 w 2672"/>
              <a:gd name="T17" fmla="*/ 907 h 1547"/>
              <a:gd name="T18" fmla="*/ 845 w 2672"/>
              <a:gd name="T19" fmla="*/ 605 h 1547"/>
              <a:gd name="T20" fmla="*/ 704 w 2672"/>
              <a:gd name="T21" fmla="*/ 447 h 1547"/>
              <a:gd name="T22" fmla="*/ 562 w 2672"/>
              <a:gd name="T23" fmla="*/ 307 h 1547"/>
              <a:gd name="T24" fmla="*/ 421 w 2672"/>
              <a:gd name="T25" fmla="*/ 180 h 1547"/>
              <a:gd name="T26" fmla="*/ 279 w 2672"/>
              <a:gd name="T27" fmla="*/ 83 h 1547"/>
              <a:gd name="T28" fmla="*/ 138 w 2672"/>
              <a:gd name="T29" fmla="*/ 22 h 1547"/>
              <a:gd name="T30" fmla="*/ 0 w 2672"/>
              <a:gd name="T31" fmla="*/ 0 h 15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672"/>
              <a:gd name="T49" fmla="*/ 0 h 1547"/>
              <a:gd name="T50" fmla="*/ 2672 w 2672"/>
              <a:gd name="T51" fmla="*/ 1547 h 154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672" h="1547">
                <a:moveTo>
                  <a:pt x="2672" y="1547"/>
                </a:moveTo>
                <a:lnTo>
                  <a:pt x="2389" y="1525"/>
                </a:lnTo>
                <a:lnTo>
                  <a:pt x="2252" y="1507"/>
                </a:lnTo>
                <a:lnTo>
                  <a:pt x="2110" y="1486"/>
                </a:lnTo>
                <a:lnTo>
                  <a:pt x="1969" y="1450"/>
                </a:lnTo>
                <a:lnTo>
                  <a:pt x="1827" y="1402"/>
                </a:lnTo>
                <a:lnTo>
                  <a:pt x="1686" y="1337"/>
                </a:lnTo>
                <a:lnTo>
                  <a:pt x="1407" y="1157"/>
                </a:lnTo>
                <a:lnTo>
                  <a:pt x="1124" y="907"/>
                </a:lnTo>
                <a:lnTo>
                  <a:pt x="845" y="605"/>
                </a:lnTo>
                <a:lnTo>
                  <a:pt x="704" y="447"/>
                </a:lnTo>
                <a:lnTo>
                  <a:pt x="562" y="307"/>
                </a:lnTo>
                <a:lnTo>
                  <a:pt x="421" y="180"/>
                </a:lnTo>
                <a:lnTo>
                  <a:pt x="279" y="83"/>
                </a:lnTo>
                <a:lnTo>
                  <a:pt x="138" y="22"/>
                </a:lnTo>
                <a:lnTo>
                  <a:pt x="0" y="0"/>
                </a:lnTo>
              </a:path>
            </a:pathLst>
          </a:custGeom>
          <a:noFill/>
          <a:ln w="112713">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00" name="Freeform 4"/>
          <p:cNvSpPr>
            <a:spLocks/>
          </p:cNvSpPr>
          <p:nvPr/>
        </p:nvSpPr>
        <p:spPr bwMode="auto">
          <a:xfrm>
            <a:off x="1997075" y="3671888"/>
            <a:ext cx="2079625" cy="2455862"/>
          </a:xfrm>
          <a:custGeom>
            <a:avLst/>
            <a:gdLst>
              <a:gd name="T0" fmla="*/ 0 w 1310"/>
              <a:gd name="T1" fmla="*/ 1547 h 1547"/>
              <a:gd name="T2" fmla="*/ 137 w 1310"/>
              <a:gd name="T3" fmla="*/ 1525 h 1547"/>
              <a:gd name="T4" fmla="*/ 208 w 1310"/>
              <a:gd name="T5" fmla="*/ 1507 h 1547"/>
              <a:gd name="T6" fmla="*/ 274 w 1310"/>
              <a:gd name="T7" fmla="*/ 1486 h 1547"/>
              <a:gd name="T8" fmla="*/ 345 w 1310"/>
              <a:gd name="T9" fmla="*/ 1450 h 1547"/>
              <a:gd name="T10" fmla="*/ 412 w 1310"/>
              <a:gd name="T11" fmla="*/ 1402 h 1547"/>
              <a:gd name="T12" fmla="*/ 482 w 1310"/>
              <a:gd name="T13" fmla="*/ 1337 h 1547"/>
              <a:gd name="T14" fmla="*/ 620 w 1310"/>
              <a:gd name="T15" fmla="*/ 1157 h 1547"/>
              <a:gd name="T16" fmla="*/ 757 w 1310"/>
              <a:gd name="T17" fmla="*/ 907 h 1547"/>
              <a:gd name="T18" fmla="*/ 894 w 1310"/>
              <a:gd name="T19" fmla="*/ 605 h 1547"/>
              <a:gd name="T20" fmla="*/ 965 w 1310"/>
              <a:gd name="T21" fmla="*/ 447 h 1547"/>
              <a:gd name="T22" fmla="*/ 1032 w 1310"/>
              <a:gd name="T23" fmla="*/ 307 h 1547"/>
              <a:gd name="T24" fmla="*/ 1102 w 1310"/>
              <a:gd name="T25" fmla="*/ 180 h 1547"/>
              <a:gd name="T26" fmla="*/ 1173 w 1310"/>
              <a:gd name="T27" fmla="*/ 83 h 1547"/>
              <a:gd name="T28" fmla="*/ 1240 w 1310"/>
              <a:gd name="T29" fmla="*/ 22 h 1547"/>
              <a:gd name="T30" fmla="*/ 1310 w 1310"/>
              <a:gd name="T31" fmla="*/ 0 h 15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10"/>
              <a:gd name="T49" fmla="*/ 0 h 1547"/>
              <a:gd name="T50" fmla="*/ 1310 w 1310"/>
              <a:gd name="T51" fmla="*/ 1547 h 154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10" h="1547">
                <a:moveTo>
                  <a:pt x="0" y="1547"/>
                </a:moveTo>
                <a:lnTo>
                  <a:pt x="137" y="1525"/>
                </a:lnTo>
                <a:lnTo>
                  <a:pt x="208" y="1507"/>
                </a:lnTo>
                <a:lnTo>
                  <a:pt x="274" y="1486"/>
                </a:lnTo>
                <a:lnTo>
                  <a:pt x="345" y="1450"/>
                </a:lnTo>
                <a:lnTo>
                  <a:pt x="412" y="1402"/>
                </a:lnTo>
                <a:lnTo>
                  <a:pt x="482" y="1337"/>
                </a:lnTo>
                <a:lnTo>
                  <a:pt x="620" y="1157"/>
                </a:lnTo>
                <a:lnTo>
                  <a:pt x="757" y="907"/>
                </a:lnTo>
                <a:lnTo>
                  <a:pt x="894" y="605"/>
                </a:lnTo>
                <a:lnTo>
                  <a:pt x="965" y="447"/>
                </a:lnTo>
                <a:lnTo>
                  <a:pt x="1032" y="307"/>
                </a:lnTo>
                <a:lnTo>
                  <a:pt x="1102" y="180"/>
                </a:lnTo>
                <a:lnTo>
                  <a:pt x="1173" y="83"/>
                </a:lnTo>
                <a:lnTo>
                  <a:pt x="1240" y="22"/>
                </a:lnTo>
                <a:lnTo>
                  <a:pt x="1310" y="0"/>
                </a:lnTo>
              </a:path>
            </a:pathLst>
          </a:custGeom>
          <a:noFill/>
          <a:ln w="112713">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 name="Group 5"/>
          <p:cNvGrpSpPr>
            <a:grpSpLocks/>
          </p:cNvGrpSpPr>
          <p:nvPr/>
        </p:nvGrpSpPr>
        <p:grpSpPr bwMode="auto">
          <a:xfrm>
            <a:off x="3146425" y="2857500"/>
            <a:ext cx="4022725" cy="3270250"/>
            <a:chOff x="1982" y="1800"/>
            <a:chExt cx="2534" cy="2060"/>
          </a:xfrm>
        </p:grpSpPr>
        <p:sp>
          <p:nvSpPr>
            <p:cNvPr id="29706" name="Freeform 6"/>
            <p:cNvSpPr>
              <a:spLocks/>
            </p:cNvSpPr>
            <p:nvPr/>
          </p:nvSpPr>
          <p:spPr bwMode="auto">
            <a:xfrm>
              <a:off x="3251" y="1800"/>
              <a:ext cx="1265" cy="2060"/>
            </a:xfrm>
            <a:custGeom>
              <a:avLst/>
              <a:gdLst>
                <a:gd name="T0" fmla="*/ 1265 w 1265"/>
                <a:gd name="T1" fmla="*/ 2060 h 2060"/>
                <a:gd name="T2" fmla="*/ 1132 w 1265"/>
                <a:gd name="T3" fmla="*/ 2034 h 2060"/>
                <a:gd name="T4" fmla="*/ 1065 w 1265"/>
                <a:gd name="T5" fmla="*/ 2012 h 2060"/>
                <a:gd name="T6" fmla="*/ 998 w 1265"/>
                <a:gd name="T7" fmla="*/ 1977 h 2060"/>
                <a:gd name="T8" fmla="*/ 932 w 1265"/>
                <a:gd name="T9" fmla="*/ 1928 h 2060"/>
                <a:gd name="T10" fmla="*/ 865 w 1265"/>
                <a:gd name="T11" fmla="*/ 1867 h 2060"/>
                <a:gd name="T12" fmla="*/ 799 w 1265"/>
                <a:gd name="T13" fmla="*/ 1784 h 2060"/>
                <a:gd name="T14" fmla="*/ 666 w 1265"/>
                <a:gd name="T15" fmla="*/ 1543 h 2060"/>
                <a:gd name="T16" fmla="*/ 532 w 1265"/>
                <a:gd name="T17" fmla="*/ 1205 h 2060"/>
                <a:gd name="T18" fmla="*/ 399 w 1265"/>
                <a:gd name="T19" fmla="*/ 807 h 2060"/>
                <a:gd name="T20" fmla="*/ 333 w 1265"/>
                <a:gd name="T21" fmla="*/ 601 h 2060"/>
                <a:gd name="T22" fmla="*/ 266 w 1265"/>
                <a:gd name="T23" fmla="*/ 408 h 2060"/>
                <a:gd name="T24" fmla="*/ 200 w 1265"/>
                <a:gd name="T25" fmla="*/ 241 h 2060"/>
                <a:gd name="T26" fmla="*/ 133 w 1265"/>
                <a:gd name="T27" fmla="*/ 114 h 2060"/>
                <a:gd name="T28" fmla="*/ 66 w 1265"/>
                <a:gd name="T29" fmla="*/ 31 h 2060"/>
                <a:gd name="T30" fmla="*/ 0 w 1265"/>
                <a:gd name="T31" fmla="*/ 0 h 206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65"/>
                <a:gd name="T49" fmla="*/ 0 h 2060"/>
                <a:gd name="T50" fmla="*/ 1265 w 1265"/>
                <a:gd name="T51" fmla="*/ 2060 h 206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65" h="2060">
                  <a:moveTo>
                    <a:pt x="1265" y="2060"/>
                  </a:moveTo>
                  <a:lnTo>
                    <a:pt x="1132" y="2034"/>
                  </a:lnTo>
                  <a:lnTo>
                    <a:pt x="1065" y="2012"/>
                  </a:lnTo>
                  <a:lnTo>
                    <a:pt x="998" y="1977"/>
                  </a:lnTo>
                  <a:lnTo>
                    <a:pt x="932" y="1928"/>
                  </a:lnTo>
                  <a:lnTo>
                    <a:pt x="865" y="1867"/>
                  </a:lnTo>
                  <a:lnTo>
                    <a:pt x="799" y="1784"/>
                  </a:lnTo>
                  <a:lnTo>
                    <a:pt x="666" y="1543"/>
                  </a:lnTo>
                  <a:lnTo>
                    <a:pt x="532" y="1205"/>
                  </a:lnTo>
                  <a:lnTo>
                    <a:pt x="399" y="807"/>
                  </a:lnTo>
                  <a:lnTo>
                    <a:pt x="333" y="601"/>
                  </a:lnTo>
                  <a:lnTo>
                    <a:pt x="266" y="408"/>
                  </a:lnTo>
                  <a:lnTo>
                    <a:pt x="200" y="241"/>
                  </a:lnTo>
                  <a:lnTo>
                    <a:pt x="133" y="114"/>
                  </a:lnTo>
                  <a:lnTo>
                    <a:pt x="66" y="31"/>
                  </a:lnTo>
                  <a:lnTo>
                    <a:pt x="0" y="0"/>
                  </a:lnTo>
                </a:path>
              </a:pathLst>
            </a:custGeom>
            <a:noFill/>
            <a:ln w="112713">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07" name="Freeform 7"/>
            <p:cNvSpPr>
              <a:spLocks/>
            </p:cNvSpPr>
            <p:nvPr/>
          </p:nvSpPr>
          <p:spPr bwMode="auto">
            <a:xfrm>
              <a:off x="1982" y="1800"/>
              <a:ext cx="1269" cy="2060"/>
            </a:xfrm>
            <a:custGeom>
              <a:avLst/>
              <a:gdLst>
                <a:gd name="T0" fmla="*/ 0 w 1269"/>
                <a:gd name="T1" fmla="*/ 2060 h 2060"/>
                <a:gd name="T2" fmla="*/ 133 w 1269"/>
                <a:gd name="T3" fmla="*/ 2034 h 2060"/>
                <a:gd name="T4" fmla="*/ 199 w 1269"/>
                <a:gd name="T5" fmla="*/ 2012 h 2060"/>
                <a:gd name="T6" fmla="*/ 266 w 1269"/>
                <a:gd name="T7" fmla="*/ 1977 h 2060"/>
                <a:gd name="T8" fmla="*/ 332 w 1269"/>
                <a:gd name="T9" fmla="*/ 1928 h 2060"/>
                <a:gd name="T10" fmla="*/ 399 w 1269"/>
                <a:gd name="T11" fmla="*/ 1867 h 2060"/>
                <a:gd name="T12" fmla="*/ 466 w 1269"/>
                <a:gd name="T13" fmla="*/ 1784 h 2060"/>
                <a:gd name="T14" fmla="*/ 599 w 1269"/>
                <a:gd name="T15" fmla="*/ 1543 h 2060"/>
                <a:gd name="T16" fmla="*/ 732 w 1269"/>
                <a:gd name="T17" fmla="*/ 1205 h 2060"/>
                <a:gd name="T18" fmla="*/ 865 w 1269"/>
                <a:gd name="T19" fmla="*/ 807 h 2060"/>
                <a:gd name="T20" fmla="*/ 932 w 1269"/>
                <a:gd name="T21" fmla="*/ 601 h 2060"/>
                <a:gd name="T22" fmla="*/ 998 w 1269"/>
                <a:gd name="T23" fmla="*/ 408 h 2060"/>
                <a:gd name="T24" fmla="*/ 1065 w 1269"/>
                <a:gd name="T25" fmla="*/ 241 h 2060"/>
                <a:gd name="T26" fmla="*/ 1131 w 1269"/>
                <a:gd name="T27" fmla="*/ 114 h 2060"/>
                <a:gd name="T28" fmla="*/ 1198 w 1269"/>
                <a:gd name="T29" fmla="*/ 31 h 2060"/>
                <a:gd name="T30" fmla="*/ 1269 w 1269"/>
                <a:gd name="T31" fmla="*/ 0 h 206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69"/>
                <a:gd name="T49" fmla="*/ 0 h 2060"/>
                <a:gd name="T50" fmla="*/ 1269 w 1269"/>
                <a:gd name="T51" fmla="*/ 2060 h 206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69" h="2060">
                  <a:moveTo>
                    <a:pt x="0" y="2060"/>
                  </a:moveTo>
                  <a:lnTo>
                    <a:pt x="133" y="2034"/>
                  </a:lnTo>
                  <a:lnTo>
                    <a:pt x="199" y="2012"/>
                  </a:lnTo>
                  <a:lnTo>
                    <a:pt x="266" y="1977"/>
                  </a:lnTo>
                  <a:lnTo>
                    <a:pt x="332" y="1928"/>
                  </a:lnTo>
                  <a:lnTo>
                    <a:pt x="399" y="1867"/>
                  </a:lnTo>
                  <a:lnTo>
                    <a:pt x="466" y="1784"/>
                  </a:lnTo>
                  <a:lnTo>
                    <a:pt x="599" y="1543"/>
                  </a:lnTo>
                  <a:lnTo>
                    <a:pt x="732" y="1205"/>
                  </a:lnTo>
                  <a:lnTo>
                    <a:pt x="865" y="807"/>
                  </a:lnTo>
                  <a:lnTo>
                    <a:pt x="932" y="601"/>
                  </a:lnTo>
                  <a:lnTo>
                    <a:pt x="998" y="408"/>
                  </a:lnTo>
                  <a:lnTo>
                    <a:pt x="1065" y="241"/>
                  </a:lnTo>
                  <a:lnTo>
                    <a:pt x="1131" y="114"/>
                  </a:lnTo>
                  <a:lnTo>
                    <a:pt x="1198" y="31"/>
                  </a:lnTo>
                  <a:lnTo>
                    <a:pt x="1269" y="0"/>
                  </a:lnTo>
                </a:path>
              </a:pathLst>
            </a:custGeom>
            <a:noFill/>
            <a:ln w="112713">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7416" name="Freeform 8"/>
          <p:cNvSpPr>
            <a:spLocks/>
          </p:cNvSpPr>
          <p:nvPr/>
        </p:nvSpPr>
        <p:spPr bwMode="auto">
          <a:xfrm>
            <a:off x="2438400" y="2286000"/>
            <a:ext cx="2211388" cy="1982788"/>
          </a:xfrm>
          <a:custGeom>
            <a:avLst/>
            <a:gdLst/>
            <a:ahLst/>
            <a:cxnLst>
              <a:cxn ang="0">
                <a:pos x="405" y="1173"/>
              </a:cxn>
              <a:cxn ang="0">
                <a:pos x="317" y="1105"/>
              </a:cxn>
              <a:cxn ang="0">
                <a:pos x="248" y="1040"/>
              </a:cxn>
              <a:cxn ang="0">
                <a:pos x="188" y="972"/>
              </a:cxn>
              <a:cxn ang="0">
                <a:pos x="118" y="878"/>
              </a:cxn>
              <a:cxn ang="0">
                <a:pos x="67" y="786"/>
              </a:cxn>
              <a:cxn ang="0">
                <a:pos x="35" y="709"/>
              </a:cxn>
              <a:cxn ang="0">
                <a:pos x="18" y="638"/>
              </a:cxn>
              <a:cxn ang="0">
                <a:pos x="5" y="565"/>
              </a:cxn>
              <a:cxn ang="0">
                <a:pos x="0" y="493"/>
              </a:cxn>
              <a:cxn ang="0">
                <a:pos x="7" y="409"/>
              </a:cxn>
              <a:cxn ang="0">
                <a:pos x="24" y="337"/>
              </a:cxn>
              <a:cxn ang="0">
                <a:pos x="60" y="254"/>
              </a:cxn>
              <a:cxn ang="0">
                <a:pos x="109" y="190"/>
              </a:cxn>
              <a:cxn ang="0">
                <a:pos x="170" y="134"/>
              </a:cxn>
              <a:cxn ang="0">
                <a:pos x="229" y="93"/>
              </a:cxn>
              <a:cxn ang="0">
                <a:pos x="323" y="48"/>
              </a:cxn>
              <a:cxn ang="0">
                <a:pos x="409" y="20"/>
              </a:cxn>
              <a:cxn ang="0">
                <a:pos x="495" y="8"/>
              </a:cxn>
              <a:cxn ang="0">
                <a:pos x="601" y="0"/>
              </a:cxn>
              <a:cxn ang="0">
                <a:pos x="715" y="6"/>
              </a:cxn>
              <a:cxn ang="0">
                <a:pos x="919" y="51"/>
              </a:cxn>
              <a:cxn ang="0">
                <a:pos x="1083" y="114"/>
              </a:cxn>
              <a:cxn ang="0">
                <a:pos x="1221" y="80"/>
              </a:cxn>
              <a:cxn ang="0">
                <a:pos x="988" y="447"/>
              </a:cxn>
              <a:cxn ang="0">
                <a:pos x="952" y="320"/>
              </a:cxn>
              <a:cxn ang="0">
                <a:pos x="805" y="269"/>
              </a:cxn>
              <a:cxn ang="0">
                <a:pos x="635" y="246"/>
              </a:cxn>
              <a:cxn ang="0">
                <a:pos x="525" y="253"/>
              </a:cxn>
              <a:cxn ang="0">
                <a:pos x="430" y="269"/>
              </a:cxn>
              <a:cxn ang="0">
                <a:pos x="342" y="302"/>
              </a:cxn>
              <a:cxn ang="0">
                <a:pos x="257" y="356"/>
              </a:cxn>
              <a:cxn ang="0">
                <a:pos x="196" y="420"/>
              </a:cxn>
              <a:cxn ang="0">
                <a:pos x="154" y="489"/>
              </a:cxn>
              <a:cxn ang="0">
                <a:pos x="129" y="563"/>
              </a:cxn>
              <a:cxn ang="0">
                <a:pos x="118" y="645"/>
              </a:cxn>
              <a:cxn ang="0">
                <a:pos x="130" y="757"/>
              </a:cxn>
              <a:cxn ang="0">
                <a:pos x="165" y="863"/>
              </a:cxn>
              <a:cxn ang="0">
                <a:pos x="212" y="951"/>
              </a:cxn>
              <a:cxn ang="0">
                <a:pos x="266" y="1026"/>
              </a:cxn>
              <a:cxn ang="0">
                <a:pos x="314" y="1081"/>
              </a:cxn>
              <a:cxn ang="0">
                <a:pos x="377" y="1135"/>
              </a:cxn>
              <a:cxn ang="0">
                <a:pos x="527" y="1248"/>
              </a:cxn>
            </a:cxnLst>
            <a:rect l="0" t="0" r="r" b="b"/>
            <a:pathLst>
              <a:path w="1393" h="1249">
                <a:moveTo>
                  <a:pt x="527" y="1248"/>
                </a:moveTo>
                <a:lnTo>
                  <a:pt x="405" y="1173"/>
                </a:lnTo>
                <a:lnTo>
                  <a:pt x="365" y="1144"/>
                </a:lnTo>
                <a:lnTo>
                  <a:pt x="317" y="1105"/>
                </a:lnTo>
                <a:lnTo>
                  <a:pt x="282" y="1075"/>
                </a:lnTo>
                <a:lnTo>
                  <a:pt x="248" y="1040"/>
                </a:lnTo>
                <a:lnTo>
                  <a:pt x="215" y="1006"/>
                </a:lnTo>
                <a:lnTo>
                  <a:pt x="188" y="972"/>
                </a:lnTo>
                <a:lnTo>
                  <a:pt x="156" y="930"/>
                </a:lnTo>
                <a:lnTo>
                  <a:pt x="118" y="878"/>
                </a:lnTo>
                <a:lnTo>
                  <a:pt x="92" y="833"/>
                </a:lnTo>
                <a:lnTo>
                  <a:pt x="67" y="786"/>
                </a:lnTo>
                <a:lnTo>
                  <a:pt x="52" y="750"/>
                </a:lnTo>
                <a:lnTo>
                  <a:pt x="35" y="709"/>
                </a:lnTo>
                <a:lnTo>
                  <a:pt x="25" y="677"/>
                </a:lnTo>
                <a:lnTo>
                  <a:pt x="18" y="638"/>
                </a:lnTo>
                <a:lnTo>
                  <a:pt x="10" y="603"/>
                </a:lnTo>
                <a:lnTo>
                  <a:pt x="5" y="565"/>
                </a:lnTo>
                <a:lnTo>
                  <a:pt x="2" y="534"/>
                </a:lnTo>
                <a:lnTo>
                  <a:pt x="0" y="493"/>
                </a:lnTo>
                <a:lnTo>
                  <a:pt x="0" y="449"/>
                </a:lnTo>
                <a:lnTo>
                  <a:pt x="7" y="409"/>
                </a:lnTo>
                <a:lnTo>
                  <a:pt x="14" y="375"/>
                </a:lnTo>
                <a:lnTo>
                  <a:pt x="24" y="337"/>
                </a:lnTo>
                <a:lnTo>
                  <a:pt x="36" y="299"/>
                </a:lnTo>
                <a:lnTo>
                  <a:pt x="60" y="254"/>
                </a:lnTo>
                <a:lnTo>
                  <a:pt x="85" y="218"/>
                </a:lnTo>
                <a:lnTo>
                  <a:pt x="109" y="190"/>
                </a:lnTo>
                <a:lnTo>
                  <a:pt x="135" y="162"/>
                </a:lnTo>
                <a:lnTo>
                  <a:pt x="170" y="134"/>
                </a:lnTo>
                <a:lnTo>
                  <a:pt x="199" y="111"/>
                </a:lnTo>
                <a:lnTo>
                  <a:pt x="229" y="93"/>
                </a:lnTo>
                <a:lnTo>
                  <a:pt x="272" y="70"/>
                </a:lnTo>
                <a:lnTo>
                  <a:pt x="323" y="48"/>
                </a:lnTo>
                <a:lnTo>
                  <a:pt x="368" y="33"/>
                </a:lnTo>
                <a:lnTo>
                  <a:pt x="409" y="20"/>
                </a:lnTo>
                <a:lnTo>
                  <a:pt x="454" y="11"/>
                </a:lnTo>
                <a:lnTo>
                  <a:pt x="495" y="8"/>
                </a:lnTo>
                <a:lnTo>
                  <a:pt x="542" y="4"/>
                </a:lnTo>
                <a:lnTo>
                  <a:pt x="601" y="0"/>
                </a:lnTo>
                <a:lnTo>
                  <a:pt x="654" y="3"/>
                </a:lnTo>
                <a:lnTo>
                  <a:pt x="715" y="6"/>
                </a:lnTo>
                <a:lnTo>
                  <a:pt x="829" y="26"/>
                </a:lnTo>
                <a:lnTo>
                  <a:pt x="919" y="51"/>
                </a:lnTo>
                <a:lnTo>
                  <a:pt x="1011" y="84"/>
                </a:lnTo>
                <a:lnTo>
                  <a:pt x="1083" y="114"/>
                </a:lnTo>
                <a:lnTo>
                  <a:pt x="1172" y="159"/>
                </a:lnTo>
                <a:lnTo>
                  <a:pt x="1221" y="80"/>
                </a:lnTo>
                <a:lnTo>
                  <a:pt x="1392" y="428"/>
                </a:lnTo>
                <a:lnTo>
                  <a:pt x="988" y="447"/>
                </a:lnTo>
                <a:lnTo>
                  <a:pt x="1041" y="364"/>
                </a:lnTo>
                <a:lnTo>
                  <a:pt x="952" y="320"/>
                </a:lnTo>
                <a:lnTo>
                  <a:pt x="881" y="293"/>
                </a:lnTo>
                <a:lnTo>
                  <a:pt x="805" y="269"/>
                </a:lnTo>
                <a:lnTo>
                  <a:pt x="692" y="248"/>
                </a:lnTo>
                <a:lnTo>
                  <a:pt x="635" y="246"/>
                </a:lnTo>
                <a:lnTo>
                  <a:pt x="576" y="246"/>
                </a:lnTo>
                <a:lnTo>
                  <a:pt x="525" y="253"/>
                </a:lnTo>
                <a:lnTo>
                  <a:pt x="474" y="260"/>
                </a:lnTo>
                <a:lnTo>
                  <a:pt x="430" y="269"/>
                </a:lnTo>
                <a:lnTo>
                  <a:pt x="389" y="284"/>
                </a:lnTo>
                <a:lnTo>
                  <a:pt x="342" y="302"/>
                </a:lnTo>
                <a:lnTo>
                  <a:pt x="295" y="330"/>
                </a:lnTo>
                <a:lnTo>
                  <a:pt x="257" y="356"/>
                </a:lnTo>
                <a:lnTo>
                  <a:pt x="229" y="384"/>
                </a:lnTo>
                <a:lnTo>
                  <a:pt x="196" y="420"/>
                </a:lnTo>
                <a:lnTo>
                  <a:pt x="170" y="461"/>
                </a:lnTo>
                <a:lnTo>
                  <a:pt x="154" y="489"/>
                </a:lnTo>
                <a:lnTo>
                  <a:pt x="140" y="520"/>
                </a:lnTo>
                <a:lnTo>
                  <a:pt x="129" y="563"/>
                </a:lnTo>
                <a:lnTo>
                  <a:pt x="122" y="604"/>
                </a:lnTo>
                <a:lnTo>
                  <a:pt x="118" y="645"/>
                </a:lnTo>
                <a:lnTo>
                  <a:pt x="121" y="690"/>
                </a:lnTo>
                <a:lnTo>
                  <a:pt x="130" y="757"/>
                </a:lnTo>
                <a:lnTo>
                  <a:pt x="144" y="805"/>
                </a:lnTo>
                <a:lnTo>
                  <a:pt x="165" y="863"/>
                </a:lnTo>
                <a:lnTo>
                  <a:pt x="191" y="914"/>
                </a:lnTo>
                <a:lnTo>
                  <a:pt x="212" y="951"/>
                </a:lnTo>
                <a:lnTo>
                  <a:pt x="240" y="991"/>
                </a:lnTo>
                <a:lnTo>
                  <a:pt x="266" y="1026"/>
                </a:lnTo>
                <a:lnTo>
                  <a:pt x="289" y="1053"/>
                </a:lnTo>
                <a:lnTo>
                  <a:pt x="314" y="1081"/>
                </a:lnTo>
                <a:lnTo>
                  <a:pt x="346" y="1109"/>
                </a:lnTo>
                <a:lnTo>
                  <a:pt x="377" y="1135"/>
                </a:lnTo>
                <a:lnTo>
                  <a:pt x="418" y="1169"/>
                </a:lnTo>
                <a:lnTo>
                  <a:pt x="527" y="1248"/>
                </a:lnTo>
              </a:path>
            </a:pathLst>
          </a:custGeom>
          <a:solidFill>
            <a:schemeClr val="accent2"/>
          </a:solidFill>
          <a:ln w="12700" cap="rnd" cmpd="sng">
            <a:solidFill>
              <a:srgbClr val="000000"/>
            </a:solidFill>
            <a:prstDash val="solid"/>
            <a:round/>
            <a:headEnd type="none" w="med" len="med"/>
            <a:tailEnd type="none" w="med" len="med"/>
          </a:ln>
          <a:effectLst>
            <a:outerShdw dist="107763" dir="2700000" algn="ctr" rotWithShape="0">
              <a:schemeClr val="bg2"/>
            </a:outerShdw>
          </a:effectLst>
        </p:spPr>
        <p:txBody>
          <a:bodyPr/>
          <a:lstStyle/>
          <a:p>
            <a:pPr>
              <a:defRPr/>
            </a:pPr>
            <a:endParaRPr lang="en-US">
              <a:ea typeface="+mn-ea"/>
            </a:endParaRPr>
          </a:p>
        </p:txBody>
      </p:sp>
      <p:sp>
        <p:nvSpPr>
          <p:cNvPr id="29703" name="Rectangle 9"/>
          <p:cNvSpPr>
            <a:spLocks noChangeArrowheads="1"/>
          </p:cNvSpPr>
          <p:nvPr/>
        </p:nvSpPr>
        <p:spPr bwMode="auto">
          <a:xfrm>
            <a:off x="228600" y="1828800"/>
            <a:ext cx="1828800" cy="1816100"/>
          </a:xfrm>
          <a:prstGeom prst="rect">
            <a:avLst/>
          </a:prstGeom>
          <a:solidFill>
            <a:schemeClr val="accent1"/>
          </a:solidFill>
          <a:ln w="12700">
            <a:solidFill>
              <a:schemeClr val="tx2"/>
            </a:solidFill>
            <a:miter lim="800000"/>
            <a:headEnd/>
            <a:tailEnd/>
          </a:ln>
        </p:spPr>
        <p:txBody>
          <a:bodyPr lIns="90488" tIns="44450" rIns="90488" bIns="44450">
            <a:spAutoFit/>
          </a:bodyPr>
          <a:lstStyle/>
          <a:p>
            <a:pPr>
              <a:spcBef>
                <a:spcPct val="50000"/>
              </a:spcBef>
            </a:pPr>
            <a:r>
              <a:rPr lang="en-US" sz="2800">
                <a:latin typeface="Tahoma" charset="0"/>
              </a:rPr>
              <a:t>As sample size gets large enough… </a:t>
            </a:r>
          </a:p>
        </p:txBody>
      </p:sp>
      <p:sp>
        <p:nvSpPr>
          <p:cNvPr id="17418" name="Rectangle 10"/>
          <p:cNvSpPr>
            <a:spLocks noChangeArrowheads="1"/>
          </p:cNvSpPr>
          <p:nvPr/>
        </p:nvSpPr>
        <p:spPr bwMode="auto">
          <a:xfrm>
            <a:off x="6629400" y="1600200"/>
            <a:ext cx="2003425" cy="3959225"/>
          </a:xfrm>
          <a:prstGeom prst="rect">
            <a:avLst/>
          </a:prstGeom>
          <a:solidFill>
            <a:schemeClr val="accent1"/>
          </a:solidFill>
          <a:ln w="12700">
            <a:solidFill>
              <a:schemeClr val="tx2"/>
            </a:solidFill>
            <a:miter lim="800000"/>
            <a:headEnd/>
            <a:tailEnd/>
          </a:ln>
        </p:spPr>
        <p:txBody>
          <a:bodyPr lIns="90488" tIns="44450" rIns="90488" bIns="44450">
            <a:spAutoFit/>
          </a:bodyPr>
          <a:lstStyle/>
          <a:p>
            <a:pPr>
              <a:spcBef>
                <a:spcPct val="50000"/>
              </a:spcBef>
            </a:pPr>
            <a:r>
              <a:rPr lang="en-US" sz="2800">
                <a:latin typeface="Tahoma" charset="0"/>
              </a:rPr>
              <a:t>the sampling distribution becomes almost normal regardless of shape of population</a:t>
            </a:r>
          </a:p>
        </p:txBody>
      </p:sp>
      <p:sp>
        <p:nvSpPr>
          <p:cNvPr id="29705" name="Line 11"/>
          <p:cNvSpPr>
            <a:spLocks noChangeShapeType="1"/>
          </p:cNvSpPr>
          <p:nvPr/>
        </p:nvSpPr>
        <p:spPr bwMode="auto">
          <a:xfrm>
            <a:off x="1905000" y="6477000"/>
            <a:ext cx="6477000"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4" fill="hold" grpId="0" nodeType="clickEffect">
                                  <p:stCondLst>
                                    <p:cond delay="0"/>
                                  </p:stCondLst>
                                  <p:childTnLst>
                                    <p:set>
                                      <p:cBhvr>
                                        <p:cTn id="6" dur="1" fill="hold">
                                          <p:stCondLst>
                                            <p:cond delay="0"/>
                                          </p:stCondLst>
                                        </p:cTn>
                                        <p:tgtEl>
                                          <p:spTgt spid="17416"/>
                                        </p:tgtEl>
                                        <p:attrNameLst>
                                          <p:attrName>style.visibility</p:attrName>
                                        </p:attrNameLst>
                                      </p:cBhvr>
                                      <p:to>
                                        <p:strVal val="visible"/>
                                      </p:to>
                                    </p:set>
                                    <p:anim calcmode="lin" valueType="num">
                                      <p:cBhvr>
                                        <p:cTn id="7" dur="500" fill="hold"/>
                                        <p:tgtEl>
                                          <p:spTgt spid="17416"/>
                                        </p:tgtEl>
                                        <p:attrNameLst>
                                          <p:attrName>ppt_x</p:attrName>
                                        </p:attrNameLst>
                                      </p:cBhvr>
                                      <p:tavLst>
                                        <p:tav tm="0">
                                          <p:val>
                                            <p:strVal val="#ppt_x"/>
                                          </p:val>
                                        </p:tav>
                                        <p:tav tm="100000">
                                          <p:val>
                                            <p:strVal val="#ppt_x"/>
                                          </p:val>
                                        </p:tav>
                                      </p:tavLst>
                                    </p:anim>
                                    <p:anim calcmode="lin" valueType="num">
                                      <p:cBhvr>
                                        <p:cTn id="8" dur="500" fill="hold"/>
                                        <p:tgtEl>
                                          <p:spTgt spid="17416"/>
                                        </p:tgtEl>
                                        <p:attrNameLst>
                                          <p:attrName>ppt_y</p:attrName>
                                        </p:attrNameLst>
                                      </p:cBhvr>
                                      <p:tavLst>
                                        <p:tav tm="0">
                                          <p:val>
                                            <p:strVal val="#ppt_y+#ppt_h/2"/>
                                          </p:val>
                                        </p:tav>
                                        <p:tav tm="100000">
                                          <p:val>
                                            <p:strVal val="#ppt_y"/>
                                          </p:val>
                                        </p:tav>
                                      </p:tavLst>
                                    </p:anim>
                                    <p:anim calcmode="lin" valueType="num">
                                      <p:cBhvr>
                                        <p:cTn id="9" dur="500" fill="hold"/>
                                        <p:tgtEl>
                                          <p:spTgt spid="17416"/>
                                        </p:tgtEl>
                                        <p:attrNameLst>
                                          <p:attrName>ppt_w</p:attrName>
                                        </p:attrNameLst>
                                      </p:cBhvr>
                                      <p:tavLst>
                                        <p:tav tm="0">
                                          <p:val>
                                            <p:strVal val="#ppt_w"/>
                                          </p:val>
                                        </p:tav>
                                        <p:tav tm="100000">
                                          <p:val>
                                            <p:strVal val="#ppt_w"/>
                                          </p:val>
                                        </p:tav>
                                      </p:tavLst>
                                    </p:anim>
                                    <p:anim calcmode="lin" valueType="num">
                                      <p:cBhvr>
                                        <p:cTn id="10" dur="500" fill="hold"/>
                                        <p:tgtEl>
                                          <p:spTgt spid="17416"/>
                                        </p:tgtEl>
                                        <p:attrNameLst>
                                          <p:attrName>ppt_h</p:attrName>
                                        </p:attrNameLst>
                                      </p:cBhvr>
                                      <p:tavLst>
                                        <p:tav tm="0">
                                          <p:val>
                                            <p:fltVal val="0"/>
                                          </p:val>
                                        </p:tav>
                                        <p:tav tm="100000">
                                          <p:val>
                                            <p:strVal val="#ppt_h"/>
                                          </p:val>
                                        </p:tav>
                                      </p:tavLst>
                                    </p:anim>
                                  </p:childTnLst>
                                </p:cTn>
                              </p:par>
                            </p:childTnLst>
                          </p:cTn>
                        </p:par>
                        <p:par>
                          <p:cTn id="11" fill="hold" nodeType="afterGroup">
                            <p:stCondLst>
                              <p:cond delay="500"/>
                            </p:stCondLst>
                            <p:childTnLst>
                              <p:par>
                                <p:cTn id="12" presetID="22" presetClass="entr" presetSubtype="8"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left)">
                                      <p:cBhvr>
                                        <p:cTn id="14" dur="500"/>
                                        <p:tgtEl>
                                          <p:spTgt spid="2"/>
                                        </p:tgtEl>
                                      </p:cBhvr>
                                    </p:animEffect>
                                  </p:childTnLst>
                                </p:cTn>
                              </p:par>
                            </p:childTnLst>
                          </p:cTn>
                        </p:par>
                        <p:par>
                          <p:cTn id="15" fill="hold" nodeType="afterGroup">
                            <p:stCondLst>
                              <p:cond delay="1000"/>
                            </p:stCondLst>
                            <p:childTnLst>
                              <p:par>
                                <p:cTn id="16" presetID="4" presetClass="entr" presetSubtype="32" fill="hold" grpId="0" nodeType="afterEffect">
                                  <p:stCondLst>
                                    <p:cond delay="0"/>
                                  </p:stCondLst>
                                  <p:childTnLst>
                                    <p:set>
                                      <p:cBhvr>
                                        <p:cTn id="17" dur="1" fill="hold">
                                          <p:stCondLst>
                                            <p:cond delay="0"/>
                                          </p:stCondLst>
                                        </p:cTn>
                                        <p:tgtEl>
                                          <p:spTgt spid="17418"/>
                                        </p:tgtEl>
                                        <p:attrNameLst>
                                          <p:attrName>style.visibility</p:attrName>
                                        </p:attrNameLst>
                                      </p:cBhvr>
                                      <p:to>
                                        <p:strVal val="visible"/>
                                      </p:to>
                                    </p:set>
                                    <p:animEffect transition="in" filter="box(out)">
                                      <p:cBhvr>
                                        <p:cTn id="18" dur="500"/>
                                        <p:tgtEl>
                                          <p:spTgt spid="17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6" grpId="0" animBg="1"/>
      <p:bldP spid="17418"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atin typeface="Times New Roman" charset="0"/>
              </a:rPr>
              <a:t>The Central Limit Theorem</a:t>
            </a:r>
          </a:p>
        </p:txBody>
      </p:sp>
      <p:sp>
        <p:nvSpPr>
          <p:cNvPr id="30723" name="Rectangle 3"/>
          <p:cNvSpPr>
            <a:spLocks noGrp="1" noChangeArrowheads="1"/>
          </p:cNvSpPr>
          <p:nvPr>
            <p:ph type="body" idx="1"/>
          </p:nvPr>
        </p:nvSpPr>
        <p:spPr>
          <a:solidFill>
            <a:schemeClr val="tx2"/>
          </a:solidFill>
          <a:ln w="38100">
            <a:solidFill>
              <a:schemeClr val="accent2"/>
            </a:solidFill>
            <a:miter lim="800000"/>
            <a:headEnd/>
            <a:tailEnd/>
          </a:ln>
        </p:spPr>
        <p:txBody>
          <a:bodyPr/>
          <a:lstStyle/>
          <a:p>
            <a:pPr eaLnBrk="1" hangingPunct="1"/>
            <a:r>
              <a:rPr lang="en-US" sz="2700">
                <a:solidFill>
                  <a:srgbClr val="000000"/>
                </a:solidFill>
                <a:latin typeface="Times New Roman" charset="0"/>
              </a:rPr>
              <a:t>A SRS of n observations taken from a population with mean </a:t>
            </a:r>
            <a:r>
              <a:rPr lang="en-US" sz="2700">
                <a:solidFill>
                  <a:srgbClr val="000000"/>
                </a:solidFill>
                <a:latin typeface="Times New Roman" charset="0"/>
                <a:sym typeface="Symbol" charset="0"/>
              </a:rPr>
              <a:t></a:t>
            </a:r>
            <a:r>
              <a:rPr lang="en-US" sz="2700">
                <a:solidFill>
                  <a:srgbClr val="000000"/>
                </a:solidFill>
                <a:latin typeface="Times New Roman" charset="0"/>
              </a:rPr>
              <a:t> and standard deviation </a:t>
            </a:r>
            <a:r>
              <a:rPr lang="en-US" sz="2700">
                <a:solidFill>
                  <a:srgbClr val="000000"/>
                </a:solidFill>
                <a:latin typeface="Times New Roman" charset="0"/>
                <a:sym typeface="Symbol" charset="0"/>
              </a:rPr>
              <a:t></a:t>
            </a:r>
            <a:r>
              <a:rPr lang="en-US" sz="2700">
                <a:solidFill>
                  <a:srgbClr val="000000"/>
                </a:solidFill>
                <a:latin typeface="Times New Roman" charset="0"/>
              </a:rPr>
              <a:t> </a:t>
            </a:r>
          </a:p>
          <a:p>
            <a:pPr eaLnBrk="1" hangingPunct="1"/>
            <a:r>
              <a:rPr lang="en-US" sz="2700">
                <a:solidFill>
                  <a:srgbClr val="000000"/>
                </a:solidFill>
                <a:latin typeface="Times New Roman" charset="0"/>
              </a:rPr>
              <a:t>Regardless of the population</a:t>
            </a:r>
            <a:r>
              <a:rPr lang="ja-JP" altLang="en-US" sz="2700">
                <a:solidFill>
                  <a:srgbClr val="000000"/>
                </a:solidFill>
                <a:latin typeface="Times New Roman" charset="0"/>
              </a:rPr>
              <a:t>’</a:t>
            </a:r>
            <a:r>
              <a:rPr lang="en-US" sz="2700">
                <a:solidFill>
                  <a:srgbClr val="000000"/>
                </a:solidFill>
                <a:latin typeface="Times New Roman" charset="0"/>
              </a:rPr>
              <a:t>s distribution the distribution of the sample mean will be approximately normal (provided the sample size is sufficiently large).</a:t>
            </a:r>
          </a:p>
          <a:p>
            <a:pPr eaLnBrk="1" hangingPunct="1"/>
            <a:r>
              <a:rPr lang="en-US" sz="2700">
                <a:solidFill>
                  <a:srgbClr val="000000"/>
                </a:solidFill>
                <a:latin typeface="Times New Roman" charset="0"/>
              </a:rPr>
              <a:t>The </a:t>
            </a:r>
            <a:r>
              <a:rPr lang="en-US" sz="2700">
                <a:solidFill>
                  <a:srgbClr val="000000"/>
                </a:solidFill>
                <a:latin typeface="Times New Roman" charset="0"/>
                <a:sym typeface="Symbol" charset="0"/>
              </a:rPr>
              <a:t>larger the sample size, the better the approximation to the normal distribution.</a:t>
            </a:r>
            <a:endParaRPr lang="en-US" sz="2700">
              <a:solidFill>
                <a:srgbClr val="000000"/>
              </a:solidFill>
              <a:latin typeface="Times New Roman" charset="0"/>
            </a:endParaRPr>
          </a:p>
        </p:txBody>
      </p:sp>
    </p:spTree>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latin typeface="Times New Roman" charset="0"/>
              </a:rPr>
              <a:t>Simulating 500 Rolls of n Dice</a:t>
            </a:r>
          </a:p>
        </p:txBody>
      </p:sp>
      <p:pic>
        <p:nvPicPr>
          <p:cNvPr id="317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962150"/>
            <a:ext cx="4886325" cy="4057650"/>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en-US">
                <a:latin typeface="Times New Roman" charset="0"/>
              </a:rPr>
              <a:t>Simulating 500 Rolls of n Dice</a:t>
            </a:r>
          </a:p>
        </p:txBody>
      </p:sp>
      <p:graphicFrame>
        <p:nvGraphicFramePr>
          <p:cNvPr id="6146" name="Object 3"/>
          <p:cNvGraphicFramePr>
            <a:graphicFrameLocks noChangeAspect="1"/>
          </p:cNvGraphicFramePr>
          <p:nvPr/>
        </p:nvGraphicFramePr>
        <p:xfrm>
          <a:off x="2132013" y="1943100"/>
          <a:ext cx="4878387" cy="3924300"/>
        </p:xfrm>
        <a:graphic>
          <a:graphicData uri="http://schemas.openxmlformats.org/presentationml/2006/ole">
            <mc:AlternateContent xmlns:mc="http://schemas.openxmlformats.org/markup-compatibility/2006">
              <mc:Choice xmlns:v="urn:schemas-microsoft-com:vml" Requires="v">
                <p:oleObj spid="_x0000_s6151" name="Worksheet" r:id="rId3" imgW="4877161" imgH="3924623" progId="Excel.Sheet.8">
                  <p:embed/>
                </p:oleObj>
              </mc:Choice>
              <mc:Fallback>
                <p:oleObj name="Worksheet" r:id="rId3" imgW="4877161" imgH="3924623" progId="Excel.Shee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2013" y="1943100"/>
                        <a:ext cx="4878387" cy="3924300"/>
                      </a:xfrm>
                      <a:prstGeom prst="rect">
                        <a:avLst/>
                      </a:prstGeom>
                      <a:noFill/>
                      <a:ln w="381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atin typeface="Times New Roman" charset="0"/>
              </a:rPr>
              <a:t>Simulating 500 Rolls of n Dice</a:t>
            </a:r>
          </a:p>
        </p:txBody>
      </p:sp>
      <p:pic>
        <p:nvPicPr>
          <p:cNvPr id="327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5663" y="1876425"/>
            <a:ext cx="4886325" cy="406717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atin typeface="Times New Roman" charset="0"/>
              </a:rPr>
              <a:t>Simulating 500 Rolls of n Dice</a:t>
            </a:r>
          </a:p>
        </p:txBody>
      </p:sp>
      <p:pic>
        <p:nvPicPr>
          <p:cNvPr id="337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1905000"/>
            <a:ext cx="4886325" cy="4067175"/>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4" name="Rectangle 12"/>
          <p:cNvSpPr>
            <a:spLocks noChangeArrowheads="1"/>
          </p:cNvSpPr>
          <p:nvPr/>
        </p:nvSpPr>
        <p:spPr bwMode="auto">
          <a:xfrm>
            <a:off x="1143000" y="1820863"/>
            <a:ext cx="6858000" cy="4275137"/>
          </a:xfrm>
          <a:prstGeom prst="rect">
            <a:avLst/>
          </a:prstGeom>
          <a:solidFill>
            <a:schemeClr val="tx2"/>
          </a:solidFill>
          <a:ln w="38100">
            <a:solidFill>
              <a:schemeClr val="accent2"/>
            </a:solidFill>
            <a:miter lim="800000"/>
            <a:headEnd/>
            <a:tailEnd/>
          </a:ln>
        </p:spPr>
        <p:txBody>
          <a:bodyPr wrap="none" anchor="ctr"/>
          <a:lstStyle/>
          <a:p>
            <a:pPr algn="ctr"/>
            <a:endParaRPr lang="en-US">
              <a:solidFill>
                <a:schemeClr val="bg2"/>
              </a:solidFill>
            </a:endParaRPr>
          </a:p>
        </p:txBody>
      </p:sp>
      <p:sp>
        <p:nvSpPr>
          <p:cNvPr id="7175" name="Rectangle 2"/>
          <p:cNvSpPr>
            <a:spLocks noGrp="1" noChangeArrowheads="1"/>
          </p:cNvSpPr>
          <p:nvPr>
            <p:ph type="title"/>
          </p:nvPr>
        </p:nvSpPr>
        <p:spPr/>
        <p:txBody>
          <a:bodyPr/>
          <a:lstStyle/>
          <a:p>
            <a:pPr eaLnBrk="1" hangingPunct="1"/>
            <a:r>
              <a:rPr lang="en-US">
                <a:latin typeface="Times New Roman" charset="0"/>
              </a:rPr>
              <a:t>Z-Score for Distribution of the Mean</a:t>
            </a:r>
          </a:p>
        </p:txBody>
      </p:sp>
      <p:sp>
        <p:nvSpPr>
          <p:cNvPr id="7176" name="Rectangle 3"/>
          <p:cNvSpPr>
            <a:spLocks noGrp="1" noChangeArrowheads="1"/>
          </p:cNvSpPr>
          <p:nvPr>
            <p:ph type="body" idx="1"/>
          </p:nvPr>
        </p:nvSpPr>
        <p:spPr>
          <a:xfrm>
            <a:off x="914400" y="1981200"/>
            <a:ext cx="7772400" cy="4114800"/>
          </a:xfrm>
        </p:spPr>
        <p:txBody>
          <a:bodyPr/>
          <a:lstStyle/>
          <a:p>
            <a:pPr eaLnBrk="1" hangingPunct="1">
              <a:lnSpc>
                <a:spcPct val="90000"/>
              </a:lnSpc>
            </a:pPr>
            <a:endParaRPr lang="en-US">
              <a:solidFill>
                <a:schemeClr val="bg2"/>
              </a:solidFill>
              <a:latin typeface="Times New Roman" charset="0"/>
            </a:endParaRPr>
          </a:p>
          <a:p>
            <a:pPr eaLnBrk="1" hangingPunct="1">
              <a:lnSpc>
                <a:spcPct val="90000"/>
              </a:lnSpc>
            </a:pPr>
            <a:endParaRPr lang="en-US">
              <a:solidFill>
                <a:schemeClr val="bg2"/>
              </a:solidFill>
              <a:latin typeface="Times New Roman" charset="0"/>
            </a:endParaRPr>
          </a:p>
          <a:p>
            <a:pPr eaLnBrk="1" hangingPunct="1">
              <a:lnSpc>
                <a:spcPct val="90000"/>
              </a:lnSpc>
            </a:pPr>
            <a:endParaRPr lang="en-US">
              <a:solidFill>
                <a:schemeClr val="bg2"/>
              </a:solidFill>
              <a:latin typeface="Times New Roman" charset="0"/>
            </a:endParaRPr>
          </a:p>
          <a:p>
            <a:pPr eaLnBrk="1" hangingPunct="1">
              <a:lnSpc>
                <a:spcPct val="90000"/>
              </a:lnSpc>
            </a:pPr>
            <a:endParaRPr lang="en-US" sz="2400">
              <a:solidFill>
                <a:schemeClr val="bg2"/>
              </a:solidFill>
              <a:latin typeface="Times New Roman" charset="0"/>
            </a:endParaRPr>
          </a:p>
          <a:p>
            <a:pPr eaLnBrk="1" hangingPunct="1">
              <a:lnSpc>
                <a:spcPct val="90000"/>
              </a:lnSpc>
            </a:pPr>
            <a:endParaRPr lang="en-US" sz="2400">
              <a:solidFill>
                <a:schemeClr val="bg2"/>
              </a:solidFill>
              <a:latin typeface="Times New Roman" charset="0"/>
            </a:endParaRPr>
          </a:p>
          <a:p>
            <a:pPr eaLnBrk="1" hangingPunct="1">
              <a:lnSpc>
                <a:spcPct val="90000"/>
              </a:lnSpc>
              <a:buFontTx/>
              <a:buNone/>
            </a:pPr>
            <a:r>
              <a:rPr lang="en-US" sz="2400">
                <a:solidFill>
                  <a:schemeClr val="bg2"/>
                </a:solidFill>
                <a:latin typeface="Times New Roman" charset="0"/>
              </a:rPr>
              <a:t>	where:		= Sample mean</a:t>
            </a:r>
          </a:p>
          <a:p>
            <a:pPr eaLnBrk="1" hangingPunct="1">
              <a:lnSpc>
                <a:spcPct val="90000"/>
              </a:lnSpc>
              <a:buFontTx/>
              <a:buNone/>
            </a:pPr>
            <a:r>
              <a:rPr lang="en-US" sz="2400">
                <a:solidFill>
                  <a:schemeClr val="bg2"/>
                </a:solidFill>
                <a:latin typeface="Times New Roman" charset="0"/>
              </a:rPr>
              <a:t>			     	= Population mean</a:t>
            </a:r>
          </a:p>
          <a:p>
            <a:pPr eaLnBrk="1" hangingPunct="1">
              <a:lnSpc>
                <a:spcPct val="90000"/>
              </a:lnSpc>
              <a:buFontTx/>
              <a:buNone/>
            </a:pPr>
            <a:r>
              <a:rPr lang="en-US" sz="2400">
                <a:solidFill>
                  <a:schemeClr val="bg2"/>
                </a:solidFill>
                <a:latin typeface="Times New Roman" charset="0"/>
              </a:rPr>
              <a:t>				= Population standard deviation	    		       n  = Sample size</a:t>
            </a:r>
          </a:p>
          <a:p>
            <a:pPr eaLnBrk="1" hangingPunct="1">
              <a:lnSpc>
                <a:spcPct val="90000"/>
              </a:lnSpc>
            </a:pPr>
            <a:endParaRPr lang="en-US" sz="2800">
              <a:solidFill>
                <a:schemeClr val="bg2"/>
              </a:solidFill>
              <a:latin typeface="Times New Roman" charset="0"/>
            </a:endParaRPr>
          </a:p>
        </p:txBody>
      </p:sp>
      <p:graphicFrame>
        <p:nvGraphicFramePr>
          <p:cNvPr id="7170" name="Object 7"/>
          <p:cNvGraphicFramePr>
            <a:graphicFrameLocks noChangeAspect="1"/>
          </p:cNvGraphicFramePr>
          <p:nvPr/>
        </p:nvGraphicFramePr>
        <p:xfrm>
          <a:off x="3276600" y="4800600"/>
          <a:ext cx="352425" cy="381000"/>
        </p:xfrm>
        <a:graphic>
          <a:graphicData uri="http://schemas.openxmlformats.org/presentationml/2006/ole">
            <mc:AlternateContent xmlns:mc="http://schemas.openxmlformats.org/markup-compatibility/2006">
              <mc:Choice xmlns:v="urn:schemas-microsoft-com:vml" Requires="v">
                <p:oleObj spid="_x0000_s7190" name="Equation" r:id="rId3" imgW="152664" imgH="165353" progId="Equation.3">
                  <p:embed/>
                </p:oleObj>
              </mc:Choice>
              <mc:Fallback>
                <p:oleObj name="Equation" r:id="rId3" imgW="152664" imgH="165353"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4800600"/>
                        <a:ext cx="352425"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7171" name="Object 8"/>
          <p:cNvGraphicFramePr>
            <a:graphicFrameLocks noChangeAspect="1"/>
          </p:cNvGraphicFramePr>
          <p:nvPr/>
        </p:nvGraphicFramePr>
        <p:xfrm>
          <a:off x="4286250" y="2449513"/>
          <a:ext cx="112713" cy="214312"/>
        </p:xfrm>
        <a:graphic>
          <a:graphicData uri="http://schemas.openxmlformats.org/presentationml/2006/ole">
            <mc:AlternateContent xmlns:mc="http://schemas.openxmlformats.org/markup-compatibility/2006">
              <mc:Choice xmlns:v="urn:schemas-microsoft-com:vml" Requires="v">
                <p:oleObj spid="_x0000_s7191" name="Equation" r:id="rId5" imgW="114548" imgH="216016" progId="Equation.3">
                  <p:embed/>
                </p:oleObj>
              </mc:Choice>
              <mc:Fallback>
                <p:oleObj name="Equation" r:id="rId5" imgW="114548" imgH="216016"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86250" y="2449513"/>
                        <a:ext cx="112713"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7172" name="Object 9"/>
          <p:cNvGraphicFramePr>
            <a:graphicFrameLocks noChangeAspect="1"/>
          </p:cNvGraphicFramePr>
          <p:nvPr/>
        </p:nvGraphicFramePr>
        <p:xfrm>
          <a:off x="3352800" y="5211763"/>
          <a:ext cx="379413" cy="350837"/>
        </p:xfrm>
        <a:graphic>
          <a:graphicData uri="http://schemas.openxmlformats.org/presentationml/2006/ole">
            <mc:AlternateContent xmlns:mc="http://schemas.openxmlformats.org/markup-compatibility/2006">
              <mc:Choice xmlns:v="urn:schemas-microsoft-com:vml" Requires="v">
                <p:oleObj spid="_x0000_s7192" name="Equation" r:id="rId7" imgW="152731" imgH="140036" progId="Equation.3">
                  <p:embed/>
                </p:oleObj>
              </mc:Choice>
              <mc:Fallback>
                <p:oleObj name="Equation" r:id="rId7" imgW="152731" imgH="140036"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52800" y="5211763"/>
                        <a:ext cx="379413" cy="350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7173" name="Object 10"/>
          <p:cNvGraphicFramePr>
            <a:graphicFrameLocks noChangeAspect="1"/>
          </p:cNvGraphicFramePr>
          <p:nvPr/>
        </p:nvGraphicFramePr>
        <p:xfrm>
          <a:off x="3429000" y="2133600"/>
          <a:ext cx="2265363" cy="1946275"/>
        </p:xfrm>
        <a:graphic>
          <a:graphicData uri="http://schemas.openxmlformats.org/presentationml/2006/ole">
            <mc:AlternateContent xmlns:mc="http://schemas.openxmlformats.org/markup-compatibility/2006">
              <mc:Choice xmlns:v="urn:schemas-microsoft-com:vml" Requires="v">
                <p:oleObj spid="_x0000_s7193" name="Equation" r:id="rId9" imgW="723983" imgH="609732" progId="Equation.3">
                  <p:embed/>
                </p:oleObj>
              </mc:Choice>
              <mc:Fallback>
                <p:oleObj name="Equation" r:id="rId9" imgW="723983" imgH="609732"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29000" y="2133600"/>
                        <a:ext cx="2265363" cy="1946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pic>
        <p:nvPicPr>
          <p:cNvPr id="7177" name="Picture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52800" y="4267200"/>
            <a:ext cx="204788"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pPr eaLnBrk="1" hangingPunct="1"/>
            <a:r>
              <a:rPr lang="en-US">
                <a:latin typeface="Times New Roman" charset="0"/>
              </a:rPr>
              <a:t>Example Calculation</a:t>
            </a:r>
          </a:p>
        </p:txBody>
      </p:sp>
      <p:sp>
        <p:nvSpPr>
          <p:cNvPr id="24579" name="Rectangle 3"/>
          <p:cNvSpPr>
            <a:spLocks noChangeArrowheads="1"/>
          </p:cNvSpPr>
          <p:nvPr/>
        </p:nvSpPr>
        <p:spPr bwMode="auto">
          <a:xfrm>
            <a:off x="574675" y="2109788"/>
            <a:ext cx="7883525" cy="1474787"/>
          </a:xfrm>
          <a:prstGeom prst="rect">
            <a:avLst/>
          </a:prstGeom>
          <a:solidFill>
            <a:schemeClr val="tx2"/>
          </a:solidFill>
          <a:ln w="38100">
            <a:solidFill>
              <a:schemeClr val="accent2"/>
            </a:solidFill>
            <a:miter lim="800000"/>
            <a:headEnd/>
            <a:tailEnd/>
          </a:ln>
        </p:spPr>
        <p:txBody>
          <a:bodyPr/>
          <a:lstStyle/>
          <a:p>
            <a:r>
              <a:rPr lang="en-US" sz="2000">
                <a:solidFill>
                  <a:schemeClr val="bg2"/>
                </a:solidFill>
              </a:rPr>
              <a:t>What is the probability that a sample of 100 automobile insurance claim files will yield an average claim of $4,527.77 or less if the average claim for the population is $4,560 with standard deviation of $600?</a:t>
            </a:r>
          </a:p>
        </p:txBody>
      </p:sp>
      <p:graphicFrame>
        <p:nvGraphicFramePr>
          <p:cNvPr id="24580" name="Object 4"/>
          <p:cNvGraphicFramePr>
            <a:graphicFrameLocks noChangeAspect="1"/>
          </p:cNvGraphicFramePr>
          <p:nvPr/>
        </p:nvGraphicFramePr>
        <p:xfrm>
          <a:off x="381000" y="3798888"/>
          <a:ext cx="8310563" cy="1416050"/>
        </p:xfrm>
        <a:graphic>
          <a:graphicData uri="http://schemas.openxmlformats.org/presentationml/2006/ole">
            <mc:AlternateContent xmlns:mc="http://schemas.openxmlformats.org/markup-compatibility/2006">
              <mc:Choice xmlns:v="urn:schemas-microsoft-com:vml" Requires="v">
                <p:oleObj spid="_x0000_s8201" name="Equation" r:id="rId3" imgW="3213496" imgH="609997" progId="Equation.3">
                  <p:embed/>
                </p:oleObj>
              </mc:Choice>
              <mc:Fallback>
                <p:oleObj name="Equation" r:id="rId3" imgW="3213496" imgH="609997"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3798888"/>
                        <a:ext cx="8310563" cy="1416050"/>
                      </a:xfrm>
                      <a:prstGeom prst="rect">
                        <a:avLst/>
                      </a:prstGeom>
                      <a:solidFill>
                        <a:schemeClr val="tx2"/>
                      </a:solidFill>
                      <a:ln w="38100">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24581" name="Text Box 5"/>
          <p:cNvSpPr txBox="1">
            <a:spLocks noChangeArrowheads="1"/>
          </p:cNvSpPr>
          <p:nvPr/>
        </p:nvSpPr>
        <p:spPr bwMode="auto">
          <a:xfrm>
            <a:off x="3344863" y="5559425"/>
            <a:ext cx="3848100" cy="588963"/>
          </a:xfrm>
          <a:prstGeom prst="rect">
            <a:avLst/>
          </a:prstGeom>
          <a:solidFill>
            <a:schemeClr val="accent1"/>
          </a:solidFill>
          <a:ln w="9525">
            <a:solidFill>
              <a:schemeClr val="tx1"/>
            </a:solidFill>
            <a:miter lim="800000"/>
            <a:headEnd/>
            <a:tailEnd/>
          </a:ln>
        </p:spPr>
        <p:txBody>
          <a:bodyPr>
            <a:spAutoFit/>
          </a:bodyPr>
          <a:lstStyle>
            <a:lvl1pPr>
              <a:defRPr sz="2400">
                <a:solidFill>
                  <a:schemeClr val="tx1"/>
                </a:solidFill>
                <a:latin typeface="Times" charset="0"/>
                <a:ea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pPr>
              <a:spcBef>
                <a:spcPct val="50000"/>
              </a:spcBef>
            </a:pPr>
            <a:r>
              <a:rPr lang="en-US" sz="3200">
                <a:solidFill>
                  <a:schemeClr val="tx2"/>
                </a:solidFill>
                <a:latin typeface="Times New Roman" charset="0"/>
              </a:rPr>
              <a:t>P(</a:t>
            </a:r>
            <a:r>
              <a:rPr lang="en-US" sz="3200" i="1">
                <a:solidFill>
                  <a:schemeClr val="tx2"/>
                </a:solidFill>
                <a:latin typeface="Times New Roman" charset="0"/>
              </a:rPr>
              <a:t>Z</a:t>
            </a:r>
            <a:r>
              <a:rPr lang="en-US" sz="3200">
                <a:solidFill>
                  <a:schemeClr val="tx2"/>
                </a:solidFill>
                <a:latin typeface="Times New Roman" charset="0"/>
              </a:rPr>
              <a:t> &lt; -0.54) = 0.2946</a:t>
            </a: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barn(outHorizontal)">
                                      <p:cBhvr>
                                        <p:cTn id="7" dur="500"/>
                                        <p:tgtEl>
                                          <p:spTgt spid="245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4" fill="hold" nodeType="clickEffect">
                                  <p:stCondLst>
                                    <p:cond delay="0"/>
                                  </p:stCondLst>
                                  <p:childTnLst>
                                    <p:set>
                                      <p:cBhvr>
                                        <p:cTn id="11" dur="1" fill="hold">
                                          <p:stCondLst>
                                            <p:cond delay="0"/>
                                          </p:stCondLst>
                                        </p:cTn>
                                        <p:tgtEl>
                                          <p:spTgt spid="24580"/>
                                        </p:tgtEl>
                                        <p:attrNameLst>
                                          <p:attrName>style.visibility</p:attrName>
                                        </p:attrNameLst>
                                      </p:cBhvr>
                                      <p:to>
                                        <p:strVal val="visible"/>
                                      </p:to>
                                    </p:set>
                                    <p:anim calcmode="lin" valueType="num">
                                      <p:cBhvr>
                                        <p:cTn id="12" dur="500" fill="hold"/>
                                        <p:tgtEl>
                                          <p:spTgt spid="24580"/>
                                        </p:tgtEl>
                                        <p:attrNameLst>
                                          <p:attrName>ppt_x</p:attrName>
                                        </p:attrNameLst>
                                      </p:cBhvr>
                                      <p:tavLst>
                                        <p:tav tm="0">
                                          <p:val>
                                            <p:strVal val="#ppt_x"/>
                                          </p:val>
                                        </p:tav>
                                        <p:tav tm="100000">
                                          <p:val>
                                            <p:strVal val="#ppt_x"/>
                                          </p:val>
                                        </p:tav>
                                      </p:tavLst>
                                    </p:anim>
                                    <p:anim calcmode="lin" valueType="num">
                                      <p:cBhvr>
                                        <p:cTn id="13" dur="500" fill="hold"/>
                                        <p:tgtEl>
                                          <p:spTgt spid="24580"/>
                                        </p:tgtEl>
                                        <p:attrNameLst>
                                          <p:attrName>ppt_y</p:attrName>
                                        </p:attrNameLst>
                                      </p:cBhvr>
                                      <p:tavLst>
                                        <p:tav tm="0">
                                          <p:val>
                                            <p:strVal val="#ppt_y+#ppt_h/2"/>
                                          </p:val>
                                        </p:tav>
                                        <p:tav tm="100000">
                                          <p:val>
                                            <p:strVal val="#ppt_y"/>
                                          </p:val>
                                        </p:tav>
                                      </p:tavLst>
                                    </p:anim>
                                    <p:anim calcmode="lin" valueType="num">
                                      <p:cBhvr>
                                        <p:cTn id="14" dur="500" fill="hold"/>
                                        <p:tgtEl>
                                          <p:spTgt spid="24580"/>
                                        </p:tgtEl>
                                        <p:attrNameLst>
                                          <p:attrName>ppt_w</p:attrName>
                                        </p:attrNameLst>
                                      </p:cBhvr>
                                      <p:tavLst>
                                        <p:tav tm="0">
                                          <p:val>
                                            <p:strVal val="#ppt_w"/>
                                          </p:val>
                                        </p:tav>
                                        <p:tav tm="100000">
                                          <p:val>
                                            <p:strVal val="#ppt_w"/>
                                          </p:val>
                                        </p:tav>
                                      </p:tavLst>
                                    </p:anim>
                                    <p:anim calcmode="lin" valueType="num">
                                      <p:cBhvr>
                                        <p:cTn id="15" dur="500" fill="hold"/>
                                        <p:tgtEl>
                                          <p:spTgt spid="24580"/>
                                        </p:tgtEl>
                                        <p:attrNameLst>
                                          <p:attrName>ppt_h</p:attrName>
                                        </p:attrNameLst>
                                      </p:cBhvr>
                                      <p:tavLst>
                                        <p:tav tm="0">
                                          <p:val>
                                            <p:fltVal val="0"/>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24581"/>
                                        </p:tgtEl>
                                        <p:attrNameLst>
                                          <p:attrName>style.visibility</p:attrName>
                                        </p:attrNameLst>
                                      </p:cBhvr>
                                      <p:to>
                                        <p:strVal val="visible"/>
                                      </p:to>
                                    </p:set>
                                    <p:anim calcmode="lin" valueType="num">
                                      <p:cBhvr additive="base">
                                        <p:cTn id="20" dur="500" fill="hold"/>
                                        <p:tgtEl>
                                          <p:spTgt spid="24581"/>
                                        </p:tgtEl>
                                        <p:attrNameLst>
                                          <p:attrName>ppt_x</p:attrName>
                                        </p:attrNameLst>
                                      </p:cBhvr>
                                      <p:tavLst>
                                        <p:tav tm="0">
                                          <p:val>
                                            <p:strVal val="0-#ppt_w/2"/>
                                          </p:val>
                                        </p:tav>
                                        <p:tav tm="100000">
                                          <p:val>
                                            <p:strVal val="#ppt_x"/>
                                          </p:val>
                                        </p:tav>
                                      </p:tavLst>
                                    </p:anim>
                                    <p:anim calcmode="lin" valueType="num">
                                      <p:cBhvr additive="base">
                                        <p:cTn id="21" dur="500" fill="hold"/>
                                        <p:tgtEl>
                                          <p:spTgt spid="2458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autoUpdateAnimBg="0"/>
      <p:bldP spid="24581"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atin typeface="Times New Roman" charset="0"/>
              </a:rPr>
              <a:t>Example: ACT Exam</a:t>
            </a:r>
          </a:p>
        </p:txBody>
      </p:sp>
      <p:sp>
        <p:nvSpPr>
          <p:cNvPr id="25603" name="Rectangle 3"/>
          <p:cNvSpPr>
            <a:spLocks noGrp="1" noChangeArrowheads="1"/>
          </p:cNvSpPr>
          <p:nvPr>
            <p:ph type="body" idx="1"/>
          </p:nvPr>
        </p:nvSpPr>
        <p:spPr>
          <a:solidFill>
            <a:schemeClr val="tx2"/>
          </a:solidFill>
          <a:ln w="38100">
            <a:solidFill>
              <a:schemeClr val="accent2"/>
            </a:solidFill>
            <a:miter lim="800000"/>
            <a:headEnd/>
            <a:tailEnd/>
          </a:ln>
        </p:spPr>
        <p:txBody>
          <a:bodyPr/>
          <a:lstStyle/>
          <a:p>
            <a:pPr eaLnBrk="1" hangingPunct="1"/>
            <a:r>
              <a:rPr lang="en-US">
                <a:solidFill>
                  <a:schemeClr val="bg2"/>
                </a:solidFill>
                <a:latin typeface="Times New Roman" charset="0"/>
              </a:rPr>
              <a:t>Scores on the ACT exam are distributed N(18.6, 5.9)</a:t>
            </a:r>
          </a:p>
          <a:p>
            <a:pPr eaLnBrk="1" hangingPunct="1"/>
            <a:r>
              <a:rPr lang="en-US">
                <a:solidFill>
                  <a:schemeClr val="bg2"/>
                </a:solidFill>
                <a:latin typeface="Times New Roman" charset="0"/>
              </a:rPr>
              <a:t>What is the probability that a single student scores 21 or higher?</a:t>
            </a:r>
          </a:p>
          <a:p>
            <a:pPr eaLnBrk="1" hangingPunct="1"/>
            <a:r>
              <a:rPr lang="en-US">
                <a:solidFill>
                  <a:schemeClr val="bg2"/>
                </a:solidFill>
                <a:latin typeface="Times New Roman" charset="0"/>
              </a:rPr>
              <a:t>What is the probability that the mean score of 50 students is 21 or higher? </a:t>
            </a: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blinds(horizontal)">
                                      <p:cBhvr>
                                        <p:cTn id="7" dur="500"/>
                                        <p:tgtEl>
                                          <p:spTgt spid="256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603">
                                            <p:txEl>
                                              <p:pRg st="1" end="1"/>
                                            </p:txEl>
                                          </p:spTgt>
                                        </p:tgtEl>
                                        <p:attrNameLst>
                                          <p:attrName>style.visibility</p:attrName>
                                        </p:attrNameLst>
                                      </p:cBhvr>
                                      <p:to>
                                        <p:strVal val="visible"/>
                                      </p:to>
                                    </p:set>
                                    <p:animEffect transition="in" filter="blinds(horizontal)">
                                      <p:cBhvr>
                                        <p:cTn id="12" dur="500"/>
                                        <p:tgtEl>
                                          <p:spTgt spid="256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603">
                                            <p:txEl>
                                              <p:pRg st="2" end="2"/>
                                            </p:txEl>
                                          </p:spTgt>
                                        </p:tgtEl>
                                        <p:attrNameLst>
                                          <p:attrName>style.visibility</p:attrName>
                                        </p:attrNameLst>
                                      </p:cBhvr>
                                      <p:to>
                                        <p:strVal val="visible"/>
                                      </p:to>
                                    </p:set>
                                    <p:animEffect transition="in" filter="blinds(horizontal)">
                                      <p:cBhvr>
                                        <p:cTn id="17" dur="500"/>
                                        <p:tgtEl>
                                          <p:spTgt spid="256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atin typeface="Times New Roman" charset="0"/>
              </a:rPr>
              <a:t>Summary</a:t>
            </a:r>
          </a:p>
        </p:txBody>
      </p:sp>
      <p:sp>
        <p:nvSpPr>
          <p:cNvPr id="35843" name="Rectangle 3"/>
          <p:cNvSpPr>
            <a:spLocks noGrp="1" noChangeArrowheads="1"/>
          </p:cNvSpPr>
          <p:nvPr>
            <p:ph type="body" idx="1"/>
          </p:nvPr>
        </p:nvSpPr>
        <p:spPr>
          <a:solidFill>
            <a:schemeClr val="tx2"/>
          </a:solidFill>
          <a:ln w="38100">
            <a:solidFill>
              <a:schemeClr val="accent2"/>
            </a:solidFill>
            <a:miter lim="800000"/>
            <a:headEnd/>
            <a:tailEnd/>
          </a:ln>
        </p:spPr>
        <p:txBody>
          <a:bodyPr/>
          <a:lstStyle/>
          <a:p>
            <a:pPr eaLnBrk="1" hangingPunct="1"/>
            <a:r>
              <a:rPr lang="en-US">
                <a:solidFill>
                  <a:schemeClr val="bg2"/>
                </a:solidFill>
                <a:latin typeface="Times New Roman" charset="0"/>
              </a:rPr>
              <a:t>Means of random samples are </a:t>
            </a:r>
            <a:r>
              <a:rPr lang="en-US" b="1">
                <a:solidFill>
                  <a:schemeClr val="bg2"/>
                </a:solidFill>
                <a:latin typeface="Times New Roman" charset="0"/>
              </a:rPr>
              <a:t>less variable</a:t>
            </a:r>
            <a:r>
              <a:rPr lang="en-US">
                <a:solidFill>
                  <a:schemeClr val="bg2"/>
                </a:solidFill>
                <a:latin typeface="Times New Roman" charset="0"/>
              </a:rPr>
              <a:t> than individual observations.</a:t>
            </a:r>
          </a:p>
          <a:p>
            <a:pPr eaLnBrk="1" hangingPunct="1"/>
            <a:r>
              <a:rPr lang="en-US">
                <a:solidFill>
                  <a:schemeClr val="bg2"/>
                </a:solidFill>
                <a:latin typeface="Times New Roman" charset="0"/>
              </a:rPr>
              <a:t>Means of random samples are </a:t>
            </a:r>
            <a:r>
              <a:rPr lang="en-US" b="1">
                <a:solidFill>
                  <a:schemeClr val="bg2"/>
                </a:solidFill>
                <a:latin typeface="Times New Roman" charset="0"/>
              </a:rPr>
              <a:t>more Normal</a:t>
            </a:r>
            <a:r>
              <a:rPr lang="en-US">
                <a:solidFill>
                  <a:schemeClr val="bg2"/>
                </a:solidFill>
                <a:latin typeface="Times New Roman" charset="0"/>
              </a:rPr>
              <a:t> than individual observations.</a:t>
            </a:r>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Radar">
  <a:themeElements>
    <a:clrScheme name="Radar 1">
      <a:dk1>
        <a:srgbClr val="000000"/>
      </a:dk1>
      <a:lt1>
        <a:srgbClr val="EAEAEA"/>
      </a:lt1>
      <a:dk2>
        <a:srgbClr val="000066"/>
      </a:dk2>
      <a:lt2>
        <a:srgbClr val="FFFFFF"/>
      </a:lt2>
      <a:accent1>
        <a:srgbClr val="003399"/>
      </a:accent1>
      <a:accent2>
        <a:srgbClr val="99CCFF"/>
      </a:accent2>
      <a:accent3>
        <a:srgbClr val="AAAAB8"/>
      </a:accent3>
      <a:accent4>
        <a:srgbClr val="C8C8C8"/>
      </a:accent4>
      <a:accent5>
        <a:srgbClr val="AAADCA"/>
      </a:accent5>
      <a:accent6>
        <a:srgbClr val="8AB9E7"/>
      </a:accent6>
      <a:hlink>
        <a:srgbClr val="CC9900"/>
      </a:hlink>
      <a:folHlink>
        <a:srgbClr val="996600"/>
      </a:folHlink>
    </a:clrScheme>
    <a:fontScheme name="Radar">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charset="0"/>
          </a:defRPr>
        </a:defPPr>
      </a:lstStyle>
    </a:lnDef>
  </a:objectDefaults>
  <a:extraClrSchemeLst>
    <a:extraClrScheme>
      <a:clrScheme name="Radar 1">
        <a:dk1>
          <a:srgbClr val="000000"/>
        </a:dk1>
        <a:lt1>
          <a:srgbClr val="EAEAEA"/>
        </a:lt1>
        <a:dk2>
          <a:srgbClr val="000066"/>
        </a:dk2>
        <a:lt2>
          <a:srgbClr val="FFFFFF"/>
        </a:lt2>
        <a:accent1>
          <a:srgbClr val="003399"/>
        </a:accent1>
        <a:accent2>
          <a:srgbClr val="99CCFF"/>
        </a:accent2>
        <a:accent3>
          <a:srgbClr val="AAAAB8"/>
        </a:accent3>
        <a:accent4>
          <a:srgbClr val="C8C8C8"/>
        </a:accent4>
        <a:accent5>
          <a:srgbClr val="AAADCA"/>
        </a:accent5>
        <a:accent6>
          <a:srgbClr val="8AB9E7"/>
        </a:accent6>
        <a:hlink>
          <a:srgbClr val="CC9900"/>
        </a:hlink>
        <a:folHlink>
          <a:srgbClr val="996600"/>
        </a:folHlink>
      </a:clrScheme>
      <a:clrMap bg1="dk2" tx1="lt1" bg2="dk1" tx2="lt2" accent1="accent1" accent2="accent2" accent3="accent3" accent4="accent4" accent5="accent5" accent6="accent6" hlink="hlink" folHlink="folHlink"/>
    </a:extraClrScheme>
    <a:extraClrScheme>
      <a:clrScheme name="Radar 2">
        <a:dk1>
          <a:srgbClr val="666699"/>
        </a:dk1>
        <a:lt1>
          <a:srgbClr val="CCCCFF"/>
        </a:lt1>
        <a:dk2>
          <a:srgbClr val="000040"/>
        </a:dk2>
        <a:lt2>
          <a:srgbClr val="A4A4C2"/>
        </a:lt2>
        <a:accent1>
          <a:srgbClr val="003399"/>
        </a:accent1>
        <a:accent2>
          <a:srgbClr val="0099FF"/>
        </a:accent2>
        <a:accent3>
          <a:srgbClr val="E2E2FF"/>
        </a:accent3>
        <a:accent4>
          <a:srgbClr val="565682"/>
        </a:accent4>
        <a:accent5>
          <a:srgbClr val="AAADCA"/>
        </a:accent5>
        <a:accent6>
          <a:srgbClr val="008AE7"/>
        </a:accent6>
        <a:hlink>
          <a:srgbClr val="B68600"/>
        </a:hlink>
        <a:folHlink>
          <a:srgbClr val="8A5C00"/>
        </a:folHlink>
      </a:clrScheme>
      <a:clrMap bg1="lt1" tx1="dk1" bg2="lt2" tx2="dk2" accent1="accent1" accent2="accent2" accent3="accent3" accent4="accent4" accent5="accent5" accent6="accent6" hlink="hlink" folHlink="folHlink"/>
    </a:extraClrScheme>
    <a:extraClrScheme>
      <a:clrScheme name="Radar 3">
        <a:dk1>
          <a:srgbClr val="000000"/>
        </a:dk1>
        <a:lt1>
          <a:srgbClr val="EAEAEA"/>
        </a:lt1>
        <a:dk2>
          <a:srgbClr val="000000"/>
        </a:dk2>
        <a:lt2>
          <a:srgbClr val="B2B2B2"/>
        </a:lt2>
        <a:accent1>
          <a:srgbClr val="777777"/>
        </a:accent1>
        <a:accent2>
          <a:srgbClr val="B2B2B2"/>
        </a:accent2>
        <a:accent3>
          <a:srgbClr val="F3F3F3"/>
        </a:accent3>
        <a:accent4>
          <a:srgbClr val="000000"/>
        </a:accent4>
        <a:accent5>
          <a:srgbClr val="BDBDBD"/>
        </a:accent5>
        <a:accent6>
          <a:srgbClr val="A1A1A1"/>
        </a:accent6>
        <a:hlink>
          <a:srgbClr val="808080"/>
        </a:hlink>
        <a:folHlink>
          <a:srgbClr val="5F5F5F"/>
        </a:folHlink>
      </a:clrScheme>
      <a:clrMap bg1="lt1" tx1="dk1" bg2="lt2" tx2="dk2" accent1="accent1" accent2="accent2" accent3="accent3" accent4="accent4" accent5="accent5" accent6="accent6" hlink="hlink" folHlink="folHlink"/>
    </a:extraClrScheme>
    <a:extraClrScheme>
      <a:clrScheme name="Radar 4">
        <a:dk1>
          <a:srgbClr val="333333"/>
        </a:dk1>
        <a:lt1>
          <a:srgbClr val="FFFF66"/>
        </a:lt1>
        <a:dk2>
          <a:srgbClr val="000000"/>
        </a:dk2>
        <a:lt2>
          <a:srgbClr val="CC3300"/>
        </a:lt2>
        <a:accent1>
          <a:srgbClr val="5F5F5F"/>
        </a:accent1>
        <a:accent2>
          <a:srgbClr val="3399FF"/>
        </a:accent2>
        <a:accent3>
          <a:srgbClr val="AAAAAA"/>
        </a:accent3>
        <a:accent4>
          <a:srgbClr val="DADA56"/>
        </a:accent4>
        <a:accent5>
          <a:srgbClr val="B6B6B6"/>
        </a:accent5>
        <a:accent6>
          <a:srgbClr val="2D8AE7"/>
        </a:accent6>
        <a:hlink>
          <a:srgbClr val="008000"/>
        </a:hlink>
        <a:folHlink>
          <a:srgbClr val="CCECFF"/>
        </a:folHlink>
      </a:clrScheme>
      <a:clrMap bg1="dk2" tx1="lt1" bg2="dk1" tx2="lt2" accent1="accent1" accent2="accent2" accent3="accent3" accent4="accent4" accent5="accent5" accent6="accent6" hlink="hlink" folHlink="folHlink"/>
    </a:extraClrScheme>
    <a:extraClrScheme>
      <a:clrScheme name="Radar 5">
        <a:dk1>
          <a:srgbClr val="003300"/>
        </a:dk1>
        <a:lt1>
          <a:srgbClr val="FFFFCC"/>
        </a:lt1>
        <a:dk2>
          <a:srgbClr val="006600"/>
        </a:dk2>
        <a:lt2>
          <a:srgbClr val="FFFF00"/>
        </a:lt2>
        <a:accent1>
          <a:srgbClr val="008000"/>
        </a:accent1>
        <a:accent2>
          <a:srgbClr val="3399FF"/>
        </a:accent2>
        <a:accent3>
          <a:srgbClr val="AAB8AA"/>
        </a:accent3>
        <a:accent4>
          <a:srgbClr val="DADAAE"/>
        </a:accent4>
        <a:accent5>
          <a:srgbClr val="AAC0AA"/>
        </a:accent5>
        <a:accent6>
          <a:srgbClr val="2D8AE7"/>
        </a:accent6>
        <a:hlink>
          <a:srgbClr val="6666FF"/>
        </a:hlink>
        <a:folHlink>
          <a:srgbClr val="CCEC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Macintosh HD:Applications:Microsoft Office X:Templates:Presentations:Designs:Radar</Template>
  <TotalTime>336</TotalTime>
  <Words>1149</Words>
  <Application>Microsoft Macintosh PowerPoint</Application>
  <PresentationFormat>On-screen Show (4:3)</PresentationFormat>
  <Paragraphs>174</Paragraphs>
  <Slides>37</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5</vt:i4>
      </vt:variant>
      <vt:variant>
        <vt:lpstr>Slide Titles</vt:lpstr>
      </vt:variant>
      <vt:variant>
        <vt:i4>37</vt:i4>
      </vt:variant>
    </vt:vector>
  </HeadingPairs>
  <TitlesOfParts>
    <vt:vector size="48" baseType="lpstr">
      <vt:lpstr>Times</vt:lpstr>
      <vt:lpstr>Arial</vt:lpstr>
      <vt:lpstr>Times New Roman</vt:lpstr>
      <vt:lpstr>Symbol</vt:lpstr>
      <vt:lpstr>Tahoma</vt:lpstr>
      <vt:lpstr>Radar</vt:lpstr>
      <vt:lpstr>Microsoft Clip Gallery</vt:lpstr>
      <vt:lpstr>Microsoft Word Document</vt:lpstr>
      <vt:lpstr>CorelEquation! 2.0 Equation</vt:lpstr>
      <vt:lpstr>Microsoft Equation</vt:lpstr>
      <vt:lpstr>Microsoft Excel Worksheet</vt:lpstr>
      <vt:lpstr>Sampling Distributions</vt:lpstr>
      <vt:lpstr>Sample Means</vt:lpstr>
      <vt:lpstr>The Population</vt:lpstr>
      <vt:lpstr>The Sample</vt:lpstr>
      <vt:lpstr>How do we describe samples?</vt:lpstr>
      <vt:lpstr>How do we describe populations?</vt:lpstr>
      <vt:lpstr>Summary</vt:lpstr>
      <vt:lpstr>A Population Distribution</vt:lpstr>
      <vt:lpstr>A Sampling Distribution</vt:lpstr>
      <vt:lpstr>Random Sampling Error</vt:lpstr>
      <vt:lpstr>Developing a Sampling Distribution</vt:lpstr>
      <vt:lpstr>Consider All Possible Samples of Size n = 2</vt:lpstr>
      <vt:lpstr>Displaying the Sampling Distribution</vt:lpstr>
      <vt:lpstr>Population Distribution vs. Sampling Distribution</vt:lpstr>
      <vt:lpstr>The Law of Large Numbers</vt:lpstr>
      <vt:lpstr>Example: Class of 20 Students</vt:lpstr>
      <vt:lpstr>Example: n = 5</vt:lpstr>
      <vt:lpstr>Example: n = 10</vt:lpstr>
      <vt:lpstr>Example: n = 15</vt:lpstr>
      <vt:lpstr>What the Law of Large Numbers Tells Us</vt:lpstr>
      <vt:lpstr>Applying the LLN to Probabilities</vt:lpstr>
      <vt:lpstr>Example: Rolling a Die</vt:lpstr>
      <vt:lpstr>Caution: Football Example</vt:lpstr>
      <vt:lpstr>Sampling Distribution of a Mean</vt:lpstr>
      <vt:lpstr>Example: Sodium Measurements</vt:lpstr>
      <vt:lpstr>Sampling Distribution of a Mean</vt:lpstr>
      <vt:lpstr>Graphical Depiction</vt:lpstr>
      <vt:lpstr>The Central Limit Theorem</vt:lpstr>
      <vt:lpstr>The Central Limit Theorem</vt:lpstr>
      <vt:lpstr>Simulating 500 Rolls of n Dice</vt:lpstr>
      <vt:lpstr>Simulating 500 Rolls of n Dice</vt:lpstr>
      <vt:lpstr>Simulating 500 Rolls of n Dice</vt:lpstr>
      <vt:lpstr>Simulating 500 Rolls of n Dice</vt:lpstr>
      <vt:lpstr>Z-Score for Distribution of the Mean</vt:lpstr>
      <vt:lpstr>Example Calculation</vt:lpstr>
      <vt:lpstr>Example: ACT Exam</vt:lpstr>
      <vt:lpstr>Summary</vt:lpstr>
    </vt:vector>
  </TitlesOfParts>
  <Company>FSU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Sampling Distribution of a Sample Mean</dc:title>
  <dc:creator>Leif Ellingson</dc:creator>
  <cp:lastModifiedBy>Leif Ellingson</cp:lastModifiedBy>
  <cp:revision>30</cp:revision>
  <dcterms:created xsi:type="dcterms:W3CDTF">2008-06-10T00:08:08Z</dcterms:created>
  <dcterms:modified xsi:type="dcterms:W3CDTF">2015-08-26T22:06:43Z</dcterms:modified>
</cp:coreProperties>
</file>